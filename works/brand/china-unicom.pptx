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57" r:id="rId3"/>
    <p:sldId id="258" r:id="rId5"/>
    <p:sldId id="420" r:id="rId6"/>
    <p:sldId id="353" r:id="rId7"/>
    <p:sldId id="372" r:id="rId8"/>
    <p:sldId id="374" r:id="rId9"/>
    <p:sldId id="330" r:id="rId10"/>
    <p:sldId id="331" r:id="rId11"/>
    <p:sldId id="355" r:id="rId12"/>
    <p:sldId id="327" r:id="rId13"/>
    <p:sldId id="377" r:id="rId14"/>
    <p:sldId id="378" r:id="rId15"/>
    <p:sldId id="381" r:id="rId16"/>
    <p:sldId id="383" r:id="rId17"/>
    <p:sldId id="384" r:id="rId18"/>
    <p:sldId id="385" r:id="rId19"/>
    <p:sldId id="387" r:id="rId20"/>
    <p:sldId id="388" r:id="rId21"/>
    <p:sldId id="389" r:id="rId22"/>
    <p:sldId id="390" r:id="rId23"/>
    <p:sldId id="391" r:id="rId24"/>
    <p:sldId id="392"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3575" userDrawn="1">
          <p15:clr>
            <a:srgbClr val="A4A3A4"/>
          </p15:clr>
        </p15:guide>
        <p15:guide id="2" pos="633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0"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151A"/>
    <a:srgbClr val="C19F62"/>
    <a:srgbClr val="8E9192"/>
    <a:srgbClr val="231F20"/>
    <a:srgbClr val="343435"/>
    <a:srgbClr val="FFEFCD"/>
    <a:srgbClr val="B01619"/>
    <a:srgbClr val="EFB27C"/>
    <a:srgbClr val="FCE8C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3575"/>
        <p:guide pos="633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513469220527"/>
          <c:y val="0.0441831462675931"/>
          <c:w val="0.529857625729796"/>
          <c:h val="0.921610546944593"/>
        </c:manualLayout>
      </c:layout>
      <c:doughnutChart>
        <c:varyColors val="1"/>
        <c:ser>
          <c:idx val="0"/>
          <c:order val="0"/>
          <c:tx>
            <c:strRef>
              <c:f>Sheet1!$B$1</c:f>
              <c:strCache>
                <c:ptCount val="1"/>
                <c:pt idx="0">
                  <c:v>销售额</c:v>
                </c:pt>
              </c:strCache>
            </c:strRef>
          </c:tx>
          <c:spPr>
            <a:solidFill>
              <a:srgbClr val="E60027"/>
            </a:solidFill>
          </c:spPr>
          <c:explosion val="0"/>
          <c:dPt>
            <c:idx val="0"/>
            <c:bubble3D val="0"/>
            <c:spPr>
              <a:solidFill>
                <a:srgbClr val="C00000"/>
              </a:solidFill>
              <a:ln>
                <a:solidFill>
                  <a:schemeClr val="bg1"/>
                </a:solidFill>
              </a:ln>
              <a:effectLst/>
            </c:spPr>
          </c:dPt>
          <c:dPt>
            <c:idx val="1"/>
            <c:bubble3D val="0"/>
            <c:spPr>
              <a:solidFill>
                <a:schemeClr val="tx1"/>
              </a:solidFill>
              <a:ln>
                <a:solidFill>
                  <a:schemeClr val="bg1"/>
                </a:solidFill>
              </a:ln>
              <a:effectLst/>
            </c:spPr>
          </c:dPt>
          <c:dPt>
            <c:idx val="2"/>
            <c:bubble3D val="0"/>
            <c:spPr>
              <a:solidFill>
                <a:srgbClr val="E60027"/>
              </a:solidFill>
              <a:ln>
                <a:solidFill>
                  <a:schemeClr val="bg1"/>
                </a:solidFill>
              </a:ln>
              <a:effectLst/>
            </c:spPr>
          </c:dPt>
          <c:dPt>
            <c:idx val="3"/>
            <c:bubble3D val="0"/>
            <c:spPr>
              <a:solidFill>
                <a:srgbClr val="E60027"/>
              </a:solidFill>
              <a:ln>
                <a:solidFill>
                  <a:schemeClr val="bg1"/>
                </a:solidFill>
              </a:ln>
              <a:effectLst/>
            </c:spPr>
          </c:dPt>
          <c:dLbls>
            <c:delete val="1"/>
          </c:dLbls>
          <c:cat>
            <c:strRef>
              <c:f>Sheet1!$A$2:$A$5</c:f>
              <c:strCache>
                <c:ptCount val="4"/>
                <c:pt idx="0">
                  <c:v>第一季度</c:v>
                </c:pt>
                <c:pt idx="1">
                  <c:v>第二季度</c:v>
                </c:pt>
              </c:strCache>
            </c:strRef>
          </c:cat>
          <c:val>
            <c:numRef>
              <c:f>Sheet1!$B$2:$B$5</c:f>
              <c:numCache>
                <c:formatCode>General</c:formatCode>
                <c:ptCount val="4"/>
                <c:pt idx="0">
                  <c:v>25</c:v>
                </c:pt>
                <c:pt idx="1">
                  <c:v>75</c:v>
                </c:pt>
              </c:numCache>
            </c:numRef>
          </c:val>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8b855e23-3346-41a0-8b2c-7904d89de9ea}"/>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513469220527"/>
          <c:y val="0.0441831462675931"/>
          <c:w val="0.529857625729796"/>
          <c:h val="0.921610546944593"/>
        </c:manualLayout>
      </c:layout>
      <c:doughnutChart>
        <c:varyColors val="1"/>
        <c:ser>
          <c:idx val="0"/>
          <c:order val="0"/>
          <c:tx>
            <c:strRef>
              <c:f>Sheet1!$B$1</c:f>
              <c:strCache>
                <c:ptCount val="1"/>
                <c:pt idx="0">
                  <c:v>销售额</c:v>
                </c:pt>
              </c:strCache>
            </c:strRef>
          </c:tx>
          <c:spPr>
            <a:solidFill>
              <a:srgbClr val="E60027"/>
            </a:solidFill>
          </c:spPr>
          <c:explosion val="0"/>
          <c:dPt>
            <c:idx val="0"/>
            <c:bubble3D val="0"/>
            <c:spPr>
              <a:solidFill>
                <a:srgbClr val="C00000"/>
              </a:solidFill>
              <a:ln>
                <a:solidFill>
                  <a:schemeClr val="bg1"/>
                </a:solidFill>
              </a:ln>
              <a:effectLst/>
            </c:spPr>
          </c:dPt>
          <c:dPt>
            <c:idx val="1"/>
            <c:bubble3D val="0"/>
            <c:spPr>
              <a:solidFill>
                <a:schemeClr val="tx1"/>
              </a:solidFill>
              <a:ln>
                <a:solidFill>
                  <a:schemeClr val="bg1"/>
                </a:solidFill>
              </a:ln>
              <a:effectLst/>
            </c:spPr>
          </c:dPt>
          <c:dPt>
            <c:idx val="2"/>
            <c:bubble3D val="0"/>
            <c:spPr>
              <a:solidFill>
                <a:srgbClr val="E60027"/>
              </a:solidFill>
              <a:ln>
                <a:solidFill>
                  <a:schemeClr val="bg1"/>
                </a:solidFill>
              </a:ln>
              <a:effectLst/>
            </c:spPr>
          </c:dPt>
          <c:dPt>
            <c:idx val="3"/>
            <c:bubble3D val="0"/>
            <c:spPr>
              <a:solidFill>
                <a:srgbClr val="E60027"/>
              </a:solidFill>
              <a:ln>
                <a:solidFill>
                  <a:schemeClr val="bg1"/>
                </a:solidFill>
              </a:ln>
              <a:effectLst/>
            </c:spPr>
          </c:dPt>
          <c:dLbls>
            <c:delete val="1"/>
          </c:dLbls>
          <c:cat>
            <c:strRef>
              <c:f>Sheet1!$A$2:$A$5</c:f>
              <c:strCache>
                <c:ptCount val="4"/>
                <c:pt idx="0">
                  <c:v>第一季度</c:v>
                </c:pt>
                <c:pt idx="1">
                  <c:v>第二季度</c:v>
                </c:pt>
              </c:strCache>
            </c:strRef>
          </c:cat>
          <c:val>
            <c:numRef>
              <c:f>Sheet1!$B$2:$B$5</c:f>
              <c:numCache>
                <c:formatCode>General</c:formatCode>
                <c:ptCount val="4"/>
                <c:pt idx="0">
                  <c:v>30</c:v>
                </c:pt>
                <c:pt idx="1">
                  <c:v>70</c:v>
                </c:pt>
              </c:numCache>
            </c:numRef>
          </c:val>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8b855e23-3346-41a0-8b2c-7904d89de9ea}"/>
      </c:ext>
    </c:extLst>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513469220527"/>
          <c:y val="0.0441831462675931"/>
          <c:w val="0.529857625729796"/>
          <c:h val="0.921610546944593"/>
        </c:manualLayout>
      </c:layout>
      <c:doughnutChart>
        <c:varyColors val="1"/>
        <c:ser>
          <c:idx val="0"/>
          <c:order val="0"/>
          <c:tx>
            <c:strRef>
              <c:f>Sheet1!$B$1</c:f>
              <c:strCache>
                <c:ptCount val="1"/>
                <c:pt idx="0">
                  <c:v>销售额</c:v>
                </c:pt>
              </c:strCache>
            </c:strRef>
          </c:tx>
          <c:spPr>
            <a:solidFill>
              <a:srgbClr val="E60027"/>
            </a:solidFill>
          </c:spPr>
          <c:explosion val="0"/>
          <c:dPt>
            <c:idx val="0"/>
            <c:bubble3D val="0"/>
            <c:spPr>
              <a:solidFill>
                <a:srgbClr val="C00000"/>
              </a:solidFill>
              <a:ln>
                <a:solidFill>
                  <a:schemeClr val="bg1"/>
                </a:solidFill>
              </a:ln>
              <a:effectLst/>
            </c:spPr>
          </c:dPt>
          <c:dPt>
            <c:idx val="1"/>
            <c:bubble3D val="0"/>
            <c:spPr>
              <a:solidFill>
                <a:schemeClr val="tx1"/>
              </a:solidFill>
              <a:ln>
                <a:solidFill>
                  <a:schemeClr val="bg1"/>
                </a:solidFill>
              </a:ln>
              <a:effectLst/>
            </c:spPr>
          </c:dPt>
          <c:dPt>
            <c:idx val="2"/>
            <c:bubble3D val="0"/>
            <c:spPr>
              <a:solidFill>
                <a:srgbClr val="E60027"/>
              </a:solidFill>
              <a:ln>
                <a:solidFill>
                  <a:schemeClr val="bg1"/>
                </a:solidFill>
              </a:ln>
              <a:effectLst/>
            </c:spPr>
          </c:dPt>
          <c:dPt>
            <c:idx val="3"/>
            <c:bubble3D val="0"/>
            <c:spPr>
              <a:solidFill>
                <a:srgbClr val="E60027"/>
              </a:solidFill>
              <a:ln>
                <a:solidFill>
                  <a:schemeClr val="bg1"/>
                </a:solidFill>
              </a:ln>
              <a:effectLst/>
            </c:spPr>
          </c:dPt>
          <c:dLbls>
            <c:delete val="1"/>
          </c:dLbls>
          <c:cat>
            <c:strRef>
              <c:f>Sheet1!$A$2:$A$5</c:f>
              <c:strCache>
                <c:ptCount val="4"/>
                <c:pt idx="0">
                  <c:v>第一季度</c:v>
                </c:pt>
                <c:pt idx="1">
                  <c:v>第二季度</c:v>
                </c:pt>
              </c:strCache>
            </c:strRef>
          </c:cat>
          <c:val>
            <c:numRef>
              <c:f>Sheet1!$B$2:$B$5</c:f>
              <c:numCache>
                <c:formatCode>General</c:formatCode>
                <c:ptCount val="4"/>
                <c:pt idx="0">
                  <c:v>20</c:v>
                </c:pt>
                <c:pt idx="1">
                  <c:v>80</c:v>
                </c:pt>
              </c:numCache>
            </c:numRef>
          </c:val>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8b855e23-3346-41a0-8b2c-7904d89de9ea}"/>
      </c:ext>
    </c:extLst>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513469220527"/>
          <c:y val="0.0441831462675931"/>
          <c:w val="0.529857625729796"/>
          <c:h val="0.921610546944593"/>
        </c:manualLayout>
      </c:layout>
      <c:doughnutChart>
        <c:varyColors val="1"/>
        <c:ser>
          <c:idx val="0"/>
          <c:order val="0"/>
          <c:tx>
            <c:strRef>
              <c:f>Sheet1!$B$1</c:f>
              <c:strCache>
                <c:ptCount val="1"/>
                <c:pt idx="0">
                  <c:v>销售额</c:v>
                </c:pt>
              </c:strCache>
            </c:strRef>
          </c:tx>
          <c:spPr>
            <a:solidFill>
              <a:srgbClr val="E60027"/>
            </a:solidFill>
          </c:spPr>
          <c:explosion val="0"/>
          <c:dPt>
            <c:idx val="0"/>
            <c:bubble3D val="0"/>
            <c:spPr>
              <a:solidFill>
                <a:srgbClr val="C00000"/>
              </a:solidFill>
              <a:ln>
                <a:solidFill>
                  <a:schemeClr val="bg1"/>
                </a:solidFill>
              </a:ln>
              <a:effectLst/>
            </c:spPr>
          </c:dPt>
          <c:dPt>
            <c:idx val="1"/>
            <c:bubble3D val="0"/>
            <c:spPr>
              <a:solidFill>
                <a:schemeClr val="tx1"/>
              </a:solidFill>
              <a:ln>
                <a:solidFill>
                  <a:schemeClr val="bg1"/>
                </a:solidFill>
              </a:ln>
              <a:effectLst/>
            </c:spPr>
          </c:dPt>
          <c:dPt>
            <c:idx val="2"/>
            <c:bubble3D val="0"/>
            <c:spPr>
              <a:solidFill>
                <a:srgbClr val="E60027"/>
              </a:solidFill>
              <a:ln>
                <a:solidFill>
                  <a:schemeClr val="bg1"/>
                </a:solidFill>
              </a:ln>
              <a:effectLst/>
            </c:spPr>
          </c:dPt>
          <c:dPt>
            <c:idx val="3"/>
            <c:bubble3D val="0"/>
            <c:spPr>
              <a:solidFill>
                <a:srgbClr val="E60027"/>
              </a:solidFill>
              <a:ln>
                <a:solidFill>
                  <a:schemeClr val="bg1"/>
                </a:solidFill>
              </a:ln>
              <a:effectLst/>
            </c:spPr>
          </c:dPt>
          <c:dLbls>
            <c:delete val="1"/>
          </c:dLbls>
          <c:cat>
            <c:strRef>
              <c:f>Sheet1!$A$2:$A$5</c:f>
              <c:strCache>
                <c:ptCount val="4"/>
                <c:pt idx="0">
                  <c:v>第一季度</c:v>
                </c:pt>
                <c:pt idx="1">
                  <c:v>第二季度</c:v>
                </c:pt>
              </c:strCache>
            </c:strRef>
          </c:cat>
          <c:val>
            <c:numRef>
              <c:f>Sheet1!$B$2:$B$5</c:f>
              <c:numCache>
                <c:formatCode>General</c:formatCode>
                <c:ptCount val="4"/>
                <c:pt idx="0">
                  <c:v>25</c:v>
                </c:pt>
                <c:pt idx="1">
                  <c:v>75</c:v>
                </c:pt>
              </c:numCache>
            </c:numRef>
          </c:val>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uri="{0b15fc19-7d7d-44ad-8c2d-2c3a37ce22c3}">
        <chartProps xmlns="https://web.wps.cn/et/2018/main" chartId="{8b855e23-3346-41a0-8b2c-7904d89de9ea}"/>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5538412" cy="70180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3382747" y="0"/>
            <a:ext cx="25538412" cy="70180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5271158" y="1748433"/>
            <a:ext cx="8392480" cy="472077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5893480" y="6731468"/>
            <a:ext cx="47147837" cy="5507565"/>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13285666"/>
            <a:ext cx="25538412" cy="70180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3382747" y="13285666"/>
            <a:ext cx="25538412" cy="70180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rgbClr val="000204"/>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rgbClr val="000204"/>
                </a:solidFill>
                <a:latin typeface="Arial" panose="020B0604020202020204"/>
                <a:cs typeface="Arial" panose="020B0604020202020204"/>
              </a:defRPr>
            </a:lvl1pPr>
          </a:lstStyle>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EDCFE3"/>
          </a:solidFill>
        </p:spPr>
        <p:txBody>
          <a:bodyPr wrap="square" lIns="0" tIns="0" rIns="0" bIns="0" rtlCol="0"/>
          <a:lstStyle/>
          <a:p/>
        </p:txBody>
      </p:sp>
      <p:sp>
        <p:nvSpPr>
          <p:cNvPr id="17" name="bg object 17"/>
          <p:cNvSpPr/>
          <p:nvPr/>
        </p:nvSpPr>
        <p:spPr>
          <a:xfrm>
            <a:off x="1675341" y="1675341"/>
            <a:ext cx="16753840" cy="7958455"/>
          </a:xfrm>
          <a:custGeom>
            <a:avLst/>
            <a:gdLst/>
            <a:ahLst/>
            <a:cxnLst/>
            <a:rect l="l" t="t" r="r" b="b"/>
            <a:pathLst>
              <a:path w="16753840" h="7958455">
                <a:moveTo>
                  <a:pt x="16334581" y="0"/>
                </a:moveTo>
                <a:lnTo>
                  <a:pt x="418835" y="0"/>
                </a:lnTo>
                <a:lnTo>
                  <a:pt x="369991" y="2817"/>
                </a:lnTo>
                <a:lnTo>
                  <a:pt x="322801" y="11060"/>
                </a:lnTo>
                <a:lnTo>
                  <a:pt x="277581" y="24414"/>
                </a:lnTo>
                <a:lnTo>
                  <a:pt x="234643" y="42566"/>
                </a:lnTo>
                <a:lnTo>
                  <a:pt x="194304" y="65200"/>
                </a:lnTo>
                <a:lnTo>
                  <a:pt x="156876" y="92004"/>
                </a:lnTo>
                <a:lnTo>
                  <a:pt x="122675" y="122663"/>
                </a:lnTo>
                <a:lnTo>
                  <a:pt x="92014" y="156863"/>
                </a:lnTo>
                <a:lnTo>
                  <a:pt x="65208" y="194290"/>
                </a:lnTo>
                <a:lnTo>
                  <a:pt x="42571" y="234630"/>
                </a:lnTo>
                <a:lnTo>
                  <a:pt x="24417" y="277568"/>
                </a:lnTo>
                <a:lnTo>
                  <a:pt x="11061" y="322791"/>
                </a:lnTo>
                <a:lnTo>
                  <a:pt x="2817" y="369985"/>
                </a:lnTo>
                <a:lnTo>
                  <a:pt x="0" y="418835"/>
                </a:lnTo>
                <a:lnTo>
                  <a:pt x="0" y="7539037"/>
                </a:lnTo>
                <a:lnTo>
                  <a:pt x="2817" y="7587887"/>
                </a:lnTo>
                <a:lnTo>
                  <a:pt x="11061" y="7635081"/>
                </a:lnTo>
                <a:lnTo>
                  <a:pt x="24417" y="7680304"/>
                </a:lnTo>
                <a:lnTo>
                  <a:pt x="42571" y="7723242"/>
                </a:lnTo>
                <a:lnTo>
                  <a:pt x="65208" y="7763582"/>
                </a:lnTo>
                <a:lnTo>
                  <a:pt x="92014" y="7801009"/>
                </a:lnTo>
                <a:lnTo>
                  <a:pt x="122675" y="7835209"/>
                </a:lnTo>
                <a:lnTo>
                  <a:pt x="156876" y="7865868"/>
                </a:lnTo>
                <a:lnTo>
                  <a:pt x="194304" y="7892671"/>
                </a:lnTo>
                <a:lnTo>
                  <a:pt x="234643" y="7915306"/>
                </a:lnTo>
                <a:lnTo>
                  <a:pt x="277581" y="7933458"/>
                </a:lnTo>
                <a:lnTo>
                  <a:pt x="322801" y="7946812"/>
                </a:lnTo>
                <a:lnTo>
                  <a:pt x="369991" y="7955055"/>
                </a:lnTo>
                <a:lnTo>
                  <a:pt x="418835" y="7957872"/>
                </a:lnTo>
                <a:lnTo>
                  <a:pt x="16334581" y="7957872"/>
                </a:lnTo>
                <a:lnTo>
                  <a:pt x="16383425" y="7955055"/>
                </a:lnTo>
                <a:lnTo>
                  <a:pt x="16430615" y="7946812"/>
                </a:lnTo>
                <a:lnTo>
                  <a:pt x="16475835" y="7933458"/>
                </a:lnTo>
                <a:lnTo>
                  <a:pt x="16518772" y="7915306"/>
                </a:lnTo>
                <a:lnTo>
                  <a:pt x="16559112" y="7892671"/>
                </a:lnTo>
                <a:lnTo>
                  <a:pt x="16596539" y="7865868"/>
                </a:lnTo>
                <a:lnTo>
                  <a:pt x="16630741" y="7835209"/>
                </a:lnTo>
                <a:lnTo>
                  <a:pt x="16661401" y="7801009"/>
                </a:lnTo>
                <a:lnTo>
                  <a:pt x="16688207" y="7763582"/>
                </a:lnTo>
                <a:lnTo>
                  <a:pt x="16710844" y="7723242"/>
                </a:lnTo>
                <a:lnTo>
                  <a:pt x="16728998" y="7680304"/>
                </a:lnTo>
                <a:lnTo>
                  <a:pt x="16742354" y="7635081"/>
                </a:lnTo>
                <a:lnTo>
                  <a:pt x="16750598" y="7587887"/>
                </a:lnTo>
                <a:lnTo>
                  <a:pt x="16753416" y="7539037"/>
                </a:lnTo>
                <a:lnTo>
                  <a:pt x="16753416" y="418835"/>
                </a:lnTo>
                <a:lnTo>
                  <a:pt x="16750598" y="369985"/>
                </a:lnTo>
                <a:lnTo>
                  <a:pt x="16742354" y="322791"/>
                </a:lnTo>
                <a:lnTo>
                  <a:pt x="16728998" y="277568"/>
                </a:lnTo>
                <a:lnTo>
                  <a:pt x="16710844" y="234630"/>
                </a:lnTo>
                <a:lnTo>
                  <a:pt x="16688207" y="194290"/>
                </a:lnTo>
                <a:lnTo>
                  <a:pt x="16661401" y="156863"/>
                </a:lnTo>
                <a:lnTo>
                  <a:pt x="16630741" y="122663"/>
                </a:lnTo>
                <a:lnTo>
                  <a:pt x="16596539" y="92004"/>
                </a:lnTo>
                <a:lnTo>
                  <a:pt x="16559112" y="65200"/>
                </a:lnTo>
                <a:lnTo>
                  <a:pt x="16518772" y="42566"/>
                </a:lnTo>
                <a:lnTo>
                  <a:pt x="16475835" y="24414"/>
                </a:lnTo>
                <a:lnTo>
                  <a:pt x="16430615" y="11060"/>
                </a:lnTo>
                <a:lnTo>
                  <a:pt x="16383425" y="2817"/>
                </a:lnTo>
                <a:lnTo>
                  <a:pt x="16334581" y="0"/>
                </a:lnTo>
                <a:close/>
              </a:path>
            </a:pathLst>
          </a:custGeom>
          <a:solidFill>
            <a:srgbClr val="FFFFFF"/>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3300" b="1" i="0">
                <a:solidFill>
                  <a:srgbClr val="000204"/>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31725" y="2376756"/>
            <a:ext cx="8794115" cy="5711190"/>
          </a:xfrm>
          <a:prstGeom prst="rect">
            <a:avLst/>
          </a:prstGeom>
        </p:spPr>
        <p:txBody>
          <a:bodyPr wrap="square" lIns="0" tIns="0" rIns="0" bIns="0">
            <a:spAutoFit/>
          </a:bodyPr>
          <a:lstStyle>
            <a:lvl1pPr>
              <a:defRPr sz="3300" b="1" i="0">
                <a:solidFill>
                  <a:srgbClr val="000204"/>
                </a:solidFill>
                <a:latin typeface="Arial" panose="020B0604020202020204"/>
                <a:cs typeface="Arial" panose="020B0604020202020204"/>
              </a:defRPr>
            </a:lvl1pPr>
          </a:lstStyle>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6" Type="http://schemas.openxmlformats.org/officeDocument/2006/relationships/notesSlide" Target="../notesSlides/notesSlide1.xml"/><Relationship Id="rId15" Type="http://schemas.openxmlformats.org/officeDocument/2006/relationships/slideLayout" Target="../slideLayouts/slideLayout6.xml"/><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20.png"/><Relationship Id="rId5" Type="http://schemas.openxmlformats.org/officeDocument/2006/relationships/tags" Target="../tags/tag4.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0" Type="http://schemas.openxmlformats.org/officeDocument/2006/relationships/slideLayout" Target="../slideLayouts/slideLayout5.xml"/><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5" Type="http://schemas.openxmlformats.org/officeDocument/2006/relationships/slideLayout" Target="../slideLayouts/slideLayout6.xml"/><Relationship Id="rId14" Type="http://schemas.openxmlformats.org/officeDocument/2006/relationships/image" Target="../media/image5.png"/><Relationship Id="rId13" Type="http://schemas.openxmlformats.org/officeDocument/2006/relationships/tags" Target="../tags/tag18.xml"/><Relationship Id="rId12" Type="http://schemas.openxmlformats.org/officeDocument/2006/relationships/image" Target="../media/image19.png"/><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tags" Target="../tags/tag19.xml"/><Relationship Id="rId2" Type="http://schemas.openxmlformats.org/officeDocument/2006/relationships/image" Target="../media/image5.png"/><Relationship Id="rId18" Type="http://schemas.openxmlformats.org/officeDocument/2006/relationships/notesSlide" Target="../notesSlides/notesSlide2.xml"/><Relationship Id="rId17" Type="http://schemas.openxmlformats.org/officeDocument/2006/relationships/slideLayout" Target="../slideLayouts/slideLayout6.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3.jpe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4.jpe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image" Target="../media/image26.png"/><Relationship Id="rId20" Type="http://schemas.openxmlformats.org/officeDocument/2006/relationships/slideLayout" Target="../slideLayouts/slideLayout5.xml"/><Relationship Id="rId2" Type="http://schemas.openxmlformats.org/officeDocument/2006/relationships/image" Target="../media/image25.png"/><Relationship Id="rId19" Type="http://schemas.openxmlformats.org/officeDocument/2006/relationships/tags" Target="../tags/tag45.xml"/><Relationship Id="rId18" Type="http://schemas.openxmlformats.org/officeDocument/2006/relationships/tags" Target="../tags/tag44.xml"/><Relationship Id="rId17" Type="http://schemas.openxmlformats.org/officeDocument/2006/relationships/tags" Target="../tags/tag43.xml"/><Relationship Id="rId16" Type="http://schemas.openxmlformats.org/officeDocument/2006/relationships/tags" Target="../tags/tag4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29.png"/><Relationship Id="rId7" Type="http://schemas.openxmlformats.org/officeDocument/2006/relationships/tags" Target="../tags/tag48.xml"/><Relationship Id="rId6" Type="http://schemas.openxmlformats.org/officeDocument/2006/relationships/image" Target="../media/image20.png"/><Relationship Id="rId5" Type="http://schemas.openxmlformats.org/officeDocument/2006/relationships/tags" Target="../tags/tag47.xml"/><Relationship Id="rId4" Type="http://schemas.openxmlformats.org/officeDocument/2006/relationships/image" Target="../media/image28.png"/><Relationship Id="rId3" Type="http://schemas.openxmlformats.org/officeDocument/2006/relationships/tags" Target="../tags/tag46.xml"/><Relationship Id="rId2" Type="http://schemas.openxmlformats.org/officeDocument/2006/relationships/image" Target="../media/image27.png"/><Relationship Id="rId19" Type="http://schemas.openxmlformats.org/officeDocument/2006/relationships/notesSlide" Target="../notesSlides/notesSlide3.xml"/><Relationship Id="rId18" Type="http://schemas.openxmlformats.org/officeDocument/2006/relationships/slideLayout" Target="../slideLayouts/slideLayout6.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image" Target="../media/image31.png"/><Relationship Id="rId10" Type="http://schemas.openxmlformats.org/officeDocument/2006/relationships/image" Target="../media/image30.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32.jpe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39.png"/><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0" Type="http://schemas.openxmlformats.org/officeDocument/2006/relationships/notesSlide" Target="../notesSlides/notesSlide5.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jpeg"/><Relationship Id="rId3" Type="http://schemas.openxmlformats.org/officeDocument/2006/relationships/image" Target="../media/image34.png"/><Relationship Id="rId2" Type="http://schemas.openxmlformats.org/officeDocument/2006/relationships/image" Target="../media/image40.jpe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6.xml"/><Relationship Id="rId3" Type="http://schemas.openxmlformats.org/officeDocument/2006/relationships/image" Target="../media/image43.png"/><Relationship Id="rId2" Type="http://schemas.openxmlformats.org/officeDocument/2006/relationships/image" Target="../media/image19.png"/><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44.png"/><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6.xml"/><Relationship Id="rId3" Type="http://schemas.openxmlformats.org/officeDocument/2006/relationships/hyperlink" Target="index.html" TargetMode="External"/><Relationship Id="rId2" Type="http://schemas.openxmlformats.org/officeDocument/2006/relationships/image" Target="../media/image45.png"/><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46.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6.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6.xml"/><Relationship Id="rId2" Type="http://schemas.openxmlformats.org/officeDocument/2006/relationships/image" Target="../media/image49.png"/><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image" Target="../media/image55.png"/><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27.png"/><Relationship Id="rId11" Type="http://schemas.openxmlformats.org/officeDocument/2006/relationships/notesSlide" Target="../notesSlides/notesSlide13.xml"/><Relationship Id="rId10" Type="http://schemas.openxmlformats.org/officeDocument/2006/relationships/slideLayout" Target="../slideLayouts/slideLayout6.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image" Target="../media/image61.png"/><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27.png"/><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image" Target="../media/image27.png"/><Relationship Id="rId5" Type="http://schemas.openxmlformats.org/officeDocument/2006/relationships/image" Target="../media/image16.png"/><Relationship Id="rId4" Type="http://schemas.openxmlformats.org/officeDocument/2006/relationships/chart" Target="../charts/chart4.xml"/><Relationship Id="rId3" Type="http://schemas.openxmlformats.org/officeDocument/2006/relationships/chart" Target="../charts/chart3.xml"/><Relationship Id="rId20" Type="http://schemas.openxmlformats.org/officeDocument/2006/relationships/notesSlide" Target="../notesSlides/notesSlide14.xml"/><Relationship Id="rId2" Type="http://schemas.openxmlformats.org/officeDocument/2006/relationships/chart" Target="../charts/chart2.xml"/><Relationship Id="rId19" Type="http://schemas.openxmlformats.org/officeDocument/2006/relationships/slideLayout" Target="../slideLayouts/slideLayout6.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chart" Target="../charts/chart1.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67.xml"/><Relationship Id="rId2" Type="http://schemas.openxmlformats.org/officeDocument/2006/relationships/image" Target="../media/image27.png"/><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6.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image" Target="../media/image27.png"/><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6.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image" Target="../media/image27.png"/><Relationship Id="rId1"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6.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image" Target="../media/image27.png"/><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 descr="image.png"/>
          <p:cNvPicPr>
            <a:picLocks noChangeAspect="1"/>
          </p:cNvPicPr>
          <p:nvPr/>
        </p:nvPicPr>
        <p:blipFill>
          <a:blip r:embed="rId1"/>
          <a:srcRect b="50000"/>
          <a:stretch>
            <a:fillRect/>
          </a:stretch>
        </p:blipFill>
        <p:spPr>
          <a:xfrm rot="10800000">
            <a:off x="0" y="5654675"/>
            <a:ext cx="20104100" cy="5654278"/>
          </a:xfrm>
          <a:prstGeom prst="rect">
            <a:avLst/>
          </a:prstGeom>
        </p:spPr>
      </p:pic>
      <p:pic>
        <p:nvPicPr>
          <p:cNvPr id="2" name="Picture 1" descr="image.png"/>
          <p:cNvPicPr>
            <a:picLocks noChangeAspect="1"/>
          </p:cNvPicPr>
          <p:nvPr/>
        </p:nvPicPr>
        <p:blipFill>
          <a:blip r:embed="rId1"/>
          <a:srcRect b="50000"/>
          <a:stretch>
            <a:fillRect/>
          </a:stretch>
        </p:blipFill>
        <p:spPr>
          <a:xfrm>
            <a:off x="0" y="397"/>
            <a:ext cx="20104100" cy="5654278"/>
          </a:xfrm>
          <a:prstGeom prst="rect">
            <a:avLst/>
          </a:prstGeom>
        </p:spPr>
      </p:pic>
      <p:pic>
        <p:nvPicPr>
          <p:cNvPr id="6" name="Picture 5" descr="image.png"/>
          <p:cNvPicPr>
            <a:picLocks noChangeAspect="1"/>
          </p:cNvPicPr>
          <p:nvPr/>
        </p:nvPicPr>
        <p:blipFill>
          <a:blip r:embed="rId2"/>
          <a:stretch>
            <a:fillRect/>
          </a:stretch>
        </p:blipFill>
        <p:spPr>
          <a:xfrm>
            <a:off x="9315815" y="246829"/>
            <a:ext cx="1477651" cy="1125830"/>
          </a:xfrm>
          <a:prstGeom prst="rect">
            <a:avLst/>
          </a:prstGeom>
        </p:spPr>
      </p:pic>
      <p:sp>
        <p:nvSpPr>
          <p:cNvPr id="7" name="TextBox 6"/>
          <p:cNvSpPr txBox="1"/>
          <p:nvPr/>
        </p:nvSpPr>
        <p:spPr>
          <a:xfrm>
            <a:off x="2330504" y="6538259"/>
            <a:ext cx="15346339" cy="1643352"/>
          </a:xfrm>
          <a:prstGeom prst="rect">
            <a:avLst/>
          </a:prstGeom>
          <a:noFill/>
        </p:spPr>
        <p:txBody>
          <a:bodyPr wrap="none" lIns="0" tIns="0" rIns="0" bIns="0"/>
          <a:lstStyle/>
          <a:p>
            <a:pPr algn="ctr">
              <a:lnSpc>
                <a:spcPct val="116000"/>
              </a:lnSpc>
              <a:spcBef>
                <a:spcPts val="0"/>
              </a:spcBef>
              <a:spcAft>
                <a:spcPts val="0"/>
              </a:spcAft>
            </a:pPr>
            <a:endParaRPr sz="11130" b="1" i="0">
              <a:solidFill>
                <a:srgbClr val="460101"/>
              </a:solidFill>
              <a:latin typeface="微软雅黑" panose="020B0503020204020204" charset="-122"/>
              <a:ea typeface="微软雅黑" panose="020B0503020204020204" charset="-122"/>
            </a:endParaRPr>
          </a:p>
        </p:txBody>
      </p:sp>
      <p:sp>
        <p:nvSpPr>
          <p:cNvPr id="8" name="TextBox 7"/>
          <p:cNvSpPr txBox="1"/>
          <p:nvPr/>
        </p:nvSpPr>
        <p:spPr>
          <a:xfrm>
            <a:off x="3663950" y="3848100"/>
            <a:ext cx="12463780" cy="2358390"/>
          </a:xfrm>
          <a:prstGeom prst="rect">
            <a:avLst/>
          </a:prstGeom>
          <a:noFill/>
        </p:spPr>
        <p:txBody>
          <a:bodyPr wrap="none" lIns="0" tIns="0" rIns="0" bIns="0"/>
          <a:lstStyle/>
          <a:p>
            <a:pPr algn="ctr">
              <a:lnSpc>
                <a:spcPct val="110000"/>
              </a:lnSpc>
              <a:spcBef>
                <a:spcPts val="0"/>
              </a:spcBef>
              <a:spcAft>
                <a:spcPts val="0"/>
              </a:spcAft>
            </a:pPr>
            <a:r>
              <a:rPr lang="zh-CN" altLang="en-US" sz="12000" kern="0">
                <a:solidFill>
                  <a:srgbClr val="343435"/>
                </a:solidFill>
                <a:latin typeface="字魂132号-江舟行客" panose="00000500000000000000" charset="-122"/>
                <a:ea typeface="字魂132号-江舟行客" panose="00000500000000000000" charset="-122"/>
                <a:sym typeface="+mn-ea"/>
              </a:rPr>
              <a:t>「大唐信号恢复计划</a:t>
            </a:r>
            <a:r>
              <a:rPr lang="zh-CN" altLang="en-US" sz="12000" kern="0">
                <a:solidFill>
                  <a:srgbClr val="343435"/>
                </a:solidFill>
                <a:latin typeface="字灵拙刻手书" panose="00000500000000000000" charset="-122"/>
                <a:ea typeface="字灵拙刻手书" panose="00000500000000000000" charset="-122"/>
                <a:sym typeface="+mn-ea"/>
              </a:rPr>
              <a:t>」</a:t>
            </a:r>
            <a:endParaRPr lang="zh-CN" altLang="en-US" sz="12000" u="none" strike="noStrike" kern="0" cap="none" spc="0" normalizeH="0">
              <a:solidFill>
                <a:srgbClr val="343435"/>
              </a:solidFill>
              <a:latin typeface="字灵拙刻手书" panose="00000500000000000000" charset="-122"/>
              <a:ea typeface="字灵拙刻手书" panose="00000500000000000000" charset="-122"/>
            </a:endParaRPr>
          </a:p>
          <a:p>
            <a:pPr algn="ctr">
              <a:lnSpc>
                <a:spcPct val="110000"/>
              </a:lnSpc>
              <a:spcBef>
                <a:spcPts val="0"/>
              </a:spcBef>
              <a:spcAft>
                <a:spcPts val="0"/>
              </a:spcAft>
            </a:pPr>
            <a:endParaRPr sz="12000" b="1" i="0">
              <a:solidFill>
                <a:srgbClr val="B30100"/>
              </a:solidFill>
              <a:latin typeface="微软雅黑" panose="020B0503020204020204" charset="-122"/>
              <a:ea typeface="微软雅黑" panose="020B0503020204020204" charset="-122"/>
            </a:endParaRPr>
          </a:p>
        </p:txBody>
      </p:sp>
      <p:pic>
        <p:nvPicPr>
          <p:cNvPr id="13" name="Picture 5" descr="image.png"/>
          <p:cNvPicPr>
            <a:picLocks noChangeAspect="1"/>
          </p:cNvPicPr>
          <p:nvPr/>
        </p:nvPicPr>
        <p:blipFill>
          <a:blip r:embed="rId2"/>
          <a:stretch>
            <a:fillRect/>
          </a:stretch>
        </p:blipFill>
        <p:spPr>
          <a:xfrm>
            <a:off x="9315815" y="10035012"/>
            <a:ext cx="1477651" cy="1125830"/>
          </a:xfrm>
          <a:prstGeom prst="rect">
            <a:avLst/>
          </a:prstGeom>
        </p:spPr>
      </p:pic>
      <p:grpSp>
        <p:nvGrpSpPr>
          <p:cNvPr id="16" name="组合 15"/>
          <p:cNvGrpSpPr/>
          <p:nvPr/>
        </p:nvGrpSpPr>
        <p:grpSpPr>
          <a:xfrm>
            <a:off x="0" y="-515818"/>
            <a:ext cx="3782084" cy="7053188"/>
            <a:chOff x="-19" y="18"/>
            <a:chExt cx="3612" cy="6736"/>
          </a:xfrm>
        </p:grpSpPr>
        <p:pic>
          <p:nvPicPr>
            <p:cNvPr id="14" name="Picture 5" descr="image.png"/>
            <p:cNvPicPr>
              <a:picLocks noChangeAspect="1"/>
            </p:cNvPicPr>
            <p:nvPr/>
          </p:nvPicPr>
          <p:blipFill>
            <a:blip r:embed="rId3"/>
            <a:stretch>
              <a:fillRect/>
            </a:stretch>
          </p:blipFill>
          <p:spPr>
            <a:xfrm>
              <a:off x="-18" y="18"/>
              <a:ext cx="3593" cy="6737"/>
            </a:xfrm>
            <a:prstGeom prst="rect">
              <a:avLst/>
            </a:prstGeom>
          </p:spPr>
        </p:pic>
        <p:pic>
          <p:nvPicPr>
            <p:cNvPr id="15" name="Picture 8" descr="image.png"/>
            <p:cNvPicPr>
              <a:picLocks noChangeAspect="1"/>
            </p:cNvPicPr>
            <p:nvPr/>
          </p:nvPicPr>
          <p:blipFill>
            <a:blip r:embed="rId4"/>
            <a:stretch>
              <a:fillRect/>
            </a:stretch>
          </p:blipFill>
          <p:spPr>
            <a:xfrm>
              <a:off x="-19" y="18"/>
              <a:ext cx="3613" cy="3725"/>
            </a:xfrm>
            <a:prstGeom prst="rect">
              <a:avLst/>
            </a:prstGeom>
          </p:spPr>
        </p:pic>
      </p:grpSp>
      <p:sp>
        <p:nvSpPr>
          <p:cNvPr id="19" name="文本框 18"/>
          <p:cNvSpPr txBox="1"/>
          <p:nvPr/>
        </p:nvSpPr>
        <p:spPr>
          <a:xfrm>
            <a:off x="3606165" y="6000115"/>
            <a:ext cx="12610465" cy="1221105"/>
          </a:xfrm>
          <a:prstGeom prst="rect">
            <a:avLst/>
          </a:prstGeom>
          <a:noFill/>
        </p:spPr>
        <p:txBody>
          <a:bodyPr wrap="square" rtlCol="0">
            <a:noAutofit/>
          </a:bodyPr>
          <a:p>
            <a:r>
              <a:rPr lang="zh-CN" altLang="en-US" sz="5000" kern="0">
                <a:solidFill>
                  <a:srgbClr val="343435"/>
                </a:solidFill>
                <a:latin typeface="字魂132号-江舟行客" panose="00000500000000000000" charset="-122"/>
                <a:ea typeface="字魂132号-江舟行客" panose="00000500000000000000" charset="-122"/>
                <a:cs typeface="字魂132号-江舟行客" panose="00000500000000000000" charset="-122"/>
                <a:sym typeface="+mn-ea"/>
              </a:rPr>
              <a:t>中国联通</a:t>
            </a:r>
            <a:r>
              <a:rPr lang="en-US" altLang="zh-CN" sz="5000" kern="0">
                <a:solidFill>
                  <a:srgbClr val="343435"/>
                </a:solidFill>
                <a:latin typeface="字魂132号-江舟行客" panose="00000500000000000000" charset="-122"/>
                <a:ea typeface="字魂132号-江舟行客" panose="00000500000000000000" charset="-122"/>
                <a:cs typeface="字魂132号-江舟行客" panose="00000500000000000000" charset="-122"/>
                <a:sym typeface="+mn-ea"/>
              </a:rPr>
              <a:t> </a:t>
            </a:r>
            <a:r>
              <a:rPr lang="en-US" altLang="en-US" sz="5000" kern="0">
                <a:solidFill>
                  <a:srgbClr val="343435"/>
                </a:solidFill>
                <a:latin typeface="字魂132号-江舟行客" panose="00000500000000000000" charset="-122"/>
                <a:ea typeface="字魂132号-江舟行客" panose="00000500000000000000" charset="-122"/>
                <a:cs typeface="字魂132号-江舟行客" panose="00000500000000000000" charset="-122"/>
                <a:sym typeface="+mn-ea"/>
              </a:rPr>
              <a:t>×</a:t>
            </a:r>
            <a:r>
              <a:rPr lang="en-US" altLang="zh-CN" sz="5000" kern="0">
                <a:solidFill>
                  <a:srgbClr val="343435"/>
                </a:solidFill>
                <a:latin typeface="字魂132号-江舟行客" panose="00000500000000000000" charset="-122"/>
                <a:ea typeface="字魂132号-江舟行客" panose="00000500000000000000" charset="-122"/>
                <a:cs typeface="字魂132号-江舟行客" panose="00000500000000000000" charset="-122"/>
                <a:sym typeface="+mn-ea"/>
              </a:rPr>
              <a:t> </a:t>
            </a:r>
            <a:r>
              <a:rPr lang="zh-CN" altLang="en-US" sz="5000" kern="0">
                <a:solidFill>
                  <a:srgbClr val="343435"/>
                </a:solidFill>
                <a:latin typeface="字魂132号-江舟行客" panose="00000500000000000000" charset="-122"/>
                <a:ea typeface="字魂132号-江舟行客" panose="00000500000000000000" charset="-122"/>
                <a:cs typeface="字魂132号-江舟行客" panose="00000500000000000000" charset="-122"/>
                <a:sym typeface="+mn-ea"/>
              </a:rPr>
              <a:t>河南博物院文创联名营销策划案</a:t>
            </a:r>
            <a:endParaRPr lang="zh-CN" altLang="en-US" sz="5000" u="none" strike="noStrike" kern="0" cap="none" spc="0" normalizeH="0">
              <a:solidFill>
                <a:srgbClr val="343435"/>
              </a:solidFill>
              <a:latin typeface="字魂132号-江舟行客" panose="00000500000000000000" charset="-122"/>
              <a:ea typeface="字魂132号-江舟行客" panose="00000500000000000000" charset="-122"/>
              <a:cs typeface="字魂132号-江舟行客" panose="00000500000000000000" charset="-122"/>
            </a:endParaRPr>
          </a:p>
          <a:p>
            <a:endParaRPr lang="zh-CN" altLang="en-US" sz="5000" b="1" i="0">
              <a:solidFill>
                <a:schemeClr val="tx1"/>
              </a:solidFill>
              <a:latin typeface="微软雅黑" panose="020B0503020204020204" charset="-122"/>
              <a:ea typeface="微软雅黑" panose="020B0503020204020204" charset="-122"/>
            </a:endParaRPr>
          </a:p>
        </p:txBody>
      </p:sp>
      <p:sp>
        <p:nvSpPr>
          <p:cNvPr id="32" name="TextBox 15"/>
          <p:cNvSpPr txBox="1"/>
          <p:nvPr/>
        </p:nvSpPr>
        <p:spPr>
          <a:xfrm>
            <a:off x="13938250" y="9769475"/>
            <a:ext cx="5497830" cy="923290"/>
          </a:xfrm>
          <a:prstGeom prst="rect">
            <a:avLst/>
          </a:prstGeom>
          <a:noFill/>
        </p:spPr>
        <p:txBody>
          <a:bodyPr wrap="none" lIns="0" tIns="0" rIns="0" bIns="0"/>
          <a:lstStyle/>
          <a:p>
            <a:pPr algn="l">
              <a:spcBef>
                <a:spcPts val="805"/>
              </a:spcBef>
            </a:pPr>
            <a:r>
              <a:rPr lang="zh-CN" altLang="en-US" sz="4200" u="none" strike="noStrike" kern="0" cap="none" spc="0" normalizeH="0">
                <a:solidFill>
                  <a:srgbClr val="343435"/>
                </a:solidFill>
                <a:latin typeface="字魂132号-江舟行客" panose="00000500000000000000" charset="-122"/>
                <a:ea typeface="字魂132号-江舟行客" panose="00000500000000000000" charset="-122"/>
                <a:sym typeface="+mn-ea"/>
              </a:rPr>
              <a:t>「</a:t>
            </a:r>
            <a:r>
              <a:rPr lang="zh-CN" sz="4200" u="none" strike="noStrike" kern="0" cap="none" spc="0" normalizeH="0">
                <a:solidFill>
                  <a:srgbClr val="343435"/>
                </a:solidFill>
                <a:latin typeface="字魂132号-江舟行客" panose="00000500000000000000" charset="-122"/>
                <a:ea typeface="字魂132号-江舟行客" panose="00000500000000000000" charset="-122"/>
              </a:rPr>
              <a:t>连接传统与未来</a:t>
            </a:r>
            <a:r>
              <a:rPr lang="zh-CN" altLang="en-US" sz="4200" u="none" strike="noStrike" kern="0" cap="none" spc="0" normalizeH="0">
                <a:solidFill>
                  <a:srgbClr val="343435"/>
                </a:solidFill>
                <a:latin typeface="字魂132号-江舟行客" panose="00000500000000000000" charset="-122"/>
                <a:ea typeface="字魂132号-江舟行客" panose="00000500000000000000" charset="-122"/>
                <a:sym typeface="+mn-ea"/>
              </a:rPr>
              <a:t>」</a:t>
            </a:r>
            <a:endParaRPr lang="zh-CN" altLang="en-US" sz="4200" u="none" strike="noStrike" kern="0" cap="none" spc="0" normalizeH="0">
              <a:solidFill>
                <a:srgbClr val="343435"/>
              </a:solidFill>
              <a:latin typeface="字魂132号-江舟行客" panose="00000500000000000000" charset="-122"/>
              <a:ea typeface="字魂132号-江舟行客" panose="00000500000000000000" charset="-122"/>
              <a:sym typeface="+mn-ea"/>
            </a:endParaRPr>
          </a:p>
        </p:txBody>
      </p:sp>
      <p:pic>
        <p:nvPicPr>
          <p:cNvPr id="22" name="Picture 11" descr="image.png"/>
          <p:cNvPicPr>
            <a:picLocks noChangeAspect="1"/>
          </p:cNvPicPr>
          <p:nvPr/>
        </p:nvPicPr>
        <p:blipFill>
          <a:blip r:embed="rId5"/>
          <a:stretch>
            <a:fillRect/>
          </a:stretch>
        </p:blipFill>
        <p:spPr>
          <a:xfrm>
            <a:off x="6912991" y="2842231"/>
            <a:ext cx="913066" cy="917821"/>
          </a:xfrm>
          <a:prstGeom prst="rect">
            <a:avLst/>
          </a:prstGeom>
        </p:spPr>
      </p:pic>
      <p:pic>
        <p:nvPicPr>
          <p:cNvPr id="29" name="Picture 13" descr="image.png"/>
          <p:cNvPicPr>
            <a:picLocks noChangeAspect="1"/>
          </p:cNvPicPr>
          <p:nvPr/>
        </p:nvPicPr>
        <p:blipFill>
          <a:blip r:embed="rId6"/>
          <a:stretch>
            <a:fillRect/>
          </a:stretch>
        </p:blipFill>
        <p:spPr>
          <a:xfrm>
            <a:off x="12287853" y="2755552"/>
            <a:ext cx="552926" cy="1101085"/>
          </a:xfrm>
          <a:prstGeom prst="rect">
            <a:avLst/>
          </a:prstGeom>
        </p:spPr>
      </p:pic>
      <p:pic>
        <p:nvPicPr>
          <p:cNvPr id="30" name="Picture 14" descr="image.png"/>
          <p:cNvPicPr>
            <a:picLocks noChangeAspect="1"/>
          </p:cNvPicPr>
          <p:nvPr/>
        </p:nvPicPr>
        <p:blipFill>
          <a:blip r:embed="rId7"/>
          <a:stretch>
            <a:fillRect/>
          </a:stretch>
        </p:blipFill>
        <p:spPr>
          <a:xfrm>
            <a:off x="8418054" y="2982245"/>
            <a:ext cx="685096" cy="742188"/>
          </a:xfrm>
          <a:prstGeom prst="rect">
            <a:avLst/>
          </a:prstGeom>
        </p:spPr>
      </p:pic>
      <p:pic>
        <p:nvPicPr>
          <p:cNvPr id="31" name="Picture 15" descr="image.png"/>
          <p:cNvPicPr>
            <a:picLocks noChangeAspect="1"/>
          </p:cNvPicPr>
          <p:nvPr/>
        </p:nvPicPr>
        <p:blipFill>
          <a:blip r:embed="rId8"/>
          <a:stretch>
            <a:fillRect/>
          </a:stretch>
        </p:blipFill>
        <p:spPr>
          <a:xfrm>
            <a:off x="9702313" y="2987865"/>
            <a:ext cx="678136" cy="659034"/>
          </a:xfrm>
          <a:prstGeom prst="rect">
            <a:avLst/>
          </a:prstGeom>
        </p:spPr>
      </p:pic>
      <p:pic>
        <p:nvPicPr>
          <p:cNvPr id="9" name="Picture 16" descr="image.png"/>
          <p:cNvPicPr>
            <a:picLocks noChangeAspect="1"/>
          </p:cNvPicPr>
          <p:nvPr/>
        </p:nvPicPr>
        <p:blipFill>
          <a:blip r:embed="rId9"/>
          <a:stretch>
            <a:fillRect/>
          </a:stretch>
        </p:blipFill>
        <p:spPr>
          <a:xfrm>
            <a:off x="11024544" y="2995295"/>
            <a:ext cx="577993" cy="653796"/>
          </a:xfrm>
          <a:prstGeom prst="rect">
            <a:avLst/>
          </a:prstGeom>
        </p:spPr>
      </p:pic>
      <p:pic>
        <p:nvPicPr>
          <p:cNvPr id="33" name="Picture 17" descr="image.png"/>
          <p:cNvPicPr>
            <a:picLocks noChangeAspect="1"/>
          </p:cNvPicPr>
          <p:nvPr/>
        </p:nvPicPr>
        <p:blipFill>
          <a:blip r:embed="rId10"/>
          <a:stretch>
            <a:fillRect/>
          </a:stretch>
        </p:blipFill>
        <p:spPr>
          <a:xfrm>
            <a:off x="8418798" y="2980261"/>
            <a:ext cx="705421" cy="314579"/>
          </a:xfrm>
          <a:prstGeom prst="rect">
            <a:avLst/>
          </a:prstGeom>
        </p:spPr>
      </p:pic>
      <p:pic>
        <p:nvPicPr>
          <p:cNvPr id="34" name="Picture 18" descr="image.png"/>
          <p:cNvPicPr>
            <a:picLocks noChangeAspect="1"/>
          </p:cNvPicPr>
          <p:nvPr/>
        </p:nvPicPr>
        <p:blipFill>
          <a:blip r:embed="rId11"/>
          <a:stretch>
            <a:fillRect/>
          </a:stretch>
        </p:blipFill>
        <p:spPr>
          <a:xfrm>
            <a:off x="11625961" y="3216302"/>
            <a:ext cx="568833" cy="243785"/>
          </a:xfrm>
          <a:prstGeom prst="rect">
            <a:avLst/>
          </a:prstGeom>
        </p:spPr>
      </p:pic>
      <p:pic>
        <p:nvPicPr>
          <p:cNvPr id="35" name="Picture 19" descr="image.png"/>
          <p:cNvPicPr>
            <a:picLocks noChangeAspect="1"/>
          </p:cNvPicPr>
          <p:nvPr/>
        </p:nvPicPr>
        <p:blipFill>
          <a:blip r:embed="rId12"/>
          <a:stretch>
            <a:fillRect/>
          </a:stretch>
        </p:blipFill>
        <p:spPr>
          <a:xfrm>
            <a:off x="10410300" y="3229133"/>
            <a:ext cx="540418" cy="209645"/>
          </a:xfrm>
          <a:prstGeom prst="rect">
            <a:avLst/>
          </a:prstGeom>
        </p:spPr>
      </p:pic>
      <p:pic>
        <p:nvPicPr>
          <p:cNvPr id="36" name="Picture 20" descr="image.png"/>
          <p:cNvPicPr>
            <a:picLocks noChangeAspect="1"/>
          </p:cNvPicPr>
          <p:nvPr/>
        </p:nvPicPr>
        <p:blipFill>
          <a:blip r:embed="rId13"/>
          <a:stretch>
            <a:fillRect/>
          </a:stretch>
        </p:blipFill>
        <p:spPr>
          <a:xfrm>
            <a:off x="7857680" y="3222898"/>
            <a:ext cx="551116" cy="199542"/>
          </a:xfrm>
          <a:prstGeom prst="rect">
            <a:avLst/>
          </a:prstGeom>
        </p:spPr>
      </p:pic>
      <p:pic>
        <p:nvPicPr>
          <p:cNvPr id="37" name="Picture 21" descr="image.png"/>
          <p:cNvPicPr>
            <a:picLocks noChangeAspect="1"/>
          </p:cNvPicPr>
          <p:nvPr/>
        </p:nvPicPr>
        <p:blipFill>
          <a:blip r:embed="rId14"/>
          <a:stretch>
            <a:fillRect/>
          </a:stretch>
        </p:blipFill>
        <p:spPr>
          <a:xfrm>
            <a:off x="9133035" y="3233420"/>
            <a:ext cx="541676" cy="186785"/>
          </a:xfrm>
          <a:prstGeom prst="rect">
            <a:avLst/>
          </a:prstGeom>
        </p:spPr>
      </p:pic>
      <p:sp>
        <p:nvSpPr>
          <p:cNvPr id="40" name="TextBox 25"/>
          <p:cNvSpPr txBox="1"/>
          <p:nvPr/>
        </p:nvSpPr>
        <p:spPr>
          <a:xfrm>
            <a:off x="7004113" y="7407179"/>
            <a:ext cx="6107715" cy="257175"/>
          </a:xfrm>
          <a:prstGeom prst="rect">
            <a:avLst/>
          </a:prstGeom>
          <a:noFill/>
        </p:spPr>
        <p:txBody>
          <a:bodyPr wrap="none" lIns="0" tIns="0" rIns="0" bIns="0"/>
          <a:lstStyle/>
          <a:p>
            <a:pPr algn="ctr">
              <a:lnSpc>
                <a:spcPct val="129000"/>
              </a:lnSpc>
              <a:spcBef>
                <a:spcPts val="0"/>
              </a:spcBef>
              <a:spcAft>
                <a:spcPts val="0"/>
              </a:spcAft>
            </a:pPr>
            <a:r>
              <a:rPr sz="2400" b="0" i="0">
                <a:solidFill>
                  <a:srgbClr val="96783A"/>
                </a:solidFill>
                <a:latin typeface="新愚公和谐宋-S" charset="-122"/>
                <a:ea typeface="新愚公和谐宋-S" charset="-122"/>
                <a:cs typeface="新愚公和谐宋-S" charset="-122"/>
              </a:rPr>
              <a:t>用"中国结"的当代演绎,连接科技与人文、品牌与用户、创意与产业</a:t>
            </a:r>
            <a:endParaRPr sz="2400" b="0" i="0">
              <a:solidFill>
                <a:srgbClr val="96783A"/>
              </a:solidFill>
              <a:latin typeface="新愚公和谐宋-S" charset="-122"/>
              <a:ea typeface="新愚公和谐宋-S" charset="-122"/>
              <a:cs typeface="新愚公和谐宋-S" charset="-122"/>
            </a:endParaRPr>
          </a:p>
        </p:txBody>
      </p:sp>
      <p:sp>
        <p:nvSpPr>
          <p:cNvPr id="3" name="TextBox 25"/>
          <p:cNvSpPr txBox="1"/>
          <p:nvPr/>
        </p:nvSpPr>
        <p:spPr>
          <a:xfrm>
            <a:off x="14014450" y="9159875"/>
            <a:ext cx="6107430" cy="678180"/>
          </a:xfrm>
          <a:prstGeom prst="rect">
            <a:avLst/>
          </a:prstGeom>
          <a:noFill/>
        </p:spPr>
        <p:txBody>
          <a:bodyPr wrap="none" lIns="0" tIns="0" rIns="0" bIns="0"/>
          <a:lstStyle/>
          <a:p>
            <a:pPr algn="ctr">
              <a:lnSpc>
                <a:spcPct val="129000"/>
              </a:lnSpc>
              <a:spcBef>
                <a:spcPts val="0"/>
              </a:spcBef>
              <a:spcAft>
                <a:spcPts val="0"/>
              </a:spcAft>
            </a:pPr>
            <a:r>
              <a:rPr lang="zh-CN" altLang="en-US" sz="2600" b="0" i="0">
                <a:solidFill>
                  <a:srgbClr val="96783A"/>
                </a:solidFill>
                <a:latin typeface="新愚公和谐宋-S" charset="-122"/>
                <a:ea typeface="新愚公和谐宋-S" charset="-122"/>
                <a:cs typeface="新愚公和谐宋-S" charset="-122"/>
              </a:rPr>
              <a:t>黄张文静、</a:t>
            </a:r>
            <a:r>
              <a:rPr lang="zh-CN" altLang="en-US" sz="2600" b="0" i="0">
                <a:solidFill>
                  <a:srgbClr val="96783A"/>
                </a:solidFill>
                <a:latin typeface="新愚公和谐宋-S" charset="-122"/>
                <a:ea typeface="新愚公和谐宋-S" charset="-122"/>
                <a:cs typeface="新愚公和谐宋-S" charset="-122"/>
              </a:rPr>
              <a:t>吕诗琦</a:t>
            </a:r>
            <a:endParaRPr lang="zh-CN" altLang="en-US" sz="2600" b="0" i="0">
              <a:solidFill>
                <a:srgbClr val="96783A"/>
              </a:solidFill>
              <a:latin typeface="新愚公和谐宋-S" charset="-122"/>
              <a:ea typeface="新愚公和谐宋-S" charset="-122"/>
              <a:cs typeface="新愚公和谐宋-S"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1" descr="image.png"/>
          <p:cNvPicPr>
            <a:picLocks noChangeAspect="1"/>
          </p:cNvPicPr>
          <p:nvPr/>
        </p:nvPicPr>
        <p:blipFill>
          <a:blip r:embed="rId1"/>
          <a:srcRect l="6764" b="6102"/>
          <a:stretch>
            <a:fillRect/>
          </a:stretch>
        </p:blipFill>
        <p:spPr>
          <a:xfrm>
            <a:off x="6985" y="-60325"/>
            <a:ext cx="20097115" cy="11385550"/>
          </a:xfrm>
          <a:prstGeom prst="rect">
            <a:avLst/>
          </a:prstGeom>
        </p:spPr>
      </p:pic>
      <p:sp>
        <p:nvSpPr>
          <p:cNvPr id="20" name="文本框 19"/>
          <p:cNvSpPr txBox="1"/>
          <p:nvPr/>
        </p:nvSpPr>
        <p:spPr>
          <a:xfrm>
            <a:off x="679450" y="549275"/>
            <a:ext cx="18010505" cy="2195195"/>
          </a:xfrm>
          <a:prstGeom prst="rect">
            <a:avLst/>
          </a:prstGeom>
          <a:noFill/>
        </p:spPr>
        <p:txBody>
          <a:bodyPr wrap="square" rtlCol="0">
            <a:noAutofit/>
          </a:bodyPr>
          <a:p>
            <a:r>
              <a:rPr lang="zh-CN" altLang="en-US" sz="12000">
                <a:solidFill>
                  <a:srgbClr val="343435"/>
                </a:solidFill>
                <a:latin typeface="字魂132号-江舟行客" panose="00000500000000000000" charset="-122"/>
                <a:ea typeface="字魂132号-江舟行客" panose="00000500000000000000" charset="-122"/>
              </a:rPr>
              <a:t>目录</a:t>
            </a:r>
            <a:endParaRPr lang="zh-CN" altLang="en-US" sz="12000">
              <a:solidFill>
                <a:srgbClr val="343435"/>
              </a:solidFill>
              <a:latin typeface="字魂132号-江舟行客" panose="00000500000000000000" charset="-122"/>
              <a:ea typeface="字魂132号-江舟行客" panose="00000500000000000000" charset="-122"/>
            </a:endParaRPr>
          </a:p>
        </p:txBody>
      </p:sp>
      <p:sp>
        <p:nvSpPr>
          <p:cNvPr id="2" name="文本框 1"/>
          <p:cNvSpPr txBox="1"/>
          <p:nvPr/>
        </p:nvSpPr>
        <p:spPr>
          <a:xfrm>
            <a:off x="806450" y="2911475"/>
            <a:ext cx="18448020" cy="2195195"/>
          </a:xfrm>
          <a:prstGeom prst="rect">
            <a:avLst/>
          </a:prstGeom>
          <a:noFill/>
        </p:spPr>
        <p:txBody>
          <a:bodyPr wrap="square" rtlCol="0">
            <a:noAutofit/>
          </a:bodyPr>
          <a:p>
            <a:r>
              <a:rPr lang="zh-CN" altLang="en-US" sz="7000">
                <a:solidFill>
                  <a:srgbClr val="343435"/>
                </a:solidFill>
                <a:latin typeface="字魂132号-江舟行客" panose="00000500000000000000" charset="-122"/>
                <a:ea typeface="字魂132号-江舟行客" panose="00000500000000000000" charset="-122"/>
              </a:rPr>
              <a:t>一、市场分析</a:t>
            </a:r>
            <a:r>
              <a:rPr lang="en-US" altLang="zh-CN" sz="5000">
                <a:solidFill>
                  <a:srgbClr val="343435"/>
                </a:solidFill>
                <a:latin typeface="字魂132号-江舟行客" panose="00000500000000000000" charset="-122"/>
                <a:ea typeface="字魂132号-江舟行客" panose="00000500000000000000" charset="-122"/>
              </a:rPr>
              <a:t>——————————————————————————---------------------2</a:t>
            </a:r>
            <a:endParaRPr lang="en-US" altLang="zh-CN" sz="5000">
              <a:solidFill>
                <a:srgbClr val="343435"/>
              </a:solidFill>
              <a:latin typeface="字魂132号-江舟行客" panose="00000500000000000000" charset="-122"/>
              <a:ea typeface="字魂132号-江舟行客" panose="00000500000000000000" charset="-122"/>
            </a:endParaRPr>
          </a:p>
        </p:txBody>
      </p:sp>
      <p:sp>
        <p:nvSpPr>
          <p:cNvPr id="4" name="文本框 3"/>
          <p:cNvSpPr txBox="1"/>
          <p:nvPr/>
        </p:nvSpPr>
        <p:spPr>
          <a:xfrm>
            <a:off x="857250" y="4740275"/>
            <a:ext cx="18556605" cy="2195195"/>
          </a:xfrm>
          <a:prstGeom prst="rect">
            <a:avLst/>
          </a:prstGeom>
          <a:noFill/>
        </p:spPr>
        <p:txBody>
          <a:bodyPr wrap="square" rtlCol="0">
            <a:noAutofit/>
          </a:bodyPr>
          <a:p>
            <a:r>
              <a:rPr lang="zh-CN" altLang="en-US" sz="7000">
                <a:solidFill>
                  <a:srgbClr val="343435"/>
                </a:solidFill>
                <a:latin typeface="字魂132号-江舟行客" panose="00000500000000000000" charset="-122"/>
                <a:ea typeface="字魂132号-江舟行客" panose="00000500000000000000" charset="-122"/>
              </a:rPr>
              <a:t>二、用户分析</a:t>
            </a:r>
            <a:r>
              <a:rPr lang="en-US" altLang="zh-CN" sz="5000">
                <a:solidFill>
                  <a:srgbClr val="343435"/>
                </a:solidFill>
                <a:latin typeface="字魂132号-江舟行客" panose="00000500000000000000" charset="-122"/>
                <a:ea typeface="字魂132号-江舟行客" panose="00000500000000000000" charset="-122"/>
              </a:rPr>
              <a:t>-----------------------------------------------9</a:t>
            </a:r>
            <a:endParaRPr lang="en-US" altLang="zh-CN" sz="5000">
              <a:solidFill>
                <a:srgbClr val="343435"/>
              </a:solidFill>
              <a:latin typeface="字魂132号-江舟行客" panose="00000500000000000000" charset="-122"/>
              <a:ea typeface="字魂132号-江舟行客" panose="00000500000000000000" charset="-122"/>
            </a:endParaRPr>
          </a:p>
        </p:txBody>
      </p:sp>
      <p:sp>
        <p:nvSpPr>
          <p:cNvPr id="5" name="文本框 4"/>
          <p:cNvSpPr txBox="1"/>
          <p:nvPr/>
        </p:nvSpPr>
        <p:spPr>
          <a:xfrm>
            <a:off x="781050" y="6721475"/>
            <a:ext cx="18872200" cy="2195195"/>
          </a:xfrm>
          <a:prstGeom prst="rect">
            <a:avLst/>
          </a:prstGeom>
          <a:noFill/>
        </p:spPr>
        <p:txBody>
          <a:bodyPr wrap="square" rtlCol="0">
            <a:noAutofit/>
          </a:bodyPr>
          <a:p>
            <a:r>
              <a:rPr lang="zh-CN" altLang="en-US" sz="7000">
                <a:solidFill>
                  <a:srgbClr val="343435"/>
                </a:solidFill>
                <a:latin typeface="字魂132号-江舟行客" panose="00000500000000000000" charset="-122"/>
                <a:ea typeface="字魂132号-江舟行客" panose="00000500000000000000" charset="-122"/>
              </a:rPr>
              <a:t>三、创意呈现</a:t>
            </a:r>
            <a:r>
              <a:rPr lang="en-US" altLang="zh-CN" sz="5000">
                <a:solidFill>
                  <a:srgbClr val="343435"/>
                </a:solidFill>
                <a:latin typeface="字魂132号-江舟行客" panose="00000500000000000000" charset="-122"/>
                <a:ea typeface="字魂132号-江舟行客" panose="00000500000000000000" charset="-122"/>
                <a:sym typeface="+mn-ea"/>
              </a:rPr>
              <a:t>-----------------------------------------------14</a:t>
            </a:r>
            <a:endParaRPr lang="zh-CN" altLang="en-US" sz="5000">
              <a:solidFill>
                <a:srgbClr val="343435"/>
              </a:solidFill>
              <a:latin typeface="字魂132号-江舟行客" panose="00000500000000000000" charset="-122"/>
              <a:ea typeface="字魂132号-江舟行客" panose="00000500000000000000" charset="-122"/>
            </a:endParaRPr>
          </a:p>
        </p:txBody>
      </p:sp>
      <p:sp>
        <p:nvSpPr>
          <p:cNvPr id="6" name="文本框 5"/>
          <p:cNvSpPr txBox="1"/>
          <p:nvPr/>
        </p:nvSpPr>
        <p:spPr>
          <a:xfrm>
            <a:off x="831850" y="8778875"/>
            <a:ext cx="19008725" cy="2195195"/>
          </a:xfrm>
          <a:prstGeom prst="rect">
            <a:avLst/>
          </a:prstGeom>
          <a:noFill/>
        </p:spPr>
        <p:txBody>
          <a:bodyPr wrap="square" rtlCol="0">
            <a:noAutofit/>
          </a:bodyPr>
          <a:p>
            <a:r>
              <a:rPr lang="zh-CN" altLang="en-US" sz="7000">
                <a:solidFill>
                  <a:srgbClr val="343435"/>
                </a:solidFill>
                <a:latin typeface="字魂132号-江舟行客" panose="00000500000000000000" charset="-122"/>
                <a:ea typeface="字魂132号-江舟行客" panose="00000500000000000000" charset="-122"/>
              </a:rPr>
              <a:t>四、媒介排期</a:t>
            </a:r>
            <a:r>
              <a:rPr lang="en-US" altLang="zh-CN" sz="5000">
                <a:solidFill>
                  <a:srgbClr val="343435"/>
                </a:solidFill>
                <a:latin typeface="字魂132号-江舟行客" panose="00000500000000000000" charset="-122"/>
                <a:ea typeface="字魂132号-江舟行客" panose="00000500000000000000" charset="-122"/>
                <a:sym typeface="+mn-ea"/>
              </a:rPr>
              <a:t>-----------------------------------------------26</a:t>
            </a:r>
            <a:endParaRPr lang="en-US" altLang="zh-CN" sz="5000">
              <a:solidFill>
                <a:srgbClr val="343435"/>
              </a:solidFill>
              <a:latin typeface="字魂132号-江舟行客" panose="00000500000000000000" charset="-122"/>
              <a:ea typeface="字魂132号-江舟行客" panose="00000500000000000000" charset="-122"/>
            </a:endParaRPr>
          </a:p>
          <a:p>
            <a:endParaRPr lang="zh-CN" altLang="en-US" sz="5000">
              <a:solidFill>
                <a:srgbClr val="343435"/>
              </a:solidFill>
              <a:latin typeface="字魂132号-江舟行客" panose="00000500000000000000" charset="-122"/>
              <a:ea typeface="字魂132号-江舟行客" panose="000005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descr="image.png"/>
          <p:cNvPicPr>
            <a:picLocks noChangeAspect="1"/>
          </p:cNvPicPr>
          <p:nvPr/>
        </p:nvPicPr>
        <p:blipFill>
          <a:blip r:embed="rId1"/>
          <a:srcRect l="6764" b="6102"/>
          <a:stretch>
            <a:fillRect/>
          </a:stretch>
        </p:blipFill>
        <p:spPr>
          <a:xfrm>
            <a:off x="6985" y="-60325"/>
            <a:ext cx="20097115" cy="1138555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ED1B35"/>
                  </a:solidFill>
                </a:uFill>
                <a:latin typeface="新愚公和谐宋-S" charset="-122"/>
                <a:ea typeface="新愚公和谐宋-S" charset="-122"/>
                <a:cs typeface="Arial" panose="020B0604020202020204"/>
              </a:rPr>
              <a:t>市场分析</a:t>
            </a:r>
            <a:endParaRPr lang="zh-CN" altLang="en-US" sz="3200" b="1" u="sng" strike="noStrike" kern="0" cap="none" spc="-10" normalizeH="0" dirty="0">
              <a:solidFill>
                <a:srgbClr val="343435"/>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用户</a:t>
            </a:r>
            <a:r>
              <a:rPr lang="zh-CN" altLang="en-US" sz="3200" b="0" spc="-10" dirty="0">
                <a:solidFill>
                  <a:srgbClr val="8E9192"/>
                </a:solidFill>
                <a:latin typeface="新愚公和谐宋-S" charset="-122"/>
                <a:ea typeface="新愚公和谐宋-S" charset="-122"/>
                <a:cs typeface="Arial" panose="020B0604020202020204"/>
              </a:rPr>
              <a:t>分析</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a:t>
            </a:r>
            <a:endParaRPr lang="en-US" altLang="en-US" sz="1800" b="1" spc="55" dirty="0">
              <a:solidFill>
                <a:srgbClr val="000204"/>
              </a:solidFill>
              <a:latin typeface="Arial" panose="020B0604020202020204"/>
              <a:cs typeface="Arial" panose="020B0604020202020204"/>
            </a:endParaRPr>
          </a:p>
        </p:txBody>
      </p:sp>
      <p:sp>
        <p:nvSpPr>
          <p:cNvPr id="20" name="文本框 19"/>
          <p:cNvSpPr txBox="1"/>
          <p:nvPr/>
        </p:nvSpPr>
        <p:spPr>
          <a:xfrm>
            <a:off x="5861050" y="4377690"/>
            <a:ext cx="8351520" cy="2553335"/>
          </a:xfrm>
          <a:prstGeom prst="rect">
            <a:avLst/>
          </a:prstGeom>
          <a:noFill/>
        </p:spPr>
        <p:txBody>
          <a:bodyPr wrap="square" rtlCol="0">
            <a:spAutoFit/>
          </a:bodyPr>
          <a:p>
            <a:r>
              <a:rPr lang="zh-CN" altLang="en-US" sz="16000">
                <a:solidFill>
                  <a:srgbClr val="343435"/>
                </a:solidFill>
                <a:latin typeface="字魂132号-江舟行客" panose="00000500000000000000" charset="-122"/>
                <a:ea typeface="字魂132号-江舟行客" panose="00000500000000000000" charset="-122"/>
              </a:rPr>
              <a:t>市场分析</a:t>
            </a:r>
            <a:endParaRPr lang="zh-CN" altLang="en-US" sz="16000">
              <a:solidFill>
                <a:srgbClr val="343435"/>
              </a:solidFill>
              <a:latin typeface="字魂132号-江舟行客" panose="00000500000000000000" charset="-122"/>
              <a:ea typeface="字魂132号-江舟行客" panose="000005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236220"/>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rPr>
              <a:t>市场分析</a:t>
            </a:r>
            <a:endPar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用户</a:t>
            </a:r>
            <a:r>
              <a:rPr lang="zh-CN" altLang="en-US" sz="3200" b="0" spc="-10" dirty="0">
                <a:solidFill>
                  <a:srgbClr val="8E9192"/>
                </a:solidFill>
                <a:latin typeface="新愚公和谐宋-S" charset="-122"/>
                <a:ea typeface="新愚公和谐宋-S" charset="-122"/>
                <a:cs typeface="Arial" panose="020B0604020202020204"/>
              </a:rPr>
              <a:t>分析</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3</a:t>
            </a:r>
            <a:endParaRPr lang="en-US" altLang="en-US" sz="1800" b="1" spc="55" dirty="0">
              <a:solidFill>
                <a:srgbClr val="000204"/>
              </a:solidFill>
              <a:latin typeface="Arial" panose="020B0604020202020204"/>
              <a:cs typeface="Arial" panose="020B0604020202020204"/>
            </a:endParaRPr>
          </a:p>
        </p:txBody>
      </p:sp>
      <p:grpSp>
        <p:nvGrpSpPr>
          <p:cNvPr id="8" name="组合 7"/>
          <p:cNvGrpSpPr/>
          <p:nvPr/>
        </p:nvGrpSpPr>
        <p:grpSpPr>
          <a:xfrm>
            <a:off x="11042834" y="3938551"/>
            <a:ext cx="3267793" cy="3296307"/>
            <a:chOff x="9939" y="6865"/>
            <a:chExt cx="2337" cy="2357"/>
          </a:xfrm>
        </p:grpSpPr>
        <p:pic>
          <p:nvPicPr>
            <p:cNvPr id="9" name="Picture 5" descr="image.png"/>
            <p:cNvPicPr>
              <a:picLocks noChangeAspect="1"/>
            </p:cNvPicPr>
            <p:nvPr/>
          </p:nvPicPr>
          <p:blipFill>
            <a:blip r:embed="rId2"/>
            <a:stretch>
              <a:fillRect/>
            </a:stretch>
          </p:blipFill>
          <p:spPr>
            <a:xfrm>
              <a:off x="9939" y="6865"/>
              <a:ext cx="2337" cy="1767"/>
            </a:xfrm>
            <a:prstGeom prst="rect">
              <a:avLst/>
            </a:prstGeom>
          </p:spPr>
        </p:pic>
        <p:sp>
          <p:nvSpPr>
            <p:cNvPr id="17" name="TextBox 17"/>
            <p:cNvSpPr txBox="1"/>
            <p:nvPr/>
          </p:nvSpPr>
          <p:spPr>
            <a:xfrm>
              <a:off x="9976" y="8665"/>
              <a:ext cx="2102" cy="557"/>
            </a:xfrm>
            <a:prstGeom prst="rect">
              <a:avLst/>
            </a:prstGeom>
            <a:noFill/>
          </p:spPr>
          <p:txBody>
            <a:bodyPr wrap="none" lIns="0" tIns="0" rIns="0" bIns="0"/>
            <a:lstStyle/>
            <a:p>
              <a:pPr algn="ctr">
                <a:lnSpc>
                  <a:spcPct val="106000"/>
                </a:lnSpc>
                <a:spcBef>
                  <a:spcPts val="0"/>
                </a:spcBef>
                <a:spcAft>
                  <a:spcPts val="0"/>
                </a:spcAft>
              </a:pPr>
              <a:r>
                <a:rPr sz="4300" b="1" i="0" u="none" strike="noStrike" kern="0" cap="none" spc="0" normalizeH="0">
                  <a:solidFill>
                    <a:srgbClr val="343435"/>
                  </a:solidFill>
                  <a:uFillTx/>
                  <a:latin typeface="新愚公和谐宋-S" charset="-122"/>
                  <a:ea typeface="新愚公和谐宋-S" charset="-122"/>
                </a:rPr>
                <a:t>中国联通</a:t>
              </a:r>
              <a:endParaRPr sz="4300" b="1" i="0" u="none" strike="noStrike" kern="0" cap="none" spc="0" normalizeH="0">
                <a:solidFill>
                  <a:srgbClr val="343435"/>
                </a:solidFill>
                <a:uFillTx/>
                <a:latin typeface="新愚公和谐宋-S" charset="-122"/>
                <a:ea typeface="新愚公和谐宋-S" charset="-122"/>
              </a:endParaRPr>
            </a:p>
          </p:txBody>
        </p:sp>
      </p:grpSp>
      <p:cxnSp>
        <p:nvCxnSpPr>
          <p:cNvPr id="18" name="直接箭头连接符 17"/>
          <p:cNvCxnSpPr/>
          <p:nvPr/>
        </p:nvCxnSpPr>
        <p:spPr>
          <a:xfrm>
            <a:off x="9520984" y="5174116"/>
            <a:ext cx="1228235" cy="0"/>
          </a:xfrm>
          <a:prstGeom prst="straightConnector1">
            <a:avLst/>
          </a:prstGeom>
          <a:ln w="76200">
            <a:solidFill>
              <a:srgbClr val="B30100"/>
            </a:solidFill>
            <a:tailEnd type="arrow"/>
          </a:ln>
        </p:spPr>
        <p:style>
          <a:lnRef idx="2">
            <a:schemeClr val="accent1"/>
          </a:lnRef>
          <a:fillRef idx="0">
            <a:srgbClr val="FFFFFF"/>
          </a:fillRef>
          <a:effectRef idx="0">
            <a:srgbClr val="FFFFFF"/>
          </a:effectRef>
          <a:fontRef idx="minor">
            <a:schemeClr val="tx1"/>
          </a:fontRef>
        </p:style>
      </p:cxnSp>
      <p:pic>
        <p:nvPicPr>
          <p:cNvPr id="20" name="图片 19" descr="微信图片_20260406184959_17522_10"/>
          <p:cNvPicPr>
            <a:picLocks noChangeAspect="1"/>
          </p:cNvPicPr>
          <p:nvPr/>
        </p:nvPicPr>
        <p:blipFill>
          <a:blip r:embed="rId3"/>
          <a:stretch>
            <a:fillRect/>
          </a:stretch>
        </p:blipFill>
        <p:spPr>
          <a:xfrm>
            <a:off x="5975165" y="2606654"/>
            <a:ext cx="3537065" cy="6289861"/>
          </a:xfrm>
          <a:prstGeom prst="rect">
            <a:avLst/>
          </a:prstGeom>
        </p:spPr>
      </p:pic>
      <p:sp>
        <p:nvSpPr>
          <p:cNvPr id="25" name="文本框 24"/>
          <p:cNvSpPr txBox="1"/>
          <p:nvPr/>
        </p:nvSpPr>
        <p:spPr>
          <a:xfrm>
            <a:off x="603250" y="1387475"/>
            <a:ext cx="4882515" cy="737235"/>
          </a:xfrm>
          <a:prstGeom prst="rect">
            <a:avLst/>
          </a:prstGeom>
          <a:noFill/>
        </p:spPr>
        <p:txBody>
          <a:bodyPr wrap="square" rtlCol="0">
            <a:spAutoFit/>
          </a:bodyPr>
          <a:p>
            <a:r>
              <a:rPr lang="zh-CN" altLang="en-US" sz="4200" u="none" strike="noStrike" kern="0" cap="none" spc="0" normalizeH="0">
                <a:solidFill>
                  <a:srgbClr val="343435"/>
                </a:solidFill>
                <a:latin typeface="新愚公和谐宋-S" charset="-122"/>
                <a:ea typeface="新愚公和谐宋-S" charset="-122"/>
              </a:rPr>
              <a:t>品牌分析：</a:t>
            </a:r>
            <a:endParaRPr lang="zh-CN" altLang="en-US" sz="4200" u="none" strike="noStrike" kern="0" cap="none" spc="0" normalizeH="0">
              <a:solidFill>
                <a:srgbClr val="343435"/>
              </a:solidFill>
              <a:latin typeface="新愚公和谐宋-S" charset="-122"/>
              <a:ea typeface="新愚公和谐宋-S" charset="-122"/>
            </a:endParaRPr>
          </a:p>
        </p:txBody>
      </p:sp>
      <p:pic>
        <p:nvPicPr>
          <p:cNvPr id="33" name="图片 32" descr="招手正背2024-07-23 16.36.29"/>
          <p:cNvPicPr>
            <a:picLocks noChangeAspect="1"/>
          </p:cNvPicPr>
          <p:nvPr/>
        </p:nvPicPr>
        <p:blipFill>
          <a:blip r:embed="rId4"/>
          <a:srcRect r="52750"/>
          <a:stretch>
            <a:fillRect/>
          </a:stretch>
        </p:blipFill>
        <p:spPr>
          <a:xfrm>
            <a:off x="603250" y="6950075"/>
            <a:ext cx="3837305" cy="4740275"/>
          </a:xfrm>
          <a:prstGeom prst="rect">
            <a:avLst/>
          </a:prstGeom>
        </p:spPr>
      </p:pic>
      <p:pic>
        <p:nvPicPr>
          <p:cNvPr id="6" name="Picture 5" descr="image.png"/>
          <p:cNvPicPr>
            <a:picLocks noChangeAspect="1"/>
          </p:cNvPicPr>
          <p:nvPr>
            <p:custDataLst>
              <p:tags r:id="rId5"/>
            </p:custDataLst>
          </p:nvPr>
        </p:nvPicPr>
        <p:blipFill>
          <a:blip r:embed="rId6"/>
          <a:stretch>
            <a:fillRect/>
          </a:stretch>
        </p:blipFill>
        <p:spPr>
          <a:xfrm>
            <a:off x="603250" y="3063875"/>
            <a:ext cx="5316220" cy="3794125"/>
          </a:xfrm>
          <a:prstGeom prst="rect">
            <a:avLst/>
          </a:prstGeom>
        </p:spPr>
      </p:pic>
      <p:sp>
        <p:nvSpPr>
          <p:cNvPr id="34" name="文本框 33"/>
          <p:cNvSpPr txBox="1"/>
          <p:nvPr/>
        </p:nvSpPr>
        <p:spPr>
          <a:xfrm>
            <a:off x="998855" y="3368675"/>
            <a:ext cx="4747895" cy="3138170"/>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中国联通自</a:t>
            </a:r>
            <a:r>
              <a:rPr lang="en-US" altLang="zh-CN" sz="2200" u="none" strike="noStrike" kern="0" cap="none" spc="0" normalizeH="0">
                <a:solidFill>
                  <a:srgbClr val="343435"/>
                </a:solidFill>
                <a:latin typeface="新愚公和谐宋-S" charset="-122"/>
                <a:ea typeface="新愚公和谐宋-S" charset="-122"/>
              </a:rPr>
              <a:t> 1995 </a:t>
            </a:r>
            <a:r>
              <a:rPr lang="zh-CN" altLang="en-US" sz="2200" u="none" strike="noStrike" kern="0" cap="none" spc="0" normalizeH="0">
                <a:solidFill>
                  <a:srgbClr val="343435"/>
                </a:solidFill>
                <a:latin typeface="新愚公和谐宋-S" charset="-122"/>
                <a:ea typeface="新愚公和谐宋-S" charset="-122"/>
              </a:rPr>
              <a:t>年启用源自盘长纹的</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中国结</a:t>
            </a:r>
            <a:r>
              <a:rPr lang="en-US" altLang="zh-CN" sz="2200" u="none" strike="noStrike" kern="0" cap="none" spc="0" normalizeH="0">
                <a:solidFill>
                  <a:srgbClr val="343435"/>
                </a:solidFill>
                <a:latin typeface="新愚公和谐宋-S" charset="-122"/>
                <a:ea typeface="新愚公和谐宋-S" charset="-122"/>
              </a:rPr>
              <a:t>”LOGO</a:t>
            </a:r>
            <a:r>
              <a:rPr lang="zh-CN" altLang="en-US" sz="2200" u="none" strike="noStrike" kern="0" cap="none" spc="0" normalizeH="0">
                <a:solidFill>
                  <a:srgbClr val="343435"/>
                </a:solidFill>
                <a:latin typeface="新愚公和谐宋-S" charset="-122"/>
                <a:ea typeface="新愚公和谐宋-S" charset="-122"/>
              </a:rPr>
              <a:t>以来，始终以</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连接</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为核心品牌基因，承载传统文化与现代通信科技双重属性。</a:t>
            </a:r>
            <a:endParaRPr lang="zh-CN" altLang="en-US" sz="2200" u="none" strike="noStrike" kern="0" cap="none" spc="0" normalizeH="0">
              <a:solidFill>
                <a:srgbClr val="343435"/>
              </a:solidFill>
              <a:latin typeface="新愚公和谐宋-S" charset="-122"/>
              <a:ea typeface="新愚公和谐宋-S" charset="-122"/>
            </a:endParaRPr>
          </a:p>
          <a:p>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2024 </a:t>
            </a:r>
            <a:r>
              <a:rPr lang="zh-CN" altLang="en-US" sz="2200" u="none" strike="noStrike" kern="0" cap="none" spc="0" normalizeH="0">
                <a:solidFill>
                  <a:srgbClr val="343435"/>
                </a:solidFill>
                <a:latin typeface="新愚公和谐宋-S" charset="-122"/>
                <a:ea typeface="新愚公和谐宋-S" charset="-122"/>
              </a:rPr>
              <a:t>年推出融合中国结与</a:t>
            </a:r>
            <a:r>
              <a:rPr lang="en-US" altLang="zh-CN" sz="2200" u="none" strike="noStrike" kern="0" cap="none" spc="0" normalizeH="0">
                <a:solidFill>
                  <a:srgbClr val="343435"/>
                </a:solidFill>
                <a:latin typeface="新愚公和谐宋-S" charset="-122"/>
                <a:ea typeface="新愚公和谐宋-S" charset="-122"/>
              </a:rPr>
              <a:t> AI </a:t>
            </a:r>
            <a:r>
              <a:rPr lang="zh-CN" altLang="en-US" sz="2200" u="none" strike="noStrike" kern="0" cap="none" spc="0" normalizeH="0">
                <a:solidFill>
                  <a:srgbClr val="343435"/>
                </a:solidFill>
                <a:latin typeface="新愚公和谐宋-S" charset="-122"/>
                <a:ea typeface="新愚公和谐宋-S" charset="-122"/>
              </a:rPr>
              <a:t>科技元素的官方吉祥物</a:t>
            </a:r>
            <a:r>
              <a:rPr lang="en-US" altLang="zh-CN" sz="2200" u="none" strike="noStrike" kern="0" cap="none" spc="0" normalizeH="0">
                <a:solidFill>
                  <a:srgbClr val="343435"/>
                </a:solidFill>
                <a:latin typeface="新愚公和谐宋-S" charset="-122"/>
                <a:ea typeface="新愚公和谐宋-S" charset="-122"/>
              </a:rPr>
              <a:t> “</a:t>
            </a:r>
            <a:r>
              <a:rPr lang="zh-CN" altLang="en-US" sz="2200" u="none" strike="noStrike" kern="0" cap="none" spc="0" normalizeH="0">
                <a:solidFill>
                  <a:srgbClr val="343435"/>
                </a:solidFill>
                <a:latin typeface="新愚公和谐宋-S" charset="-122"/>
                <a:ea typeface="新愚公和谐宋-S" charset="-122"/>
              </a:rPr>
              <a:t>通通</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，正式确立</a:t>
            </a:r>
            <a:r>
              <a:rPr lang="en-US" altLang="zh-CN" sz="2200" u="none" strike="noStrike" kern="0" cap="none" spc="0" normalizeH="0">
                <a:solidFill>
                  <a:srgbClr val="343435"/>
                </a:solidFill>
                <a:latin typeface="新愚公和谐宋-S" charset="-122"/>
                <a:ea typeface="新愚公和谐宋-S" charset="-122"/>
              </a:rPr>
              <a:t> “</a:t>
            </a:r>
            <a:r>
              <a:rPr lang="zh-CN" altLang="en-US" sz="2200" u="none" strike="noStrike" kern="0" cap="none" spc="0" normalizeH="0">
                <a:solidFill>
                  <a:srgbClr val="343435"/>
                </a:solidFill>
                <a:latin typeface="新愚公和谐宋-S" charset="-122"/>
                <a:ea typeface="新愚公和谐宋-S" charset="-122"/>
              </a:rPr>
              <a:t>传统文化</a:t>
            </a:r>
            <a:r>
              <a:rPr lang="en-US" altLang="zh-CN" sz="2200" u="none" strike="noStrike" kern="0" cap="none" spc="0" normalizeH="0">
                <a:solidFill>
                  <a:srgbClr val="343435"/>
                </a:solidFill>
                <a:latin typeface="新愚公和谐宋-S" charset="-122"/>
                <a:ea typeface="新愚公和谐宋-S" charset="-122"/>
              </a:rPr>
              <a:t> + </a:t>
            </a:r>
            <a:r>
              <a:rPr lang="zh-CN" altLang="en-US" sz="2200" u="none" strike="noStrike" kern="0" cap="none" spc="0" normalizeH="0">
                <a:solidFill>
                  <a:srgbClr val="343435"/>
                </a:solidFill>
                <a:latin typeface="新愚公和谐宋-S" charset="-122"/>
                <a:ea typeface="新愚公和谐宋-S" charset="-122"/>
              </a:rPr>
              <a:t>科技创新</a:t>
            </a:r>
            <a:r>
              <a:rPr lang="en-US" altLang="zh-CN" sz="2200" u="none" strike="noStrike" kern="0" cap="none" spc="0" normalizeH="0">
                <a:solidFill>
                  <a:srgbClr val="343435"/>
                </a:solidFill>
                <a:latin typeface="新愚公和谐宋-S" charset="-122"/>
                <a:ea typeface="新愚公和谐宋-S" charset="-122"/>
              </a:rPr>
              <a:t>” </a:t>
            </a:r>
            <a:r>
              <a:rPr lang="zh-CN" altLang="en-US" sz="2200" u="none" strike="noStrike" kern="0" cap="none" spc="0" normalizeH="0">
                <a:solidFill>
                  <a:srgbClr val="343435"/>
                </a:solidFill>
                <a:latin typeface="新愚公和谐宋-S" charset="-122"/>
                <a:ea typeface="新愚公和谐宋-S" charset="-122"/>
              </a:rPr>
              <a:t>双轨品牌升级方向。</a:t>
            </a:r>
            <a:endParaRPr lang="en-US" altLang="zh-CN" sz="2200" u="none" strike="noStrike" kern="0" cap="none" spc="0" normalizeH="0">
              <a:solidFill>
                <a:srgbClr val="343435"/>
              </a:solidFill>
              <a:latin typeface="新愚公和谐宋-S" charset="-122"/>
              <a:ea typeface="新愚公和谐宋-S" charset="-122"/>
            </a:endParaRPr>
          </a:p>
        </p:txBody>
      </p:sp>
      <p:pic>
        <p:nvPicPr>
          <p:cNvPr id="5" name="Picture 5" descr="image.png"/>
          <p:cNvPicPr>
            <a:picLocks noChangeAspect="1"/>
          </p:cNvPicPr>
          <p:nvPr>
            <p:custDataLst>
              <p:tags r:id="rId7"/>
            </p:custDataLst>
          </p:nvPr>
        </p:nvPicPr>
        <p:blipFill>
          <a:blip r:embed="rId6"/>
          <a:stretch>
            <a:fillRect/>
          </a:stretch>
        </p:blipFill>
        <p:spPr>
          <a:xfrm>
            <a:off x="14624050" y="1844675"/>
            <a:ext cx="3623945" cy="3159125"/>
          </a:xfrm>
          <a:prstGeom prst="rect">
            <a:avLst/>
          </a:prstGeom>
        </p:spPr>
      </p:pic>
      <p:sp>
        <p:nvSpPr>
          <p:cNvPr id="30" name="TextBox 14"/>
          <p:cNvSpPr txBox="1"/>
          <p:nvPr/>
        </p:nvSpPr>
        <p:spPr>
          <a:xfrm>
            <a:off x="15004923" y="2036476"/>
            <a:ext cx="1425797" cy="417861"/>
          </a:xfrm>
          <a:prstGeom prst="rect">
            <a:avLst/>
          </a:prstGeom>
          <a:noFill/>
        </p:spPr>
        <p:txBody>
          <a:bodyPr wrap="none" lIns="0" tIns="0" rIns="0" bIns="0"/>
          <a:lstStyle/>
          <a:p>
            <a:pPr algn="just">
              <a:lnSpc>
                <a:spcPct val="122000"/>
              </a:lnSpc>
              <a:spcBef>
                <a:spcPts val="0"/>
              </a:spcBef>
              <a:spcAft>
                <a:spcPts val="0"/>
              </a:spcAft>
            </a:pPr>
            <a:r>
              <a:rPr sz="2800" b="1" i="0">
                <a:solidFill>
                  <a:schemeClr val="tx1"/>
                </a:solidFill>
                <a:latin typeface="微软雅黑" panose="020B0503020204020204" charset="-122"/>
                <a:ea typeface="微软雅黑" panose="020B0503020204020204" charset="-122"/>
              </a:rPr>
              <a:t>历史传承</a:t>
            </a:r>
            <a:endParaRPr sz="2800" b="1" i="0">
              <a:solidFill>
                <a:schemeClr val="tx1"/>
              </a:solidFill>
              <a:latin typeface="微软雅黑" panose="020B0503020204020204" charset="-122"/>
              <a:ea typeface="微软雅黑" panose="020B0503020204020204" charset="-122"/>
            </a:endParaRPr>
          </a:p>
        </p:txBody>
      </p:sp>
      <p:sp>
        <p:nvSpPr>
          <p:cNvPr id="31" name="TextBox 15"/>
          <p:cNvSpPr txBox="1"/>
          <p:nvPr/>
        </p:nvSpPr>
        <p:spPr>
          <a:xfrm>
            <a:off x="14975840" y="2709545"/>
            <a:ext cx="5310505" cy="1917065"/>
          </a:xfrm>
          <a:prstGeom prst="rect">
            <a:avLst/>
          </a:prstGeom>
          <a:noFill/>
        </p:spPr>
        <p:txBody>
          <a:bodyPr wrap="none" lIns="0" tIns="0" rIns="0" bIns="0"/>
          <a:lstStyle/>
          <a:p>
            <a:pPr marL="29210" algn="just">
              <a:spcBef>
                <a:spcPts val="0"/>
              </a:spcBef>
              <a:spcAft>
                <a:spcPts val="0"/>
              </a:spcAft>
            </a:pPr>
            <a:r>
              <a:rPr sz="2200" b="0" i="0">
                <a:solidFill>
                  <a:srgbClr val="000000"/>
                </a:solidFill>
                <a:latin typeface="新愚公和谐宋-S" charset="-122"/>
                <a:ea typeface="新愚公和谐宋-S" charset="-122"/>
                <a:cs typeface="新愚公和谐宋-S" charset="-122"/>
              </a:rPr>
              <a:t>中国联通Logo演变史:</a:t>
            </a:r>
            <a:endParaRPr sz="2200" b="0" i="0">
              <a:solidFill>
                <a:srgbClr val="000000"/>
              </a:solidFill>
              <a:latin typeface="新愚公和谐宋-S" charset="-122"/>
              <a:ea typeface="新愚公和谐宋-S" charset="-122"/>
              <a:cs typeface="新愚公和谐宋-S" charset="-122"/>
            </a:endParaRPr>
          </a:p>
          <a:p>
            <a:pPr marL="29210" algn="just">
              <a:spcBef>
                <a:spcPts val="565"/>
              </a:spcBef>
            </a:pPr>
            <a:r>
              <a:rPr lang="zh-CN" sz="2200">
                <a:latin typeface="新愚公和谐宋-S" charset="-122"/>
                <a:ea typeface="新愚公和谐宋-S" charset="-122"/>
                <a:cs typeface="新愚公和谐宋-S" charset="-122"/>
              </a:rPr>
              <a:t>从传统纹样</a:t>
            </a:r>
            <a:r>
              <a:rPr lang="en-US" altLang="zh-CN" sz="2200">
                <a:latin typeface="新愚公和谐宋-S" charset="-122"/>
                <a:ea typeface="新愚公和谐宋-S" charset="-122"/>
                <a:cs typeface="新愚公和谐宋-S" charset="-122"/>
              </a:rPr>
              <a:t>→</a:t>
            </a:r>
            <a:r>
              <a:rPr lang="zh-CN" sz="2200">
                <a:latin typeface="新愚公和谐宋-S" charset="-122"/>
                <a:ea typeface="新愚公和谐宋-S" charset="-122"/>
                <a:cs typeface="新愚公和谐宋-S" charset="-122"/>
              </a:rPr>
              <a:t>现代符号</a:t>
            </a:r>
            <a:endParaRPr lang="zh-CN" sz="2200">
              <a:latin typeface="新愚公和谐宋-S" charset="-122"/>
              <a:ea typeface="新愚公和谐宋-S" charset="-122"/>
              <a:cs typeface="新愚公和谐宋-S" charset="-122"/>
            </a:endParaRPr>
          </a:p>
          <a:p>
            <a:pPr marL="29210" algn="just">
              <a:spcBef>
                <a:spcPts val="565"/>
              </a:spcBef>
            </a:pPr>
            <a:r>
              <a:rPr lang="zh-CN" altLang="en-US" sz="2200">
                <a:latin typeface="新愚公和谐宋-S" charset="-122"/>
                <a:ea typeface="新愚公和谐宋-S" charset="-122"/>
                <a:cs typeface="新愚公和谐宋-S" charset="-122"/>
              </a:rPr>
              <a:t>中国结源自盘长纹，品</a:t>
            </a:r>
            <a:endParaRPr lang="zh-CN" altLang="en-US" sz="2200">
              <a:latin typeface="新愚公和谐宋-S" charset="-122"/>
              <a:ea typeface="新愚公和谐宋-S" charset="-122"/>
              <a:cs typeface="新愚公和谐宋-S" charset="-122"/>
            </a:endParaRPr>
          </a:p>
          <a:p>
            <a:pPr marL="29210" algn="just">
              <a:spcBef>
                <a:spcPts val="565"/>
              </a:spcBef>
            </a:pPr>
            <a:r>
              <a:rPr lang="zh-CN" altLang="en-US" sz="2200">
                <a:latin typeface="新愚公和谐宋-S" charset="-122"/>
                <a:ea typeface="新愚公和谐宋-S" charset="-122"/>
                <a:cs typeface="新愚公和谐宋-S" charset="-122"/>
              </a:rPr>
              <a:t>牌核心「连接」，天然</a:t>
            </a:r>
            <a:endParaRPr lang="zh-CN" altLang="en-US" sz="2200">
              <a:latin typeface="新愚公和谐宋-S" charset="-122"/>
              <a:ea typeface="新愚公和谐宋-S" charset="-122"/>
              <a:cs typeface="新愚公和谐宋-S" charset="-122"/>
            </a:endParaRPr>
          </a:p>
          <a:p>
            <a:pPr marL="29210" algn="just">
              <a:spcBef>
                <a:spcPts val="565"/>
              </a:spcBef>
            </a:pPr>
            <a:r>
              <a:rPr lang="zh-CN" altLang="en-US" sz="2200">
                <a:latin typeface="新愚公和谐宋-S" charset="-122"/>
                <a:ea typeface="新愚公和谐宋-S" charset="-122"/>
                <a:cs typeface="新愚公和谐宋-S" charset="-122"/>
              </a:rPr>
              <a:t>契合古今文明联动。</a:t>
            </a:r>
            <a:endParaRPr lang="zh-CN" altLang="en-US" sz="2200">
              <a:latin typeface="微软雅黑" panose="020B0503020204020204" charset="-122"/>
              <a:ea typeface="微软雅黑" panose="020B0503020204020204" charset="-122"/>
            </a:endParaRPr>
          </a:p>
          <a:p>
            <a:pPr>
              <a:spcBef>
                <a:spcPts val="805"/>
              </a:spcBef>
            </a:pPr>
            <a:endParaRPr lang="zh-CN" sz="2200">
              <a:latin typeface="微软雅黑" panose="020B0503020204020204" charset="-122"/>
              <a:ea typeface="微软雅黑" panose="020B0503020204020204" charset="-122"/>
            </a:endParaRPr>
          </a:p>
        </p:txBody>
      </p:sp>
      <p:pic>
        <p:nvPicPr>
          <p:cNvPr id="7" name="Picture 5" descr="image.png"/>
          <p:cNvPicPr>
            <a:picLocks noChangeAspect="1"/>
          </p:cNvPicPr>
          <p:nvPr>
            <p:custDataLst>
              <p:tags r:id="rId8"/>
            </p:custDataLst>
          </p:nvPr>
        </p:nvPicPr>
        <p:blipFill>
          <a:blip r:embed="rId6"/>
          <a:stretch>
            <a:fillRect/>
          </a:stretch>
        </p:blipFill>
        <p:spPr>
          <a:xfrm>
            <a:off x="14700250" y="5349875"/>
            <a:ext cx="4011295" cy="2170430"/>
          </a:xfrm>
          <a:prstGeom prst="rect">
            <a:avLst/>
          </a:prstGeom>
        </p:spPr>
      </p:pic>
      <p:sp>
        <p:nvSpPr>
          <p:cNvPr id="3" name="TextBox 14"/>
          <p:cNvSpPr txBox="1"/>
          <p:nvPr/>
        </p:nvSpPr>
        <p:spPr>
          <a:xfrm>
            <a:off x="15004923" y="5611526"/>
            <a:ext cx="1425797" cy="417861"/>
          </a:xfrm>
          <a:prstGeom prst="rect">
            <a:avLst/>
          </a:prstGeom>
          <a:noFill/>
        </p:spPr>
        <p:txBody>
          <a:bodyPr wrap="none" lIns="0" tIns="0" rIns="0" bIns="0"/>
          <a:lstStyle/>
          <a:p>
            <a:pPr algn="just">
              <a:lnSpc>
                <a:spcPct val="122000"/>
              </a:lnSpc>
              <a:spcBef>
                <a:spcPts val="0"/>
              </a:spcBef>
              <a:spcAft>
                <a:spcPts val="0"/>
              </a:spcAft>
            </a:pPr>
            <a:r>
              <a:rPr lang="zh-CN" altLang="en-US" sz="2800" b="1" i="0">
                <a:solidFill>
                  <a:schemeClr val="tx1"/>
                </a:solidFill>
                <a:latin typeface="微软雅黑" panose="020B0503020204020204" charset="-122"/>
                <a:ea typeface="微软雅黑" panose="020B0503020204020204" charset="-122"/>
              </a:rPr>
              <a:t>文化内涵</a:t>
            </a:r>
            <a:endParaRPr lang="zh-CN" altLang="en-US" sz="2800" b="1" i="0">
              <a:solidFill>
                <a:schemeClr val="tx1"/>
              </a:solidFill>
              <a:latin typeface="微软雅黑" panose="020B0503020204020204" charset="-122"/>
              <a:ea typeface="微软雅黑" panose="020B0503020204020204" charset="-122"/>
            </a:endParaRPr>
          </a:p>
        </p:txBody>
      </p:sp>
      <p:sp>
        <p:nvSpPr>
          <p:cNvPr id="4" name="TextBox 15"/>
          <p:cNvSpPr txBox="1"/>
          <p:nvPr/>
        </p:nvSpPr>
        <p:spPr>
          <a:xfrm>
            <a:off x="14975840" y="6284595"/>
            <a:ext cx="5310505" cy="1917065"/>
          </a:xfrm>
          <a:prstGeom prst="rect">
            <a:avLst/>
          </a:prstGeom>
          <a:noFill/>
        </p:spPr>
        <p:txBody>
          <a:bodyPr wrap="none" lIns="0" tIns="0" rIns="0" bIns="0"/>
          <a:lstStyle/>
          <a:p>
            <a:pPr marL="635" algn="just">
              <a:spcBef>
                <a:spcPts val="0"/>
              </a:spcBef>
              <a:spcAft>
                <a:spcPts val="0"/>
              </a:spcAft>
            </a:pPr>
            <a:r>
              <a:rPr sz="2200" b="0" i="0">
                <a:solidFill>
                  <a:srgbClr val="000000"/>
                </a:solidFill>
                <a:latin typeface="新愚公和谐宋-S" charset="-122"/>
                <a:ea typeface="新愚公和谐宋-S" charset="-122"/>
                <a:cs typeface="新愚公和谐宋-S" charset="-122"/>
                <a:sym typeface="+mn-ea"/>
              </a:rPr>
              <a:t>盘长纹:永恒绵延、回环贯通</a:t>
            </a:r>
            <a:endParaRPr sz="2200" b="0" i="0">
              <a:solidFill>
                <a:srgbClr val="000000"/>
              </a:solidFill>
              <a:latin typeface="新愚公和谐宋-S" charset="-122"/>
              <a:ea typeface="新愚公和谐宋-S" charset="-122"/>
              <a:cs typeface="新愚公和谐宋-S" charset="-122"/>
            </a:endParaRPr>
          </a:p>
          <a:p>
            <a:pPr algn="just">
              <a:spcBef>
                <a:spcPts val="815"/>
              </a:spcBef>
            </a:pPr>
            <a:r>
              <a:rPr lang="zh-CN" sz="2200">
                <a:latin typeface="新愚公和谐宋-S" charset="-122"/>
                <a:ea typeface="新愚公和谐宋-S" charset="-122"/>
                <a:cs typeface="新愚公和谐宋-S" charset="-122"/>
                <a:sym typeface="+mn-ea"/>
              </a:rPr>
              <a:t>红色通信精神的当代传承。</a:t>
            </a:r>
            <a:endParaRPr lang="zh-CN" sz="2200">
              <a:latin typeface="新愚公和谐宋-S" charset="-122"/>
              <a:ea typeface="新愚公和谐宋-S" charset="-122"/>
              <a:cs typeface="新愚公和谐宋-S" charset="-122"/>
            </a:endParaRPr>
          </a:p>
          <a:p>
            <a:pPr>
              <a:spcBef>
                <a:spcPts val="805"/>
              </a:spcBef>
            </a:pPr>
            <a:endParaRPr lang="zh-CN" sz="2200">
              <a:latin typeface="新愚公和谐宋-S" charset="-122"/>
              <a:ea typeface="新愚公和谐宋-S" charset="-122"/>
              <a:cs typeface="新愚公和谐宋-S" charset="-122"/>
            </a:endParaRPr>
          </a:p>
        </p:txBody>
      </p:sp>
      <p:sp>
        <p:nvSpPr>
          <p:cNvPr id="11" name="文本框 10"/>
          <p:cNvSpPr txBox="1"/>
          <p:nvPr/>
        </p:nvSpPr>
        <p:spPr>
          <a:xfrm>
            <a:off x="6546850" y="10226675"/>
            <a:ext cx="6691630" cy="737235"/>
          </a:xfrm>
          <a:prstGeom prst="rect">
            <a:avLst/>
          </a:prstGeom>
          <a:noFill/>
        </p:spPr>
        <p:txBody>
          <a:bodyPr wrap="square" rtlCol="0">
            <a:spAutoFit/>
          </a:bodyPr>
          <a:p>
            <a:pPr algn="ctr"/>
            <a:r>
              <a:rPr lang="zh-CN" altLang="en-US" sz="4200" b="1" u="none" strike="noStrike" kern="0" cap="none" spc="0" normalizeH="0">
                <a:solidFill>
                  <a:srgbClr val="343435"/>
                </a:solidFill>
                <a:latin typeface="新愚公和谐宋-S" charset="-122"/>
                <a:ea typeface="新愚公和谐宋-S" charset="-122"/>
              </a:rPr>
              <a:t>核心口号：创新与智慧同行</a:t>
            </a:r>
            <a:endParaRPr lang="zh-CN" altLang="en-US" sz="4200" b="1" u="none" strike="noStrike" kern="0" cap="none" spc="0" normalizeH="0">
              <a:solidFill>
                <a:srgbClr val="343435"/>
              </a:solidFill>
              <a:latin typeface="新愚公和谐宋-S" charset="-122"/>
              <a:ea typeface="新愚公和谐宋-S" charset="-122"/>
            </a:endParaRPr>
          </a:p>
        </p:txBody>
      </p:sp>
      <p:pic>
        <p:nvPicPr>
          <p:cNvPr id="16" name="Picture 5" descr="image.png"/>
          <p:cNvPicPr>
            <a:picLocks noChangeAspect="1"/>
          </p:cNvPicPr>
          <p:nvPr>
            <p:custDataLst>
              <p:tags r:id="rId9"/>
            </p:custDataLst>
          </p:nvPr>
        </p:nvPicPr>
        <p:blipFill>
          <a:blip r:embed="rId6"/>
          <a:stretch>
            <a:fillRect/>
          </a:stretch>
        </p:blipFill>
        <p:spPr>
          <a:xfrm>
            <a:off x="14700250" y="7866380"/>
            <a:ext cx="4616450" cy="2245360"/>
          </a:xfrm>
          <a:prstGeom prst="rect">
            <a:avLst/>
          </a:prstGeom>
        </p:spPr>
      </p:pic>
      <p:sp>
        <p:nvSpPr>
          <p:cNvPr id="21" name="TextBox 14"/>
          <p:cNvSpPr txBox="1"/>
          <p:nvPr/>
        </p:nvSpPr>
        <p:spPr>
          <a:xfrm>
            <a:off x="15081123" y="8126126"/>
            <a:ext cx="1425797" cy="417861"/>
          </a:xfrm>
          <a:prstGeom prst="rect">
            <a:avLst/>
          </a:prstGeom>
          <a:noFill/>
        </p:spPr>
        <p:txBody>
          <a:bodyPr wrap="none" lIns="0" tIns="0" rIns="0" bIns="0"/>
          <a:lstStyle/>
          <a:p>
            <a:pPr algn="just">
              <a:lnSpc>
                <a:spcPct val="122000"/>
              </a:lnSpc>
              <a:spcBef>
                <a:spcPts val="0"/>
              </a:spcBef>
              <a:spcAft>
                <a:spcPts val="0"/>
              </a:spcAft>
            </a:pPr>
            <a:r>
              <a:rPr lang="zh-CN" altLang="en-US" sz="2800" b="1" i="0">
                <a:solidFill>
                  <a:schemeClr val="tx1"/>
                </a:solidFill>
                <a:latin typeface="微软雅黑" panose="020B0503020204020204" charset="-122"/>
                <a:ea typeface="微软雅黑" panose="020B0503020204020204" charset="-122"/>
              </a:rPr>
              <a:t>品牌内涵</a:t>
            </a:r>
            <a:endParaRPr lang="zh-CN" altLang="en-US" sz="2800" b="1" i="0">
              <a:solidFill>
                <a:schemeClr val="tx1"/>
              </a:solidFill>
              <a:latin typeface="微软雅黑" panose="020B0503020204020204" charset="-122"/>
              <a:ea typeface="微软雅黑" panose="020B0503020204020204" charset="-122"/>
            </a:endParaRPr>
          </a:p>
        </p:txBody>
      </p:sp>
      <p:sp>
        <p:nvSpPr>
          <p:cNvPr id="22" name="TextBox 15"/>
          <p:cNvSpPr txBox="1"/>
          <p:nvPr/>
        </p:nvSpPr>
        <p:spPr>
          <a:xfrm>
            <a:off x="14975840" y="8724900"/>
            <a:ext cx="5310505" cy="1917065"/>
          </a:xfrm>
          <a:prstGeom prst="rect">
            <a:avLst/>
          </a:prstGeom>
          <a:noFill/>
        </p:spPr>
        <p:txBody>
          <a:bodyPr wrap="none" lIns="0" tIns="0" rIns="0" bIns="0"/>
          <a:lstStyle/>
          <a:p>
            <a:pPr marL="635" algn="just">
              <a:spcBef>
                <a:spcPts val="0"/>
              </a:spcBef>
              <a:spcAft>
                <a:spcPts val="0"/>
              </a:spcAft>
            </a:pPr>
            <a:r>
              <a:rPr lang="zh-CN" altLang="en-US" sz="2200">
                <a:latin typeface="新愚公和谐宋-S" charset="-122"/>
                <a:ea typeface="新愚公和谐宋-S" charset="-122"/>
                <a:cs typeface="新愚公和谐宋-S" charset="-122"/>
              </a:rPr>
              <a:t>以</a:t>
            </a:r>
            <a:r>
              <a:rPr lang="en-US" altLang="zh-CN" sz="2200">
                <a:latin typeface="新愚公和谐宋-S" charset="-122"/>
                <a:ea typeface="新愚公和谐宋-S" charset="-122"/>
                <a:cs typeface="新愚公和谐宋-S" charset="-122"/>
              </a:rPr>
              <a:t>“</a:t>
            </a:r>
            <a:r>
              <a:rPr lang="zh-CN" altLang="en-US" sz="2200">
                <a:latin typeface="新愚公和谐宋-S" charset="-122"/>
                <a:ea typeface="新愚公和谐宋-S" charset="-122"/>
                <a:cs typeface="新愚公和谐宋-S" charset="-122"/>
              </a:rPr>
              <a:t>连接</a:t>
            </a:r>
            <a:r>
              <a:rPr lang="en-US" altLang="zh-CN" sz="2200">
                <a:latin typeface="新愚公和谐宋-S" charset="-122"/>
                <a:ea typeface="新愚公和谐宋-S" charset="-122"/>
                <a:cs typeface="新愚公和谐宋-S" charset="-122"/>
              </a:rPr>
              <a:t>”</a:t>
            </a:r>
            <a:r>
              <a:rPr lang="zh-CN" altLang="en-US" sz="2200">
                <a:latin typeface="新愚公和谐宋-S" charset="-122"/>
                <a:ea typeface="新愚公和谐宋-S" charset="-122"/>
                <a:cs typeface="新愚公和谐宋-S" charset="-122"/>
              </a:rPr>
              <a:t>为底层基因，从传统</a:t>
            </a:r>
            <a:r>
              <a:rPr lang="en-US" altLang="zh-CN" sz="2200">
                <a:latin typeface="新愚公和谐宋-S" charset="-122"/>
                <a:ea typeface="新愚公和谐宋-S" charset="-122"/>
                <a:cs typeface="新愚公和谐宋-S" charset="-122"/>
              </a:rPr>
              <a:t> </a:t>
            </a:r>
            <a:endParaRPr lang="en-US" altLang="zh-CN" sz="2200">
              <a:latin typeface="新愚公和谐宋-S" charset="-122"/>
              <a:ea typeface="新愚公和谐宋-S" charset="-122"/>
              <a:cs typeface="新愚公和谐宋-S" charset="-122"/>
            </a:endParaRPr>
          </a:p>
          <a:p>
            <a:pPr marL="635" algn="just">
              <a:spcBef>
                <a:spcPts val="0"/>
              </a:spcBef>
              <a:spcAft>
                <a:spcPts val="0"/>
              </a:spcAft>
            </a:pPr>
            <a:r>
              <a:rPr lang="en-US" altLang="zh-CN" sz="2200">
                <a:latin typeface="新愚公和谐宋-S" charset="-122"/>
                <a:ea typeface="新愚公和谐宋-S" charset="-122"/>
                <a:cs typeface="新愚公和谐宋-S" charset="-122"/>
              </a:rPr>
              <a:t>“</a:t>
            </a:r>
            <a:r>
              <a:rPr lang="zh-CN" altLang="en-US" sz="2200">
                <a:latin typeface="新愚公和谐宋-S" charset="-122"/>
                <a:ea typeface="新愚公和谐宋-S" charset="-122"/>
                <a:cs typeface="新愚公和谐宋-S" charset="-122"/>
              </a:rPr>
              <a:t>人与人的通信连接</a:t>
            </a:r>
            <a:r>
              <a:rPr lang="en-US" altLang="zh-CN" sz="2200">
                <a:latin typeface="新愚公和谐宋-S" charset="-122"/>
                <a:ea typeface="新愚公和谐宋-S" charset="-122"/>
                <a:cs typeface="新愚公和谐宋-S" charset="-122"/>
              </a:rPr>
              <a:t>”</a:t>
            </a:r>
            <a:r>
              <a:rPr lang="zh-CN" altLang="en-US" sz="2200">
                <a:latin typeface="新愚公和谐宋-S" charset="-122"/>
                <a:ea typeface="新愚公和谐宋-S" charset="-122"/>
                <a:cs typeface="新愚公和谐宋-S" charset="-122"/>
              </a:rPr>
              <a:t>，延伸至</a:t>
            </a:r>
            <a:r>
              <a:rPr lang="en-US" altLang="zh-CN" sz="2200">
                <a:latin typeface="新愚公和谐宋-S" charset="-122"/>
                <a:ea typeface="新愚公和谐宋-S" charset="-122"/>
                <a:cs typeface="新愚公和谐宋-S" charset="-122"/>
              </a:rPr>
              <a:t> </a:t>
            </a:r>
            <a:endParaRPr lang="en-US" altLang="zh-CN" sz="2200">
              <a:latin typeface="新愚公和谐宋-S" charset="-122"/>
              <a:ea typeface="新愚公和谐宋-S" charset="-122"/>
              <a:cs typeface="新愚公和谐宋-S" charset="-122"/>
            </a:endParaRPr>
          </a:p>
          <a:p>
            <a:pPr marL="635" algn="just">
              <a:spcBef>
                <a:spcPts val="0"/>
              </a:spcBef>
              <a:spcAft>
                <a:spcPts val="0"/>
              </a:spcAft>
            </a:pPr>
            <a:r>
              <a:rPr lang="en-US" altLang="zh-CN" sz="2200">
                <a:latin typeface="新愚公和谐宋-S" charset="-122"/>
                <a:ea typeface="新愚公和谐宋-S" charset="-122"/>
                <a:cs typeface="新愚公和谐宋-S" charset="-122"/>
              </a:rPr>
              <a:t>“</a:t>
            </a:r>
            <a:r>
              <a:rPr lang="zh-CN" altLang="en-US" sz="2200">
                <a:latin typeface="新愚公和谐宋-S" charset="-122"/>
                <a:ea typeface="新愚公和谐宋-S" charset="-122"/>
                <a:cs typeface="新愚公和谐宋-S" charset="-122"/>
              </a:rPr>
              <a:t>人与物、物与物的万物互联</a:t>
            </a:r>
            <a:r>
              <a:rPr lang="en-US" altLang="zh-CN" sz="2200">
                <a:latin typeface="新愚公和谐宋-S" charset="-122"/>
                <a:ea typeface="新愚公和谐宋-S" charset="-122"/>
                <a:cs typeface="新愚公和谐宋-S" charset="-122"/>
              </a:rPr>
              <a:t>”</a:t>
            </a:r>
            <a:endParaRPr lang="en-US" altLang="zh-CN" sz="2200">
              <a:latin typeface="新愚公和谐宋-S" charset="-122"/>
              <a:ea typeface="新愚公和谐宋-S" charset="-122"/>
              <a:cs typeface="新愚公和谐宋-S"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223" y="-136326"/>
            <a:ext cx="20104100" cy="11447819"/>
          </a:xfrm>
          <a:prstGeom prst="rect">
            <a:avLst/>
          </a:prstGeom>
        </p:spPr>
      </p:pic>
      <p:sp>
        <p:nvSpPr>
          <p:cNvPr id="6" name="TextBox 7"/>
          <p:cNvSpPr txBox="1"/>
          <p:nvPr>
            <p:custDataLst>
              <p:tags r:id="rId2"/>
            </p:custDataLst>
          </p:nvPr>
        </p:nvSpPr>
        <p:spPr>
          <a:xfrm>
            <a:off x="399167" y="3134087"/>
            <a:ext cx="1978997" cy="1007090"/>
          </a:xfrm>
          <a:prstGeom prst="rect">
            <a:avLst/>
          </a:prstGeom>
          <a:noFill/>
        </p:spPr>
        <p:txBody>
          <a:bodyPr wrap="none" lIns="0" tIns="0" rIns="0" bIns="0"/>
          <a:lstStyle/>
          <a:p>
            <a:pPr algn="ctr">
              <a:lnSpc>
                <a:spcPct val="100000"/>
              </a:lnSpc>
              <a:spcBef>
                <a:spcPts val="0"/>
              </a:spcBef>
              <a:spcAft>
                <a:spcPts val="0"/>
              </a:spcAft>
            </a:pPr>
            <a:r>
              <a:rPr sz="2800" b="1" i="0">
                <a:solidFill>
                  <a:srgbClr val="B30100"/>
                </a:solidFill>
                <a:latin typeface="新愚公和谐宋-S" charset="-122"/>
                <a:ea typeface="新愚公和谐宋-S" charset="-122"/>
              </a:rPr>
              <a:t>868</a:t>
            </a:r>
            <a:endParaRPr sz="2800" b="1" i="0">
              <a:solidFill>
                <a:srgbClr val="B30100"/>
              </a:solidFill>
              <a:latin typeface="新愚公和谐宋-S" charset="-122"/>
              <a:ea typeface="新愚公和谐宋-S" charset="-122"/>
            </a:endParaRPr>
          </a:p>
        </p:txBody>
      </p:sp>
      <p:sp>
        <p:nvSpPr>
          <p:cNvPr id="7" name="TextBox 8"/>
          <p:cNvSpPr txBox="1"/>
          <p:nvPr>
            <p:custDataLst>
              <p:tags r:id="rId3"/>
            </p:custDataLst>
          </p:nvPr>
        </p:nvSpPr>
        <p:spPr>
          <a:xfrm>
            <a:off x="3464560" y="3134360"/>
            <a:ext cx="2268855" cy="508635"/>
          </a:xfrm>
          <a:prstGeom prst="rect">
            <a:avLst/>
          </a:prstGeom>
          <a:noFill/>
        </p:spPr>
        <p:txBody>
          <a:bodyPr wrap="none" lIns="0" tIns="0" rIns="0" bIns="0"/>
          <a:lstStyle/>
          <a:p>
            <a:pPr algn="ctr">
              <a:lnSpc>
                <a:spcPct val="100000"/>
              </a:lnSpc>
              <a:spcBef>
                <a:spcPts val="0"/>
              </a:spcBef>
              <a:spcAft>
                <a:spcPts val="0"/>
              </a:spcAft>
            </a:pPr>
            <a:r>
              <a:rPr sz="2800" b="1" i="0">
                <a:solidFill>
                  <a:srgbClr val="B30100"/>
                </a:solidFill>
                <a:latin typeface="新愚公和谐宋-S" charset="-122"/>
                <a:ea typeface="新愚公和谐宋-S" charset="-122"/>
              </a:rPr>
              <a:t>60%</a:t>
            </a:r>
            <a:endParaRPr sz="2800" b="1" i="0">
              <a:solidFill>
                <a:srgbClr val="B30100"/>
              </a:solidFill>
              <a:latin typeface="新愚公和谐宋-S" charset="-122"/>
              <a:ea typeface="新愚公和谐宋-S" charset="-122"/>
            </a:endParaRPr>
          </a:p>
        </p:txBody>
      </p:sp>
      <p:sp>
        <p:nvSpPr>
          <p:cNvPr id="17" name="TextBox 9"/>
          <p:cNvSpPr txBox="1"/>
          <p:nvPr>
            <p:custDataLst>
              <p:tags r:id="rId4"/>
            </p:custDataLst>
          </p:nvPr>
        </p:nvSpPr>
        <p:spPr>
          <a:xfrm>
            <a:off x="6628130" y="3134360"/>
            <a:ext cx="2317115" cy="540385"/>
          </a:xfrm>
          <a:prstGeom prst="rect">
            <a:avLst/>
          </a:prstGeom>
          <a:noFill/>
        </p:spPr>
        <p:txBody>
          <a:bodyPr wrap="none" lIns="0" tIns="0" rIns="0" bIns="0"/>
          <a:lstStyle/>
          <a:p>
            <a:pPr algn="ctr">
              <a:lnSpc>
                <a:spcPct val="103000"/>
              </a:lnSpc>
              <a:spcBef>
                <a:spcPts val="0"/>
              </a:spcBef>
              <a:spcAft>
                <a:spcPts val="0"/>
              </a:spcAft>
            </a:pPr>
            <a:r>
              <a:rPr sz="2800" b="1" i="0">
                <a:solidFill>
                  <a:srgbClr val="B30100"/>
                </a:solidFill>
                <a:latin typeface="新愚公和谐宋-S" charset="-122"/>
                <a:ea typeface="新愚公和谐宋-S" charset="-122"/>
              </a:rPr>
              <a:t>40%</a:t>
            </a:r>
            <a:endParaRPr sz="2800" b="1" i="0">
              <a:solidFill>
                <a:srgbClr val="B30100"/>
              </a:solidFill>
              <a:latin typeface="新愚公和谐宋-S" charset="-122"/>
              <a:ea typeface="新愚公和谐宋-S" charset="-122"/>
            </a:endParaRPr>
          </a:p>
        </p:txBody>
      </p:sp>
      <p:sp>
        <p:nvSpPr>
          <p:cNvPr id="18" name="TextBox 10"/>
          <p:cNvSpPr txBox="1"/>
          <p:nvPr>
            <p:custDataLst>
              <p:tags r:id="rId5"/>
            </p:custDataLst>
          </p:nvPr>
        </p:nvSpPr>
        <p:spPr>
          <a:xfrm>
            <a:off x="6851526" y="3634802"/>
            <a:ext cx="1916172" cy="689194"/>
          </a:xfrm>
          <a:prstGeom prst="rect">
            <a:avLst/>
          </a:prstGeom>
          <a:noFill/>
        </p:spPr>
        <p:txBody>
          <a:bodyPr wrap="none" lIns="0" tIns="0" rIns="0" bIns="0"/>
          <a:lstStyle/>
          <a:p>
            <a:pPr algn="ctr">
              <a:lnSpc>
                <a:spcPct val="122000"/>
              </a:lnSpc>
              <a:spcBef>
                <a:spcPts val="0"/>
              </a:spcBef>
              <a:spcAft>
                <a:spcPts val="0"/>
              </a:spcAft>
            </a:pPr>
            <a:r>
              <a:rPr sz="2800" b="0" i="0">
                <a:solidFill>
                  <a:srgbClr val="000000"/>
                </a:solidFill>
                <a:latin typeface="新愚公和谐宋-S" charset="-122"/>
                <a:ea typeface="新愚公和谐宋-S" charset="-122"/>
                <a:cs typeface="新愚公和谐宋-S" charset="-122"/>
              </a:rPr>
              <a:t>(343个)</a:t>
            </a:r>
            <a:endParaRPr sz="2800" b="0" i="0">
              <a:solidFill>
                <a:srgbClr val="000000"/>
              </a:solidFill>
              <a:latin typeface="新愚公和谐宋-S" charset="-122"/>
              <a:ea typeface="新愚公和谐宋-S" charset="-122"/>
              <a:cs typeface="新愚公和谐宋-S" charset="-122"/>
            </a:endParaRPr>
          </a:p>
        </p:txBody>
      </p:sp>
      <p:sp>
        <p:nvSpPr>
          <p:cNvPr id="20" name="TextBox 11"/>
          <p:cNvSpPr txBox="1"/>
          <p:nvPr>
            <p:custDataLst>
              <p:tags r:id="rId6"/>
            </p:custDataLst>
          </p:nvPr>
        </p:nvSpPr>
        <p:spPr>
          <a:xfrm>
            <a:off x="587872" y="3663363"/>
            <a:ext cx="1672095" cy="636105"/>
          </a:xfrm>
          <a:prstGeom prst="rect">
            <a:avLst/>
          </a:prstGeom>
          <a:noFill/>
        </p:spPr>
        <p:txBody>
          <a:bodyPr wrap="none" lIns="0" tIns="0" rIns="0" bIns="0"/>
          <a:lstStyle/>
          <a:p>
            <a:pPr algn="ctr">
              <a:lnSpc>
                <a:spcPct val="116000"/>
              </a:lnSpc>
              <a:spcBef>
                <a:spcPts val="0"/>
              </a:spcBef>
              <a:spcAft>
                <a:spcPts val="0"/>
              </a:spcAft>
            </a:pPr>
            <a:r>
              <a:rPr sz="2800" b="0" i="0">
                <a:solidFill>
                  <a:srgbClr val="000000"/>
                </a:solidFill>
                <a:latin typeface="新愚公和谐宋-S" charset="-122"/>
                <a:ea typeface="新愚公和谐宋-S" charset="-122"/>
              </a:rPr>
              <a:t>个产品</a:t>
            </a:r>
            <a:endParaRPr sz="2800" b="0" i="0">
              <a:solidFill>
                <a:srgbClr val="000000"/>
              </a:solidFill>
              <a:latin typeface="新愚公和谐宋-S" charset="-122"/>
              <a:ea typeface="新愚公和谐宋-S" charset="-122"/>
            </a:endParaRPr>
          </a:p>
        </p:txBody>
      </p:sp>
      <p:sp>
        <p:nvSpPr>
          <p:cNvPr id="21" name="TextBox 12"/>
          <p:cNvSpPr txBox="1"/>
          <p:nvPr>
            <p:custDataLst>
              <p:tags r:id="rId7"/>
            </p:custDataLst>
          </p:nvPr>
        </p:nvSpPr>
        <p:spPr>
          <a:xfrm>
            <a:off x="3636887" y="3673523"/>
            <a:ext cx="1913816" cy="636105"/>
          </a:xfrm>
          <a:prstGeom prst="rect">
            <a:avLst/>
          </a:prstGeom>
          <a:noFill/>
        </p:spPr>
        <p:txBody>
          <a:bodyPr wrap="none" lIns="0" tIns="0" rIns="0" bIns="0"/>
          <a:lstStyle/>
          <a:p>
            <a:pPr algn="ctr">
              <a:lnSpc>
                <a:spcPct val="116000"/>
              </a:lnSpc>
              <a:spcBef>
                <a:spcPts val="0"/>
              </a:spcBef>
              <a:spcAft>
                <a:spcPts val="0"/>
              </a:spcAft>
            </a:pPr>
            <a:r>
              <a:rPr sz="2800" b="0" i="0">
                <a:solidFill>
                  <a:srgbClr val="000000"/>
                </a:solidFill>
                <a:latin typeface="新愚公和谐宋-S" charset="-122"/>
                <a:ea typeface="新愚公和谐宋-S" charset="-122"/>
                <a:cs typeface="新愚公和谐宋-S" charset="-122"/>
              </a:rPr>
              <a:t>(525个)</a:t>
            </a:r>
            <a:endParaRPr sz="2800" b="0" i="0">
              <a:solidFill>
                <a:srgbClr val="000000"/>
              </a:solidFill>
              <a:latin typeface="新愚公和谐宋-S" charset="-122"/>
              <a:ea typeface="新愚公和谐宋-S" charset="-122"/>
              <a:cs typeface="新愚公和谐宋-S" charset="-122"/>
            </a:endParaRPr>
          </a:p>
        </p:txBody>
      </p:sp>
      <p:cxnSp>
        <p:nvCxnSpPr>
          <p:cNvPr id="26" name="直接连接符 25"/>
          <p:cNvCxnSpPr/>
          <p:nvPr/>
        </p:nvCxnSpPr>
        <p:spPr>
          <a:xfrm>
            <a:off x="359378" y="4435248"/>
            <a:ext cx="8921115" cy="0"/>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sp>
        <p:nvSpPr>
          <p:cNvPr id="27" name="TextBox 4"/>
          <p:cNvSpPr txBox="1"/>
          <p:nvPr>
            <p:custDataLst>
              <p:tags r:id="rId8"/>
            </p:custDataLst>
          </p:nvPr>
        </p:nvSpPr>
        <p:spPr>
          <a:xfrm>
            <a:off x="407648" y="2385681"/>
            <a:ext cx="2155378" cy="636105"/>
          </a:xfrm>
          <a:prstGeom prst="rect">
            <a:avLst/>
          </a:prstGeom>
          <a:noFill/>
        </p:spPr>
        <p:txBody>
          <a:bodyPr wrap="none" lIns="0" tIns="0" rIns="0" bIns="0"/>
          <a:lstStyle/>
          <a:p>
            <a:pPr algn="ctr">
              <a:lnSpc>
                <a:spcPct val="119000"/>
              </a:lnSpc>
              <a:spcBef>
                <a:spcPts val="0"/>
              </a:spcBef>
              <a:spcAft>
                <a:spcPts val="0"/>
              </a:spcAft>
            </a:pPr>
            <a:r>
              <a:rPr sz="2800" b="0" i="0">
                <a:solidFill>
                  <a:srgbClr val="000000"/>
                </a:solidFill>
                <a:latin typeface="新愚公和谐宋-S" charset="-122"/>
                <a:ea typeface="新愚公和谐宋-S" charset="-122"/>
                <a:cs typeface="新愚公和谐宋-S" charset="-122"/>
              </a:rPr>
              <a:t>SKU总数</a:t>
            </a:r>
            <a:endParaRPr sz="2800" b="0" i="0">
              <a:solidFill>
                <a:srgbClr val="000000"/>
              </a:solidFill>
              <a:latin typeface="新愚公和谐宋-S" charset="-122"/>
              <a:ea typeface="新愚公和谐宋-S" charset="-122"/>
              <a:cs typeface="新愚公和谐宋-S" charset="-122"/>
            </a:endParaRPr>
          </a:p>
        </p:txBody>
      </p:sp>
      <p:sp>
        <p:nvSpPr>
          <p:cNvPr id="28" name="TextBox 5"/>
          <p:cNvSpPr txBox="1"/>
          <p:nvPr>
            <p:custDataLst>
              <p:tags r:id="rId9"/>
            </p:custDataLst>
          </p:nvPr>
        </p:nvSpPr>
        <p:spPr>
          <a:xfrm>
            <a:off x="3272248" y="2385681"/>
            <a:ext cx="2687039" cy="636105"/>
          </a:xfrm>
          <a:prstGeom prst="rect">
            <a:avLst/>
          </a:prstGeom>
          <a:noFill/>
        </p:spPr>
        <p:txBody>
          <a:bodyPr wrap="none" lIns="0" tIns="0" rIns="0" bIns="0"/>
          <a:lstStyle/>
          <a:p>
            <a:pPr algn="ctr">
              <a:lnSpc>
                <a:spcPct val="119000"/>
              </a:lnSpc>
              <a:spcBef>
                <a:spcPts val="0"/>
              </a:spcBef>
              <a:spcAft>
                <a:spcPts val="0"/>
              </a:spcAft>
            </a:pPr>
            <a:r>
              <a:rPr sz="2800" b="0" i="0">
                <a:solidFill>
                  <a:srgbClr val="000000"/>
                </a:solidFill>
                <a:latin typeface="新愚公和谐宋-S" charset="-122"/>
                <a:ea typeface="新愚公和谐宋-S" charset="-122"/>
                <a:cs typeface="新愚公和谐宋-S" charset="-122"/>
              </a:rPr>
              <a:t>自有IP占比</a:t>
            </a:r>
            <a:endParaRPr sz="2800" b="0" i="0">
              <a:solidFill>
                <a:srgbClr val="000000"/>
              </a:solidFill>
              <a:latin typeface="新愚公和谐宋-S" charset="-122"/>
              <a:ea typeface="新愚公和谐宋-S" charset="-122"/>
              <a:cs typeface="新愚公和谐宋-S" charset="-122"/>
            </a:endParaRPr>
          </a:p>
        </p:txBody>
      </p:sp>
      <p:sp>
        <p:nvSpPr>
          <p:cNvPr id="29" name="TextBox 6"/>
          <p:cNvSpPr txBox="1"/>
          <p:nvPr>
            <p:custDataLst>
              <p:tags r:id="rId10"/>
            </p:custDataLst>
          </p:nvPr>
        </p:nvSpPr>
        <p:spPr>
          <a:xfrm>
            <a:off x="6407977" y="2385681"/>
            <a:ext cx="2735256" cy="636105"/>
          </a:xfrm>
          <a:prstGeom prst="rect">
            <a:avLst/>
          </a:prstGeom>
          <a:noFill/>
        </p:spPr>
        <p:txBody>
          <a:bodyPr wrap="none" lIns="0" tIns="0" rIns="0" bIns="0"/>
          <a:lstStyle/>
          <a:p>
            <a:pPr algn="ctr">
              <a:lnSpc>
                <a:spcPct val="116000"/>
              </a:lnSpc>
              <a:spcBef>
                <a:spcPts val="0"/>
              </a:spcBef>
              <a:spcAft>
                <a:spcPts val="0"/>
              </a:spcAft>
            </a:pPr>
            <a:r>
              <a:rPr sz="2800" b="0" i="0">
                <a:solidFill>
                  <a:srgbClr val="000000"/>
                </a:solidFill>
                <a:latin typeface="新愚公和谐宋-S" charset="-122"/>
                <a:ea typeface="新愚公和谐宋-S" charset="-122"/>
                <a:cs typeface="新愚公和谐宋-S" charset="-122"/>
              </a:rPr>
              <a:t>合作IP占比</a:t>
            </a:r>
            <a:endParaRPr sz="2800" b="0" i="0">
              <a:solidFill>
                <a:srgbClr val="000000"/>
              </a:solidFill>
              <a:latin typeface="新愚公和谐宋-S" charset="-122"/>
              <a:ea typeface="新愚公和谐宋-S" charset="-122"/>
              <a:cs typeface="新愚公和谐宋-S" charset="-122"/>
            </a:endParaRPr>
          </a:p>
        </p:txBody>
      </p:sp>
      <p:cxnSp>
        <p:nvCxnSpPr>
          <p:cNvPr id="30" name="直接连接符 29"/>
          <p:cNvCxnSpPr/>
          <p:nvPr>
            <p:custDataLst>
              <p:tags r:id="rId11"/>
            </p:custDataLst>
          </p:nvPr>
        </p:nvCxnSpPr>
        <p:spPr>
          <a:xfrm flipV="1">
            <a:off x="2944347" y="2301835"/>
            <a:ext cx="4445" cy="2029460"/>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pic>
        <p:nvPicPr>
          <p:cNvPr id="33" name="图片 32" descr="招手正背2024-07-23 16.36.29"/>
          <p:cNvPicPr>
            <a:picLocks noChangeAspect="1"/>
          </p:cNvPicPr>
          <p:nvPr/>
        </p:nvPicPr>
        <p:blipFill>
          <a:blip r:embed="rId12">
            <a:alphaModFix amt="36000"/>
          </a:blip>
          <a:srcRect r="52750"/>
          <a:stretch>
            <a:fillRect/>
          </a:stretch>
        </p:blipFill>
        <p:spPr>
          <a:xfrm>
            <a:off x="-920750" y="5502275"/>
            <a:ext cx="6055995" cy="7480300"/>
          </a:xfrm>
          <a:prstGeom prst="rect">
            <a:avLst/>
          </a:prstGeom>
        </p:spPr>
      </p:pic>
      <p:sp>
        <p:nvSpPr>
          <p:cNvPr id="3"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rPr>
              <a:t>市场分析</a:t>
            </a:r>
            <a:endPar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用户</a:t>
            </a:r>
            <a:r>
              <a:rPr lang="zh-CN" altLang="en-US" sz="3200" b="0" spc="-10" dirty="0">
                <a:solidFill>
                  <a:srgbClr val="8E9192"/>
                </a:solidFill>
                <a:latin typeface="新愚公和谐宋-S" charset="-122"/>
                <a:ea typeface="新愚公和谐宋-S" charset="-122"/>
                <a:cs typeface="Arial" panose="020B0604020202020204"/>
              </a:rPr>
              <a:t>分析</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cxnSp>
        <p:nvCxnSpPr>
          <p:cNvPr id="5" name="直接连接符 4"/>
          <p:cNvCxnSpPr/>
          <p:nvPr>
            <p:custDataLst>
              <p:tags r:id="rId13"/>
            </p:custDataLst>
          </p:nvPr>
        </p:nvCxnSpPr>
        <p:spPr>
          <a:xfrm flipV="1">
            <a:off x="6238092" y="2294215"/>
            <a:ext cx="4445" cy="2029460"/>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603250" y="1387475"/>
            <a:ext cx="12433935" cy="737235"/>
          </a:xfrm>
          <a:prstGeom prst="rect">
            <a:avLst/>
          </a:prstGeom>
          <a:noFill/>
        </p:spPr>
        <p:txBody>
          <a:bodyPr wrap="square" rtlCol="0">
            <a:spAutoFit/>
          </a:bodyPr>
          <a:p>
            <a:r>
              <a:rPr lang="zh-CN" altLang="en-US" sz="4200" u="none" strike="noStrike" kern="0" cap="none" spc="0" normalizeH="0">
                <a:solidFill>
                  <a:srgbClr val="343435"/>
                </a:solidFill>
                <a:latin typeface="新愚公和谐宋-S" charset="-122"/>
                <a:ea typeface="新愚公和谐宋-S" charset="-122"/>
              </a:rPr>
              <a:t>文创现状</a:t>
            </a:r>
            <a:r>
              <a:rPr lang="en-US" altLang="zh-CN" sz="4200" u="none" strike="noStrike" kern="0" cap="none" spc="0" normalizeH="0">
                <a:solidFill>
                  <a:srgbClr val="343435"/>
                </a:solidFill>
                <a:latin typeface="新愚公和谐宋-S" charset="-122"/>
                <a:ea typeface="新愚公和谐宋-S" charset="-122"/>
              </a:rPr>
              <a:t>:</a:t>
            </a:r>
            <a:r>
              <a:rPr lang="zh-CN" altLang="en-US" sz="4200" u="none" strike="noStrike" kern="0" cap="none" spc="0" normalizeH="0">
                <a:solidFill>
                  <a:srgbClr val="343435"/>
                </a:solidFill>
                <a:latin typeface="新愚公和谐宋-S" charset="-122"/>
                <a:ea typeface="新愚公和谐宋-S" charset="-122"/>
              </a:rPr>
              <a:t>从</a:t>
            </a:r>
            <a:r>
              <a:rPr lang="en-US" altLang="zh-CN" sz="4200" u="none" strike="noStrike" kern="0" cap="none" spc="0" normalizeH="0">
                <a:solidFill>
                  <a:srgbClr val="343435"/>
                </a:solidFill>
                <a:latin typeface="新愚公和谐宋-S" charset="-122"/>
                <a:ea typeface="新愚公和谐宋-S" charset="-122"/>
              </a:rPr>
              <a:t>" </a:t>
            </a:r>
            <a:r>
              <a:rPr lang="zh-CN" altLang="en-US" sz="4200" u="none" strike="noStrike" kern="0" cap="none" spc="0" normalizeH="0">
                <a:solidFill>
                  <a:srgbClr val="343435"/>
                </a:solidFill>
                <a:latin typeface="新愚公和谐宋-S" charset="-122"/>
                <a:ea typeface="新愚公和谐宋-S" charset="-122"/>
              </a:rPr>
              <a:t>爆款</a:t>
            </a:r>
            <a:r>
              <a:rPr lang="en-US" altLang="zh-CN" sz="4200" u="none" strike="noStrike" kern="0" cap="none" spc="0" normalizeH="0">
                <a:solidFill>
                  <a:srgbClr val="343435"/>
                </a:solidFill>
                <a:latin typeface="新愚公和谐宋-S" charset="-122"/>
                <a:ea typeface="新愚公和谐宋-S" charset="-122"/>
              </a:rPr>
              <a:t>" </a:t>
            </a:r>
            <a:r>
              <a:rPr lang="zh-CN" altLang="en-US" sz="4200" u="none" strike="noStrike" kern="0" cap="none" spc="0" normalizeH="0">
                <a:solidFill>
                  <a:srgbClr val="343435"/>
                </a:solidFill>
                <a:latin typeface="新愚公和谐宋-S" charset="-122"/>
                <a:ea typeface="新愚公和谐宋-S" charset="-122"/>
              </a:rPr>
              <a:t>到</a:t>
            </a:r>
            <a:r>
              <a:rPr lang="en-US" altLang="zh-CN" sz="4200" u="none" strike="noStrike" kern="0" cap="none" spc="0" normalizeH="0">
                <a:solidFill>
                  <a:srgbClr val="343435"/>
                </a:solidFill>
                <a:latin typeface="新愚公和谐宋-S" charset="-122"/>
                <a:ea typeface="新愚公和谐宋-S" charset="-122"/>
              </a:rPr>
              <a:t>" </a:t>
            </a:r>
            <a:r>
              <a:rPr lang="zh-CN" altLang="en-US" sz="4200" u="none" strike="noStrike" kern="0" cap="none" spc="0" normalizeH="0">
                <a:solidFill>
                  <a:srgbClr val="343435"/>
                </a:solidFill>
                <a:latin typeface="新愚公和谐宋-S" charset="-122"/>
                <a:ea typeface="新愚公和谐宋-S" charset="-122"/>
              </a:rPr>
              <a:t>生态</a:t>
            </a:r>
            <a:r>
              <a:rPr lang="en-US" altLang="zh-CN" sz="4200" u="none" strike="noStrike" kern="0" cap="none" spc="0" normalizeH="0">
                <a:solidFill>
                  <a:srgbClr val="343435"/>
                </a:solidFill>
                <a:latin typeface="新愚公和谐宋-S" charset="-122"/>
                <a:ea typeface="新愚公和谐宋-S" charset="-122"/>
              </a:rPr>
              <a:t>" </a:t>
            </a:r>
            <a:r>
              <a:rPr lang="zh-CN" altLang="en-US" sz="4200" u="none" strike="noStrike" kern="0" cap="none" spc="0" normalizeH="0">
                <a:solidFill>
                  <a:srgbClr val="343435"/>
                </a:solidFill>
                <a:latin typeface="新愚公和谐宋-S" charset="-122"/>
                <a:ea typeface="新愚公和谐宋-S" charset="-122"/>
              </a:rPr>
              <a:t>的跨越</a:t>
            </a:r>
            <a:endParaRPr lang="zh-CN" altLang="en-US" sz="4200" u="none" strike="noStrike" kern="0" cap="none" spc="0" normalizeH="0">
              <a:solidFill>
                <a:srgbClr val="343435"/>
              </a:solidFill>
              <a:latin typeface="新愚公和谐宋-S" charset="-122"/>
              <a:ea typeface="新愚公和谐宋-S" charset="-122"/>
            </a:endParaRPr>
          </a:p>
        </p:txBody>
      </p:sp>
      <p:grpSp>
        <p:nvGrpSpPr>
          <p:cNvPr id="11" name="组合 10"/>
          <p:cNvGrpSpPr/>
          <p:nvPr/>
        </p:nvGrpSpPr>
        <p:grpSpPr>
          <a:xfrm>
            <a:off x="12109450" y="1223645"/>
            <a:ext cx="6524625" cy="4819650"/>
            <a:chOff x="7143" y="3400"/>
            <a:chExt cx="7020" cy="5438"/>
          </a:xfrm>
        </p:grpSpPr>
        <p:sp>
          <p:nvSpPr>
            <p:cNvPr id="12" name="等腰三角形 11"/>
            <p:cNvSpPr/>
            <p:nvPr/>
          </p:nvSpPr>
          <p:spPr>
            <a:xfrm>
              <a:off x="9716" y="3400"/>
              <a:ext cx="1875" cy="1475"/>
            </a:xfrm>
            <a:prstGeom prst="triangle">
              <a:avLst/>
            </a:prstGeom>
            <a:gradFill>
              <a:gsLst>
                <a:gs pos="64000">
                  <a:srgbClr val="EFE3BB"/>
                </a:gs>
                <a:gs pos="0">
                  <a:srgbClr val="D7BA7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4" name="梯形 33"/>
            <p:cNvSpPr/>
            <p:nvPr/>
          </p:nvSpPr>
          <p:spPr>
            <a:xfrm>
              <a:off x="8461" y="5529"/>
              <a:ext cx="4458" cy="1299"/>
            </a:xfrm>
            <a:prstGeom prst="trapezoid">
              <a:avLst>
                <a:gd name="adj" fmla="val 66514"/>
              </a:avLst>
            </a:prstGeom>
            <a:gradFill>
              <a:gsLst>
                <a:gs pos="64000">
                  <a:srgbClr val="EFE3BB"/>
                </a:gs>
                <a:gs pos="0">
                  <a:srgbClr val="D7BA7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6" name="梯形 35"/>
            <p:cNvSpPr/>
            <p:nvPr/>
          </p:nvSpPr>
          <p:spPr>
            <a:xfrm>
              <a:off x="7143" y="7540"/>
              <a:ext cx="7021" cy="1299"/>
            </a:xfrm>
            <a:prstGeom prst="trapezoid">
              <a:avLst>
                <a:gd name="adj" fmla="val 66514"/>
              </a:avLst>
            </a:prstGeom>
            <a:gradFill>
              <a:gsLst>
                <a:gs pos="64000">
                  <a:srgbClr val="EFE3BB"/>
                </a:gs>
                <a:gs pos="0">
                  <a:srgbClr val="D7BA7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grpSp>
      <p:sp>
        <p:nvSpPr>
          <p:cNvPr id="38" name="TextBox 11"/>
          <p:cNvSpPr txBox="1"/>
          <p:nvPr/>
        </p:nvSpPr>
        <p:spPr>
          <a:xfrm>
            <a:off x="14521523" y="1652025"/>
            <a:ext cx="1720470" cy="636105"/>
          </a:xfrm>
          <a:prstGeom prst="rect">
            <a:avLst/>
          </a:prstGeom>
          <a:noFill/>
        </p:spPr>
        <p:txBody>
          <a:bodyPr wrap="none" lIns="0" tIns="0" rIns="0" bIns="0"/>
          <a:lstStyle/>
          <a:p>
            <a:pPr algn="ctr">
              <a:lnSpc>
                <a:spcPct val="116000"/>
              </a:lnSpc>
              <a:spcBef>
                <a:spcPts val="0"/>
              </a:spcBef>
              <a:spcAft>
                <a:spcPts val="0"/>
              </a:spcAft>
            </a:pPr>
            <a:r>
              <a:rPr sz="4000" b="1" i="0">
                <a:solidFill>
                  <a:srgbClr val="000000"/>
                </a:solidFill>
                <a:latin typeface="新愚公和谐宋-S" charset="-122"/>
                <a:ea typeface="新愚公和谐宋-S" charset="-122"/>
              </a:rPr>
              <a:t>品牌层</a:t>
            </a:r>
            <a:endParaRPr sz="4000" b="1" i="0">
              <a:solidFill>
                <a:srgbClr val="000000"/>
              </a:solidFill>
              <a:latin typeface="新愚公和谐宋-S" charset="-122"/>
              <a:ea typeface="新愚公和谐宋-S" charset="-122"/>
            </a:endParaRPr>
          </a:p>
        </p:txBody>
      </p:sp>
      <p:sp>
        <p:nvSpPr>
          <p:cNvPr id="39" name="TextBox 12"/>
          <p:cNvSpPr txBox="1"/>
          <p:nvPr/>
        </p:nvSpPr>
        <p:spPr>
          <a:xfrm>
            <a:off x="10679417" y="2514361"/>
            <a:ext cx="9542222" cy="477157"/>
          </a:xfrm>
          <a:prstGeom prst="rect">
            <a:avLst/>
          </a:prstGeom>
          <a:noFill/>
        </p:spPr>
        <p:txBody>
          <a:bodyPr wrap="none" lIns="0" tIns="0" rIns="0" bIns="0"/>
          <a:lstStyle/>
          <a:p>
            <a:pPr algn="ctr">
              <a:lnSpc>
                <a:spcPct val="132000"/>
              </a:lnSpc>
              <a:spcBef>
                <a:spcPts val="0"/>
              </a:spcBef>
              <a:spcAft>
                <a:spcPts val="0"/>
              </a:spcAft>
            </a:pPr>
            <a:r>
              <a:rPr sz="2200" b="0" i="0">
                <a:solidFill>
                  <a:srgbClr val="000000"/>
                </a:solidFill>
                <a:latin typeface="新愚公和谐宋-S" charset="-122"/>
                <a:ea typeface="新愚公和谐宋-S" charset="-122"/>
                <a:cs typeface="新愚公和谐宋-S" charset="-122"/>
              </a:rPr>
              <a:t>提升年轻群体对联通"科技+文化"品牌形象的认知与好感</a:t>
            </a:r>
            <a:endParaRPr sz="2200" b="0" i="0">
              <a:solidFill>
                <a:srgbClr val="000000"/>
              </a:solidFill>
              <a:latin typeface="新愚公和谐宋-S" charset="-122"/>
              <a:ea typeface="新愚公和谐宋-S" charset="-122"/>
              <a:cs typeface="新愚公和谐宋-S" charset="-122"/>
            </a:endParaRPr>
          </a:p>
        </p:txBody>
      </p:sp>
      <p:sp>
        <p:nvSpPr>
          <p:cNvPr id="41" name="TextBox 14"/>
          <p:cNvSpPr txBox="1"/>
          <p:nvPr/>
        </p:nvSpPr>
        <p:spPr>
          <a:xfrm>
            <a:off x="14521523" y="3284680"/>
            <a:ext cx="1720470" cy="636105"/>
          </a:xfrm>
          <a:prstGeom prst="rect">
            <a:avLst/>
          </a:prstGeom>
          <a:noFill/>
        </p:spPr>
        <p:txBody>
          <a:bodyPr wrap="none" lIns="0" tIns="0" rIns="0" bIns="0"/>
          <a:lstStyle/>
          <a:p>
            <a:pPr algn="ctr">
              <a:lnSpc>
                <a:spcPct val="116000"/>
              </a:lnSpc>
              <a:spcBef>
                <a:spcPts val="0"/>
              </a:spcBef>
              <a:spcAft>
                <a:spcPts val="0"/>
              </a:spcAft>
            </a:pPr>
            <a:r>
              <a:rPr sz="4000" b="1" i="0">
                <a:solidFill>
                  <a:srgbClr val="000000"/>
                </a:solidFill>
                <a:latin typeface="新愚公和谐宋-S" charset="-122"/>
                <a:ea typeface="新愚公和谐宋-S" charset="-122"/>
              </a:rPr>
              <a:t>创新层</a:t>
            </a:r>
            <a:endParaRPr sz="4000" b="1" i="0">
              <a:solidFill>
                <a:srgbClr val="000000"/>
              </a:solidFill>
              <a:latin typeface="新愚公和谐宋-S" charset="-122"/>
              <a:ea typeface="新愚公和谐宋-S" charset="-122"/>
            </a:endParaRPr>
          </a:p>
        </p:txBody>
      </p:sp>
      <p:sp>
        <p:nvSpPr>
          <p:cNvPr id="42" name="TextBox 16"/>
          <p:cNvSpPr txBox="1"/>
          <p:nvPr/>
        </p:nvSpPr>
        <p:spPr>
          <a:xfrm>
            <a:off x="11092676" y="4354285"/>
            <a:ext cx="8722980" cy="530087"/>
          </a:xfrm>
          <a:prstGeom prst="rect">
            <a:avLst/>
          </a:prstGeom>
          <a:noFill/>
        </p:spPr>
        <p:txBody>
          <a:bodyPr wrap="none" lIns="0" tIns="0" rIns="0" bIns="0"/>
          <a:lstStyle/>
          <a:p>
            <a:pPr algn="ctr">
              <a:lnSpc>
                <a:spcPct val="125000"/>
              </a:lnSpc>
              <a:spcBef>
                <a:spcPts val="0"/>
              </a:spcBef>
              <a:spcAft>
                <a:spcPts val="0"/>
              </a:spcAft>
            </a:pPr>
            <a:r>
              <a:rPr sz="2200" b="0" i="0">
                <a:solidFill>
                  <a:srgbClr val="000000"/>
                </a:solidFill>
                <a:latin typeface="新愚公和谐宋-S" charset="-122"/>
                <a:ea typeface="新愚公和谐宋-S" charset="-122"/>
                <a:cs typeface="新愚公和谐宋-S" charset="-122"/>
              </a:rPr>
              <a:t>搭建平台,吸引顶尖创意人才,构建联通文创生态</a:t>
            </a:r>
            <a:endParaRPr sz="2200" b="0" i="0">
              <a:solidFill>
                <a:srgbClr val="000000"/>
              </a:solidFill>
              <a:latin typeface="新愚公和谐宋-S" charset="-122"/>
              <a:ea typeface="新愚公和谐宋-S" charset="-122"/>
              <a:cs typeface="新愚公和谐宋-S" charset="-122"/>
            </a:endParaRPr>
          </a:p>
        </p:txBody>
      </p:sp>
      <p:sp>
        <p:nvSpPr>
          <p:cNvPr id="43" name="TextBox 17"/>
          <p:cNvSpPr txBox="1"/>
          <p:nvPr/>
        </p:nvSpPr>
        <p:spPr>
          <a:xfrm>
            <a:off x="14474404" y="5177691"/>
            <a:ext cx="1766333" cy="583019"/>
          </a:xfrm>
          <a:prstGeom prst="rect">
            <a:avLst/>
          </a:prstGeom>
          <a:noFill/>
        </p:spPr>
        <p:txBody>
          <a:bodyPr wrap="none" lIns="0" tIns="0" rIns="0" bIns="0"/>
          <a:lstStyle/>
          <a:p>
            <a:pPr algn="ctr">
              <a:lnSpc>
                <a:spcPct val="103000"/>
              </a:lnSpc>
              <a:spcBef>
                <a:spcPts val="0"/>
              </a:spcBef>
              <a:spcAft>
                <a:spcPts val="0"/>
              </a:spcAft>
            </a:pPr>
            <a:r>
              <a:rPr sz="4000" b="1" i="0">
                <a:solidFill>
                  <a:srgbClr val="000000"/>
                </a:solidFill>
                <a:latin typeface="新愚公和谐宋-S" charset="-122"/>
                <a:ea typeface="新愚公和谐宋-S" charset="-122"/>
              </a:rPr>
              <a:t>商业层</a:t>
            </a:r>
            <a:endParaRPr sz="4000" b="1" i="0">
              <a:solidFill>
                <a:srgbClr val="000000"/>
              </a:solidFill>
              <a:latin typeface="新愚公和谐宋-S" charset="-122"/>
              <a:ea typeface="新愚公和谐宋-S" charset="-122"/>
            </a:endParaRPr>
          </a:p>
        </p:txBody>
      </p:sp>
      <p:sp>
        <p:nvSpPr>
          <p:cNvPr id="44" name="TextBox 19"/>
          <p:cNvSpPr txBox="1"/>
          <p:nvPr/>
        </p:nvSpPr>
        <p:spPr>
          <a:xfrm>
            <a:off x="11625433" y="6172087"/>
            <a:ext cx="7560711" cy="477157"/>
          </a:xfrm>
          <a:prstGeom prst="rect">
            <a:avLst/>
          </a:prstGeom>
          <a:noFill/>
        </p:spPr>
        <p:txBody>
          <a:bodyPr wrap="none" lIns="0" tIns="0" rIns="0" bIns="0"/>
          <a:lstStyle/>
          <a:p>
            <a:pPr algn="ctr">
              <a:lnSpc>
                <a:spcPct val="117000"/>
              </a:lnSpc>
              <a:spcBef>
                <a:spcPts val="0"/>
              </a:spcBef>
              <a:spcAft>
                <a:spcPts val="0"/>
              </a:spcAft>
            </a:pPr>
            <a:r>
              <a:rPr sz="2200" b="0" i="0">
                <a:solidFill>
                  <a:srgbClr val="000000"/>
                </a:solidFill>
                <a:latin typeface="新愚公和谐宋-S" charset="-122"/>
                <a:ea typeface="新愚公和谐宋-S" charset="-122"/>
                <a:cs typeface="新愚公和谐宋-S" charset="-122"/>
              </a:rPr>
              <a:t>通过系列营销活动,带动文创产品销售转化</a:t>
            </a:r>
            <a:endParaRPr sz="2200" b="0" i="0">
              <a:solidFill>
                <a:srgbClr val="000000"/>
              </a:solidFill>
              <a:latin typeface="新愚公和谐宋-S" charset="-122"/>
              <a:ea typeface="新愚公和谐宋-S" charset="-122"/>
              <a:cs typeface="新愚公和谐宋-S" charset="-122"/>
            </a:endParaRPr>
          </a:p>
        </p:txBody>
      </p:sp>
      <p:sp>
        <p:nvSpPr>
          <p:cNvPr id="22" name="TextBox 13"/>
          <p:cNvSpPr txBox="1"/>
          <p:nvPr/>
        </p:nvSpPr>
        <p:spPr>
          <a:xfrm>
            <a:off x="589129" y="4775879"/>
            <a:ext cx="2104648" cy="583019"/>
          </a:xfrm>
          <a:prstGeom prst="rect">
            <a:avLst/>
          </a:prstGeom>
          <a:noFill/>
        </p:spPr>
        <p:txBody>
          <a:bodyPr wrap="none" lIns="0" tIns="0" rIns="0" bIns="0"/>
          <a:lstStyle/>
          <a:p>
            <a:pPr algn="just">
              <a:lnSpc>
                <a:spcPct val="112000"/>
              </a:lnSpc>
              <a:spcBef>
                <a:spcPts val="0"/>
              </a:spcBef>
              <a:spcAft>
                <a:spcPts val="0"/>
              </a:spcAft>
            </a:pPr>
            <a:r>
              <a:rPr lang="zh-CN" altLang="en-US" sz="4200" b="0" i="0">
                <a:solidFill>
                  <a:srgbClr val="000000"/>
                </a:solidFill>
                <a:latin typeface="新愚公和谐宋-S" charset="-122"/>
                <a:ea typeface="新愚公和谐宋-S" charset="-122"/>
              </a:rPr>
              <a:t>关键</a:t>
            </a:r>
            <a:r>
              <a:rPr sz="4200" b="0" i="0">
                <a:solidFill>
                  <a:srgbClr val="000000"/>
                </a:solidFill>
                <a:latin typeface="新愚公和谐宋-S" charset="-122"/>
                <a:ea typeface="新愚公和谐宋-S" charset="-122"/>
              </a:rPr>
              <a:t>成果</a:t>
            </a:r>
            <a:endParaRPr sz="4200" b="0" i="0">
              <a:solidFill>
                <a:srgbClr val="000000"/>
              </a:solidFill>
              <a:latin typeface="新愚公和谐宋-S" charset="-122"/>
              <a:ea typeface="新愚公和谐宋-S" charset="-122"/>
            </a:endParaRPr>
          </a:p>
        </p:txBody>
      </p:sp>
      <p:sp>
        <p:nvSpPr>
          <p:cNvPr id="23" name="TextBox 14"/>
          <p:cNvSpPr txBox="1"/>
          <p:nvPr/>
        </p:nvSpPr>
        <p:spPr>
          <a:xfrm>
            <a:off x="5821615" y="4775879"/>
            <a:ext cx="2153023" cy="583019"/>
          </a:xfrm>
          <a:prstGeom prst="rect">
            <a:avLst/>
          </a:prstGeom>
          <a:noFill/>
        </p:spPr>
        <p:txBody>
          <a:bodyPr wrap="none" lIns="0" tIns="0" rIns="0" bIns="0"/>
          <a:lstStyle/>
          <a:p>
            <a:pPr algn="just">
              <a:lnSpc>
                <a:spcPct val="109000"/>
              </a:lnSpc>
              <a:spcBef>
                <a:spcPts val="0"/>
              </a:spcBef>
              <a:spcAft>
                <a:spcPts val="0"/>
              </a:spcAft>
            </a:pPr>
            <a:r>
              <a:rPr sz="4200" b="0" i="0">
                <a:solidFill>
                  <a:srgbClr val="000000"/>
                </a:solidFill>
                <a:latin typeface="新愚公和谐宋-S" charset="-122"/>
                <a:ea typeface="新愚公和谐宋-S" charset="-122"/>
              </a:rPr>
              <a:t>产品矩阵</a:t>
            </a:r>
            <a:endParaRPr sz="4200" b="0" i="0">
              <a:solidFill>
                <a:srgbClr val="000000"/>
              </a:solidFill>
              <a:latin typeface="新愚公和谐宋-S" charset="-122"/>
              <a:ea typeface="新愚公和谐宋-S" charset="-122"/>
            </a:endParaRPr>
          </a:p>
        </p:txBody>
      </p:sp>
      <p:sp>
        <p:nvSpPr>
          <p:cNvPr id="24" name="TextBox 15"/>
          <p:cNvSpPr txBox="1"/>
          <p:nvPr/>
        </p:nvSpPr>
        <p:spPr>
          <a:xfrm>
            <a:off x="589129" y="5583656"/>
            <a:ext cx="7256324" cy="2955773"/>
          </a:xfrm>
          <a:prstGeom prst="rect">
            <a:avLst/>
          </a:prstGeom>
          <a:noFill/>
        </p:spPr>
        <p:txBody>
          <a:bodyPr wrap="none" lIns="0" tIns="0" rIns="0" bIns="0"/>
          <a:lstStyle/>
          <a:p>
            <a:pPr algn="just">
              <a:spcBef>
                <a:spcPts val="0"/>
              </a:spcBef>
              <a:spcAft>
                <a:spcPts val="0"/>
              </a:spcAft>
            </a:pPr>
            <a:r>
              <a:rPr sz="2200" b="0" i="0">
                <a:solidFill>
                  <a:srgbClr val="000000"/>
                </a:solidFill>
                <a:latin typeface="新愚公和谐宋-S" charset="-122"/>
                <a:ea typeface="新愚公和谐宋-S" charset="-122"/>
                <a:cs typeface="新愚公和谐宋-S" charset="-122"/>
              </a:rPr>
              <a:t>冰墩墩运营经验积累</a:t>
            </a:r>
            <a:endParaRPr sz="2200" b="0" i="0">
              <a:solidFill>
                <a:srgbClr val="000000"/>
              </a:solidFill>
              <a:latin typeface="新愚公和谐宋-S" charset="-122"/>
              <a:ea typeface="新愚公和谐宋-S" charset="-122"/>
              <a:cs typeface="新愚公和谐宋-S" charset="-122"/>
            </a:endParaRPr>
          </a:p>
          <a:p>
            <a:pPr>
              <a:spcBef>
                <a:spcPts val="1075"/>
              </a:spcBef>
            </a:pPr>
            <a:r>
              <a:rPr lang="zh-CN" sz="2200">
                <a:latin typeface="新愚公和谐宋-S" charset="-122"/>
                <a:ea typeface="新愚公和谐宋-S" charset="-122"/>
                <a:cs typeface="新愚公和谐宋-S" charset="-122"/>
              </a:rPr>
              <a:t>与央美合作发布吉祥物"通通"</a:t>
            </a:r>
            <a:endParaRPr lang="zh-CN" sz="2200">
              <a:latin typeface="新愚公和谐宋-S" charset="-122"/>
              <a:ea typeface="新愚公和谐宋-S" charset="-122"/>
              <a:cs typeface="新愚公和谐宋-S" charset="-122"/>
            </a:endParaRPr>
          </a:p>
          <a:p>
            <a:pPr marL="28575">
              <a:spcBef>
                <a:spcPts val="825"/>
              </a:spcBef>
            </a:pPr>
            <a:r>
              <a:rPr lang="zh-CN" sz="2200">
                <a:latin typeface="新愚公和谐宋-S" charset="-122"/>
                <a:ea typeface="新愚公和谐宋-S" charset="-122"/>
                <a:cs typeface="新愚公和谐宋-S" charset="-122"/>
              </a:rPr>
              <a:t>四大开发方向:自有IP/合作IP/</a:t>
            </a:r>
            <a:endParaRPr lang="zh-CN" sz="2200">
              <a:latin typeface="新愚公和谐宋-S" charset="-122"/>
              <a:ea typeface="新愚公和谐宋-S" charset="-122"/>
              <a:cs typeface="新愚公和谐宋-S" charset="-122"/>
            </a:endParaRPr>
          </a:p>
          <a:p>
            <a:pPr>
              <a:spcBef>
                <a:spcPts val="825"/>
              </a:spcBef>
            </a:pPr>
            <a:r>
              <a:rPr lang="zh-CN" sz="2200">
                <a:latin typeface="新愚公和谐宋-S" charset="-122"/>
                <a:ea typeface="新愚公和谐宋-S" charset="-122"/>
                <a:cs typeface="新愚公和谐宋-S" charset="-122"/>
              </a:rPr>
              <a:t>定制服务/异业联名</a:t>
            </a:r>
            <a:endParaRPr lang="zh-CN" sz="2200">
              <a:latin typeface="新愚公和谐宋-S" charset="-122"/>
              <a:ea typeface="新愚公和谐宋-S" charset="-122"/>
              <a:cs typeface="新愚公和谐宋-S" charset="-122"/>
            </a:endParaRPr>
          </a:p>
        </p:txBody>
      </p:sp>
      <p:sp>
        <p:nvSpPr>
          <p:cNvPr id="25" name="TextBox 16"/>
          <p:cNvSpPr txBox="1"/>
          <p:nvPr/>
        </p:nvSpPr>
        <p:spPr>
          <a:xfrm>
            <a:off x="5869991" y="5634230"/>
            <a:ext cx="4898018" cy="3157599"/>
          </a:xfrm>
          <a:prstGeom prst="rect">
            <a:avLst/>
          </a:prstGeom>
          <a:noFill/>
        </p:spPr>
        <p:txBody>
          <a:bodyPr wrap="none" lIns="0" tIns="0" rIns="0" bIns="0"/>
          <a:lstStyle/>
          <a:p>
            <a:pPr algn="just">
              <a:spcBef>
                <a:spcPts val="0"/>
              </a:spcBef>
              <a:spcAft>
                <a:spcPts val="0"/>
              </a:spcAft>
            </a:pPr>
            <a:r>
              <a:rPr sz="2200" b="0" i="0">
                <a:solidFill>
                  <a:srgbClr val="000000"/>
                </a:solidFill>
                <a:latin typeface="新愚公和谐宋-S" charset="-122"/>
                <a:ea typeface="新愚公和谐宋-S" charset="-122"/>
                <a:cs typeface="新愚公和谐宋-S" charset="-122"/>
              </a:rPr>
              <a:t>14大品类全覆盖:</a:t>
            </a:r>
            <a:endParaRPr sz="2200" b="0" i="0">
              <a:solidFill>
                <a:srgbClr val="000000"/>
              </a:solidFill>
              <a:latin typeface="新愚公和谐宋-S" charset="-122"/>
              <a:ea typeface="新愚公和谐宋-S" charset="-122"/>
              <a:cs typeface="新愚公和谐宋-S" charset="-122"/>
            </a:endParaRPr>
          </a:p>
          <a:p>
            <a:pPr>
              <a:spcBef>
                <a:spcPts val="1315"/>
              </a:spcBef>
            </a:pPr>
            <a:r>
              <a:rPr lang="zh-CN" sz="2200">
                <a:latin typeface="新愚公和谐宋-S" charset="-122"/>
                <a:ea typeface="新愚公和谐宋-S" charset="-122"/>
                <a:cs typeface="新愚公和谐宋-S" charset="-122"/>
              </a:rPr>
              <a:t>数码配件、办公文具</a:t>
            </a:r>
            <a:endParaRPr lang="zh-CN" sz="2200">
              <a:latin typeface="新愚公和谐宋-S" charset="-122"/>
              <a:ea typeface="新愚公和谐宋-S" charset="-122"/>
              <a:cs typeface="新愚公和谐宋-S" charset="-122"/>
            </a:endParaRPr>
          </a:p>
          <a:p>
            <a:pPr>
              <a:spcBef>
                <a:spcPts val="1315"/>
              </a:spcBef>
            </a:pPr>
            <a:r>
              <a:rPr lang="zh-CN" sz="2200">
                <a:latin typeface="新愚公和谐宋-S" charset="-122"/>
                <a:ea typeface="新愚公和谐宋-S" charset="-122"/>
                <a:cs typeface="新愚公和谐宋-S" charset="-122"/>
              </a:rPr>
              <a:t>家居生活、服饰箱包</a:t>
            </a:r>
            <a:endParaRPr lang="zh-CN" sz="2200">
              <a:latin typeface="新愚公和谐宋-S" charset="-122"/>
              <a:ea typeface="新愚公和谐宋-S" charset="-122"/>
              <a:cs typeface="新愚公和谐宋-S" charset="-122"/>
            </a:endParaRPr>
          </a:p>
          <a:p>
            <a:pPr>
              <a:spcBef>
                <a:spcPts val="1315"/>
              </a:spcBef>
            </a:pPr>
            <a:r>
              <a:rPr lang="zh-CN" sz="2200">
                <a:latin typeface="新愚公和谐宋-S" charset="-122"/>
                <a:ea typeface="新愚公和谐宋-S" charset="-122"/>
                <a:cs typeface="新愚公和谐宋-S" charset="-122"/>
              </a:rPr>
              <a:t>潮流玩具等</a:t>
            </a:r>
            <a:endParaRPr lang="zh-CN" sz="2200">
              <a:latin typeface="新愚公和谐宋-S" charset="-122"/>
              <a:ea typeface="新愚公和谐宋-S" charset="-122"/>
              <a:cs typeface="新愚公和谐宋-S" charset="-122"/>
            </a:endParaRPr>
          </a:p>
        </p:txBody>
      </p:sp>
      <p:sp>
        <p:nvSpPr>
          <p:cNvPr id="45" name="圆角矩形 44"/>
          <p:cNvSpPr/>
          <p:nvPr/>
        </p:nvSpPr>
        <p:spPr>
          <a:xfrm>
            <a:off x="9290050" y="6842760"/>
            <a:ext cx="10238740" cy="4239895"/>
          </a:xfrm>
          <a:prstGeom prst="roundRect">
            <a:avLst/>
          </a:prstGeom>
          <a:solidFill>
            <a:srgbClr val="FFEFC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文本框 50"/>
          <p:cNvSpPr txBox="1"/>
          <p:nvPr/>
        </p:nvSpPr>
        <p:spPr>
          <a:xfrm>
            <a:off x="9520555" y="7181215"/>
            <a:ext cx="1674495" cy="553085"/>
          </a:xfrm>
          <a:prstGeom prst="rect">
            <a:avLst/>
          </a:prstGeom>
          <a:noFill/>
        </p:spPr>
        <p:txBody>
          <a:bodyPr wrap="square" rtlCol="0">
            <a:spAutoFit/>
          </a:bodyPr>
          <a:p>
            <a:r>
              <a:rPr lang="zh-CN" altLang="en-US" sz="3000">
                <a:latin typeface="新愚公和谐宋-S" charset="-122"/>
                <a:ea typeface="新愚公和谐宋-S" charset="-122"/>
              </a:rPr>
              <a:t>痛点：</a:t>
            </a:r>
            <a:endParaRPr lang="zh-CN" altLang="en-US" sz="3000">
              <a:latin typeface="新愚公和谐宋-S" charset="-122"/>
              <a:ea typeface="新愚公和谐宋-S" charset="-122"/>
            </a:endParaRPr>
          </a:p>
        </p:txBody>
      </p:sp>
      <p:sp>
        <p:nvSpPr>
          <p:cNvPr id="52" name="文本框 51"/>
          <p:cNvSpPr txBox="1"/>
          <p:nvPr/>
        </p:nvSpPr>
        <p:spPr>
          <a:xfrm>
            <a:off x="9442450" y="7581900"/>
            <a:ext cx="9965055" cy="3500755"/>
          </a:xfrm>
          <a:prstGeom prst="rect">
            <a:avLst/>
          </a:prstGeom>
          <a:noFill/>
        </p:spPr>
        <p:txBody>
          <a:bodyPr wrap="square" rtlCol="0">
            <a:noAutofit/>
          </a:bodyPr>
          <a:p>
            <a:pPr marL="342900" indent="-342900" eaLnBrk="1" fontAlgn="auto" latinLnBrk="0" hangingPunct="1">
              <a:lnSpc>
                <a:spcPct val="150000"/>
              </a:lnSpc>
              <a:buFont typeface="Arial" panose="020B0604020202020204" pitchFamily="34" charset="0"/>
              <a:buChar char="•"/>
            </a:pPr>
            <a:r>
              <a:rPr lang="zh-CN" altLang="en-US" sz="2200">
                <a:latin typeface="新愚公和谐宋-S" charset="-122"/>
                <a:ea typeface="新愚公和谐宋-S" charset="-122"/>
              </a:rPr>
              <a:t>文创同质化：《</a:t>
            </a:r>
            <a:r>
              <a:rPr lang="en-US" altLang="zh-CN" sz="2200">
                <a:latin typeface="新愚公和谐宋-S" charset="-122"/>
                <a:ea typeface="新愚公和谐宋-S" charset="-122"/>
              </a:rPr>
              <a:t>2024</a:t>
            </a:r>
            <a:r>
              <a:rPr lang="zh-CN" altLang="en-US" sz="2200">
                <a:latin typeface="新愚公和谐宋-S" charset="-122"/>
                <a:ea typeface="新愚公和谐宋-S" charset="-122"/>
              </a:rPr>
              <a:t>中国运营商文创行业调研报告》显示，</a:t>
            </a:r>
            <a:r>
              <a:rPr lang="en-US" altLang="zh-CN" sz="2200">
                <a:latin typeface="新愚公和谐宋-S" charset="-122"/>
                <a:ea typeface="新愚公和谐宋-S" charset="-122"/>
              </a:rPr>
              <a:t>87.2% </a:t>
            </a:r>
            <a:r>
              <a:rPr lang="zh-CN" altLang="en-US" sz="2200">
                <a:latin typeface="新愚公和谐宋-S" charset="-122"/>
                <a:ea typeface="新愚公和谐宋-S" charset="-122"/>
              </a:rPr>
              <a:t>的消费者认为运营商文创</a:t>
            </a:r>
            <a:r>
              <a:rPr lang="en-US" altLang="zh-CN" sz="2200">
                <a:latin typeface="新愚公和谐宋-S" charset="-122"/>
                <a:ea typeface="新愚公和谐宋-S" charset="-122"/>
              </a:rPr>
              <a:t>“</a:t>
            </a:r>
            <a:r>
              <a:rPr lang="zh-CN" altLang="en-US" sz="2200">
                <a:latin typeface="新愚公和谐宋-S" charset="-122"/>
                <a:ea typeface="新愚公和谐宋-S" charset="-122"/>
              </a:rPr>
              <a:t>仅为</a:t>
            </a:r>
            <a:r>
              <a:rPr lang="en-US" altLang="zh-CN" sz="2200">
                <a:latin typeface="新愚公和谐宋-S" charset="-122"/>
                <a:ea typeface="新愚公和谐宋-S" charset="-122"/>
              </a:rPr>
              <a:t>LOGO</a:t>
            </a:r>
            <a:r>
              <a:rPr lang="zh-CN" altLang="en-US" sz="2200">
                <a:latin typeface="新愚公和谐宋-S" charset="-122"/>
                <a:ea typeface="新愚公和谐宋-S" charset="-122"/>
              </a:rPr>
              <a:t>贴附，无核心价值</a:t>
            </a:r>
            <a:r>
              <a:rPr lang="en-US" altLang="zh-CN" sz="2200">
                <a:latin typeface="新愚公和谐宋-S" charset="-122"/>
                <a:ea typeface="新愚公和谐宋-S" charset="-122"/>
              </a:rPr>
              <a:t>”</a:t>
            </a:r>
            <a:endParaRPr lang="en-US" altLang="zh-CN" sz="2200">
              <a:latin typeface="新愚公和谐宋-S" charset="-122"/>
              <a:ea typeface="新愚公和谐宋-S" charset="-122"/>
            </a:endParaRPr>
          </a:p>
          <a:p>
            <a:pPr marL="342900" indent="-342900" eaLnBrk="1" fontAlgn="auto" latinLnBrk="0" hangingPunct="1">
              <a:lnSpc>
                <a:spcPct val="150000"/>
              </a:lnSpc>
              <a:buFont typeface="Arial" panose="020B0604020202020204" pitchFamily="34" charset="0"/>
              <a:buChar char="•"/>
            </a:pPr>
            <a:r>
              <a:rPr lang="zh-CN" altLang="en-US" sz="2200">
                <a:latin typeface="新愚公和谐宋-S" charset="-122"/>
                <a:ea typeface="新愚公和谐宋-S" charset="-122"/>
              </a:rPr>
              <a:t>年轻化不足：中国联通</a:t>
            </a:r>
            <a:r>
              <a:rPr lang="en-US" altLang="zh-CN" sz="2200">
                <a:latin typeface="新愚公和谐宋-S" charset="-122"/>
                <a:ea typeface="新愚公和谐宋-S" charset="-122"/>
              </a:rPr>
              <a:t>2024</a:t>
            </a:r>
            <a:r>
              <a:rPr lang="zh-CN" altLang="en-US" sz="2200">
                <a:latin typeface="新愚公和谐宋-S" charset="-122"/>
                <a:ea typeface="新愚公和谐宋-S" charset="-122"/>
              </a:rPr>
              <a:t>年用户调研数据显示，</a:t>
            </a:r>
            <a:r>
              <a:rPr lang="en-US" altLang="zh-CN" sz="2200">
                <a:latin typeface="新愚公和谐宋-S" charset="-122"/>
                <a:ea typeface="新愚公和谐宋-S" charset="-122"/>
              </a:rPr>
              <a:t>18-25</a:t>
            </a:r>
            <a:r>
              <a:rPr lang="zh-CN" altLang="en-US" sz="2200">
                <a:latin typeface="新愚公和谐宋-S" charset="-122"/>
                <a:ea typeface="新愚公和谐宋-S" charset="-122"/>
              </a:rPr>
              <a:t>岁年轻用户对联通品牌的</a:t>
            </a:r>
            <a:r>
              <a:rPr lang="en-US" altLang="zh-CN" sz="2200">
                <a:latin typeface="新愚公和谐宋-S" charset="-122"/>
                <a:ea typeface="新愚公和谐宋-S" charset="-122"/>
              </a:rPr>
              <a:t>“</a:t>
            </a:r>
            <a:r>
              <a:rPr lang="zh-CN" altLang="en-US" sz="2200">
                <a:latin typeface="新愚公和谐宋-S" charset="-122"/>
                <a:ea typeface="新愚公和谐宋-S" charset="-122"/>
              </a:rPr>
              <a:t>国潮属性</a:t>
            </a:r>
            <a:r>
              <a:rPr lang="en-US" altLang="zh-CN" sz="2200">
                <a:latin typeface="新愚公和谐宋-S" charset="-122"/>
                <a:ea typeface="新愚公和谐宋-S" charset="-122"/>
              </a:rPr>
              <a:t>”</a:t>
            </a:r>
            <a:r>
              <a:rPr lang="zh-CN" altLang="en-US" sz="2200">
                <a:latin typeface="新愚公和谐宋-S" charset="-122"/>
                <a:ea typeface="新愚公和谐宋-S" charset="-122"/>
              </a:rPr>
              <a:t>认知度仅为</a:t>
            </a:r>
            <a:r>
              <a:rPr lang="en-US" altLang="zh-CN" sz="2200">
                <a:latin typeface="新愚公和谐宋-S" charset="-122"/>
                <a:ea typeface="新愚公和谐宋-S" charset="-122"/>
              </a:rPr>
              <a:t>12.3%</a:t>
            </a:r>
            <a:endParaRPr lang="en-US" altLang="zh-CN" sz="2200">
              <a:latin typeface="新愚公和谐宋-S" charset="-122"/>
              <a:ea typeface="新愚公和谐宋-S" charset="-122"/>
            </a:endParaRPr>
          </a:p>
          <a:p>
            <a:pPr marL="342900" indent="-342900" eaLnBrk="1" fontAlgn="auto" latinLnBrk="0" hangingPunct="1">
              <a:lnSpc>
                <a:spcPct val="150000"/>
              </a:lnSpc>
              <a:buFont typeface="Arial" panose="020B0604020202020204" pitchFamily="34" charset="0"/>
              <a:buChar char="•"/>
            </a:pPr>
            <a:r>
              <a:rPr lang="zh-CN" altLang="en-US" sz="2200">
                <a:latin typeface="新愚公和谐宋-S" charset="-122"/>
                <a:ea typeface="新愚公和谐宋-S" charset="-122"/>
              </a:rPr>
              <a:t>心智固化：</a:t>
            </a:r>
            <a:r>
              <a:rPr lang="en-US" altLang="zh-CN" sz="2200">
                <a:latin typeface="新愚公和谐宋-S" charset="-122"/>
                <a:ea typeface="新愚公和谐宋-S" charset="-122"/>
              </a:rPr>
              <a:t>76.5%</a:t>
            </a:r>
            <a:r>
              <a:rPr lang="zh-CN" altLang="en-US" sz="2200">
                <a:latin typeface="新愚公和谐宋-S" charset="-122"/>
                <a:ea typeface="新愚公和谐宋-S" charset="-122"/>
              </a:rPr>
              <a:t>的消费者对联通的认知仍停留在</a:t>
            </a:r>
            <a:r>
              <a:rPr lang="en-US" altLang="zh-CN" sz="2200">
                <a:latin typeface="新愚公和谐宋-S" charset="-122"/>
                <a:ea typeface="新愚公和谐宋-S" charset="-122"/>
              </a:rPr>
              <a:t>“</a:t>
            </a:r>
            <a:r>
              <a:rPr lang="zh-CN" altLang="en-US" sz="2200">
                <a:latin typeface="新愚公和谐宋-S" charset="-122"/>
                <a:ea typeface="新愚公和谐宋-S" charset="-122"/>
              </a:rPr>
              <a:t>办卡、装宽带</a:t>
            </a:r>
            <a:r>
              <a:rPr lang="en-US" altLang="zh-CN" sz="2200">
                <a:latin typeface="新愚公和谐宋-S" charset="-122"/>
                <a:ea typeface="新愚公和谐宋-S" charset="-122"/>
              </a:rPr>
              <a:t>”</a:t>
            </a:r>
            <a:r>
              <a:rPr lang="zh-CN" altLang="en-US" sz="2200">
                <a:latin typeface="新愚公和谐宋-S" charset="-122"/>
                <a:ea typeface="新愚公和谐宋-S" charset="-122"/>
              </a:rPr>
              <a:t>的工具型品牌层面。</a:t>
            </a:r>
            <a:endParaRPr lang="zh-CN" altLang="en-US" sz="2200">
              <a:latin typeface="新愚公和谐宋-S" charset="-122"/>
              <a:ea typeface="新愚公和谐宋-S" charset="-122"/>
            </a:endParaRPr>
          </a:p>
        </p:txBody>
      </p:sp>
      <p:pic>
        <p:nvPicPr>
          <p:cNvPr id="53" name="Picture 11" descr="image.png"/>
          <p:cNvPicPr>
            <a:picLocks noChangeAspect="1"/>
          </p:cNvPicPr>
          <p:nvPr/>
        </p:nvPicPr>
        <p:blipFill>
          <a:blip r:embed="rId14"/>
          <a:stretch>
            <a:fillRect/>
          </a:stretch>
        </p:blipFill>
        <p:spPr>
          <a:xfrm>
            <a:off x="6699410" y="8474370"/>
            <a:ext cx="1505608" cy="1513449"/>
          </a:xfrm>
          <a:prstGeom prst="rect">
            <a:avLst/>
          </a:prstGeom>
        </p:spPr>
      </p:pic>
      <p:sp>
        <p:nvSpPr>
          <p:cNvPr id="54"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4</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223" y="-136326"/>
            <a:ext cx="20104100" cy="11447819"/>
          </a:xfrm>
          <a:prstGeom prst="rect">
            <a:avLst/>
          </a:prstGeom>
        </p:spPr>
      </p:pic>
      <p:sp>
        <p:nvSpPr>
          <p:cNvPr id="3"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rPr>
              <a:t>市场分析</a:t>
            </a:r>
            <a:endPar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用户</a:t>
            </a:r>
            <a:r>
              <a:rPr lang="zh-CN" altLang="en-US" sz="3200" b="0" spc="-10" dirty="0">
                <a:solidFill>
                  <a:srgbClr val="8E9192"/>
                </a:solidFill>
                <a:latin typeface="新愚公和谐宋-S" charset="-122"/>
                <a:ea typeface="新愚公和谐宋-S" charset="-122"/>
                <a:cs typeface="Arial" panose="020B0604020202020204"/>
              </a:rPr>
              <a:t>分析</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9" name="文本框 8"/>
          <p:cNvSpPr txBox="1"/>
          <p:nvPr/>
        </p:nvSpPr>
        <p:spPr>
          <a:xfrm>
            <a:off x="603250" y="1387475"/>
            <a:ext cx="12433935" cy="737235"/>
          </a:xfrm>
          <a:prstGeom prst="rect">
            <a:avLst/>
          </a:prstGeom>
          <a:noFill/>
        </p:spPr>
        <p:txBody>
          <a:bodyPr wrap="square" rtlCol="0">
            <a:spAutoFit/>
          </a:bodyPr>
          <a:p>
            <a:r>
              <a:rPr lang="zh-CN" altLang="en-US" sz="4200" kern="0">
                <a:solidFill>
                  <a:srgbClr val="343435"/>
                </a:solidFill>
                <a:latin typeface="新愚公和谐宋-S" charset="-122"/>
                <a:ea typeface="新愚公和谐宋-S" charset="-122"/>
                <a:cs typeface="字魂132号-江舟行客" panose="00000500000000000000" charset="-122"/>
                <a:sym typeface="+mn-ea"/>
              </a:rPr>
              <a:t>河南博物院</a:t>
            </a:r>
            <a:r>
              <a:rPr lang="en-US" altLang="en-US" sz="4200" kern="0">
                <a:solidFill>
                  <a:srgbClr val="343435"/>
                </a:solidFill>
                <a:latin typeface="新愚公和谐宋-S" charset="-122"/>
                <a:ea typeface="新愚公和谐宋-S" charset="-122"/>
                <a:cs typeface="字魂132号-江舟行客" panose="00000500000000000000" charset="-122"/>
                <a:sym typeface="+mn-ea"/>
              </a:rPr>
              <a:t>×</a:t>
            </a:r>
            <a:r>
              <a:rPr lang="en-US" altLang="zh-CN" sz="4200" kern="0">
                <a:solidFill>
                  <a:srgbClr val="343435"/>
                </a:solidFill>
                <a:latin typeface="字魂132号-江舟行客" panose="00000500000000000000" charset="-122"/>
                <a:ea typeface="字魂132号-江舟行客" panose="00000500000000000000" charset="-122"/>
                <a:cs typeface="字魂132号-江舟行客" panose="00000500000000000000" charset="-122"/>
                <a:sym typeface="+mn-ea"/>
              </a:rPr>
              <a:t> </a:t>
            </a:r>
            <a:r>
              <a:rPr lang="en-US" altLang="zh-CN" sz="4200" kern="0">
                <a:solidFill>
                  <a:srgbClr val="343435"/>
                </a:solidFill>
                <a:latin typeface="新愚公和谐宋-S" charset="-122"/>
                <a:ea typeface="新愚公和谐宋-S" charset="-122"/>
                <a:cs typeface="字魂132号-江舟行客" panose="00000500000000000000" charset="-122"/>
                <a:sym typeface="+mn-ea"/>
              </a:rPr>
              <a:t>“</a:t>
            </a:r>
            <a:r>
              <a:rPr lang="zh-CN" altLang="en-US" sz="4200" kern="0">
                <a:solidFill>
                  <a:srgbClr val="343435"/>
                </a:solidFill>
                <a:latin typeface="新愚公和谐宋-S" charset="-122"/>
                <a:ea typeface="新愚公和谐宋-S" charset="-122"/>
                <a:cs typeface="字魂132号-江舟行客" panose="00000500000000000000" charset="-122"/>
                <a:sym typeface="+mn-ea"/>
              </a:rPr>
              <a:t>北魏姐妹花</a:t>
            </a:r>
            <a:r>
              <a:rPr lang="en-US" altLang="zh-CN" sz="4200" kern="0">
                <a:solidFill>
                  <a:srgbClr val="343435"/>
                </a:solidFill>
                <a:latin typeface="新愚公和谐宋-S" charset="-122"/>
                <a:ea typeface="新愚公和谐宋-S" charset="-122"/>
                <a:cs typeface="字魂132号-江舟行客" panose="00000500000000000000" charset="-122"/>
                <a:sym typeface="+mn-ea"/>
              </a:rPr>
              <a:t>”IP</a:t>
            </a:r>
            <a:r>
              <a:rPr lang="zh-CN" altLang="en-US" sz="4200" kern="0">
                <a:solidFill>
                  <a:srgbClr val="343435"/>
                </a:solidFill>
                <a:latin typeface="新愚公和谐宋-S" charset="-122"/>
                <a:ea typeface="新愚公和谐宋-S" charset="-122"/>
                <a:cs typeface="字魂132号-江舟行客" panose="00000500000000000000" charset="-122"/>
                <a:sym typeface="+mn-ea"/>
              </a:rPr>
              <a:t>分析：</a:t>
            </a:r>
            <a:endParaRPr lang="zh-CN" altLang="en-US" sz="4200" kern="0">
              <a:solidFill>
                <a:srgbClr val="343435"/>
              </a:solidFill>
              <a:latin typeface="新愚公和谐宋-S" charset="-122"/>
              <a:ea typeface="新愚公和谐宋-S" charset="-122"/>
              <a:cs typeface="字魂132号-江舟行客" panose="00000500000000000000" charset="-122"/>
              <a:sym typeface="+mn-ea"/>
            </a:endParaRPr>
          </a:p>
        </p:txBody>
      </p:sp>
      <p:pic>
        <p:nvPicPr>
          <p:cNvPr id="53" name="Picture 11" descr="image.png"/>
          <p:cNvPicPr>
            <a:picLocks noChangeAspect="1"/>
          </p:cNvPicPr>
          <p:nvPr/>
        </p:nvPicPr>
        <p:blipFill>
          <a:blip r:embed="rId2"/>
          <a:stretch>
            <a:fillRect/>
          </a:stretch>
        </p:blipFill>
        <p:spPr>
          <a:xfrm>
            <a:off x="17977010" y="9617370"/>
            <a:ext cx="1505608" cy="1513449"/>
          </a:xfrm>
          <a:prstGeom prst="rect">
            <a:avLst/>
          </a:prstGeom>
        </p:spPr>
      </p:pic>
      <p:pic>
        <p:nvPicPr>
          <p:cNvPr id="4" name="Picture 5" descr="image.png"/>
          <p:cNvPicPr>
            <a:picLocks noChangeAspect="1"/>
          </p:cNvPicPr>
          <p:nvPr>
            <p:custDataLst>
              <p:tags r:id="rId3"/>
            </p:custDataLst>
          </p:nvPr>
        </p:nvPicPr>
        <p:blipFill>
          <a:blip r:embed="rId4"/>
          <a:stretch>
            <a:fillRect/>
          </a:stretch>
        </p:blipFill>
        <p:spPr>
          <a:xfrm>
            <a:off x="603250" y="2606675"/>
            <a:ext cx="5808345" cy="3220720"/>
          </a:xfrm>
          <a:prstGeom prst="rect">
            <a:avLst/>
          </a:prstGeom>
        </p:spPr>
      </p:pic>
      <p:sp>
        <p:nvSpPr>
          <p:cNvPr id="8" name="文本框 7"/>
          <p:cNvSpPr txBox="1"/>
          <p:nvPr/>
        </p:nvSpPr>
        <p:spPr>
          <a:xfrm>
            <a:off x="998855" y="3597275"/>
            <a:ext cx="5114290" cy="1783715"/>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以</a:t>
            </a:r>
            <a:r>
              <a:rPr lang="en-US" altLang="zh-CN" sz="2200" u="none" strike="noStrike" kern="0" cap="none" spc="0" normalizeH="0">
                <a:solidFill>
                  <a:srgbClr val="343435"/>
                </a:solidFill>
                <a:latin typeface="新愚公和谐宋-S" charset="-122"/>
                <a:ea typeface="新愚公和谐宋-S" charset="-122"/>
              </a:rPr>
              <a:t> “</a:t>
            </a:r>
            <a:r>
              <a:rPr lang="zh-CN" altLang="en-US" sz="2200" u="none" strike="noStrike" kern="0" cap="none" spc="0" normalizeH="0">
                <a:solidFill>
                  <a:srgbClr val="343435"/>
                </a:solidFill>
                <a:latin typeface="新愚公和谐宋-S" charset="-122"/>
                <a:ea typeface="新愚公和谐宋-S" charset="-122"/>
              </a:rPr>
              <a:t>让沉睡的文物活起来</a:t>
            </a:r>
            <a:r>
              <a:rPr lang="en-US" altLang="zh-CN" sz="2200" u="none" strike="noStrike" kern="0" cap="none" spc="0" normalizeH="0">
                <a:solidFill>
                  <a:srgbClr val="343435"/>
                </a:solidFill>
                <a:latin typeface="新愚公和谐宋-S" charset="-122"/>
                <a:ea typeface="新愚公和谐宋-S" charset="-122"/>
              </a:rPr>
              <a:t>” </a:t>
            </a:r>
            <a:r>
              <a:rPr lang="zh-CN" altLang="en-US" sz="2200" u="none" strike="noStrike" kern="0" cap="none" spc="0" normalizeH="0">
                <a:solidFill>
                  <a:srgbClr val="343435"/>
                </a:solidFill>
                <a:latin typeface="新愚公和谐宋-S" charset="-122"/>
                <a:ea typeface="新愚公和谐宋-S" charset="-122"/>
              </a:rPr>
              <a:t>为核心，通过年轻化、数字化手段，将厚重的中原历史文化转化为可感知、可互动、可消费的当代文化产品，传递中华优秀传统文化的时代价值。</a:t>
            </a:r>
            <a:endParaRPr lang="zh-CN" altLang="en-US" sz="2200" u="none" strike="noStrike" kern="0" cap="none" spc="0" normalizeH="0">
              <a:solidFill>
                <a:srgbClr val="343435"/>
              </a:solidFill>
              <a:latin typeface="新愚公和谐宋-S" charset="-122"/>
              <a:ea typeface="新愚公和谐宋-S" charset="-122"/>
            </a:endParaRPr>
          </a:p>
        </p:txBody>
      </p:sp>
      <p:sp>
        <p:nvSpPr>
          <p:cNvPr id="10" name="TextBox 14"/>
          <p:cNvSpPr txBox="1"/>
          <p:nvPr/>
        </p:nvSpPr>
        <p:spPr>
          <a:xfrm>
            <a:off x="1136523" y="2911506"/>
            <a:ext cx="1425797" cy="417861"/>
          </a:xfrm>
          <a:prstGeom prst="rect">
            <a:avLst/>
          </a:prstGeom>
          <a:noFill/>
        </p:spPr>
        <p:txBody>
          <a:bodyPr wrap="none" lIns="0" tIns="0" rIns="0" bIns="0"/>
          <a:lstStyle/>
          <a:p>
            <a:pPr algn="just">
              <a:lnSpc>
                <a:spcPct val="122000"/>
              </a:lnSpc>
              <a:spcBef>
                <a:spcPts val="0"/>
              </a:spcBef>
              <a:spcAft>
                <a:spcPts val="0"/>
              </a:spcAft>
            </a:pPr>
            <a:r>
              <a:rPr lang="zh-CN" altLang="en-US" sz="2800" b="1" i="0">
                <a:solidFill>
                  <a:schemeClr val="tx1"/>
                </a:solidFill>
                <a:latin typeface="新愚公和谐宋-S" charset="-122"/>
                <a:ea typeface="新愚公和谐宋-S" charset="-122"/>
              </a:rPr>
              <a:t>河南博物院核心</a:t>
            </a:r>
            <a:r>
              <a:rPr lang="zh-CN" altLang="en-US" sz="2800" b="1" i="0">
                <a:solidFill>
                  <a:schemeClr val="tx1"/>
                </a:solidFill>
                <a:latin typeface="新愚公和谐宋-S" charset="-122"/>
                <a:ea typeface="新愚公和谐宋-S" charset="-122"/>
              </a:rPr>
              <a:t>内涵</a:t>
            </a:r>
            <a:endParaRPr lang="zh-CN" altLang="en-US" sz="2800" b="1" i="0">
              <a:solidFill>
                <a:schemeClr val="tx1"/>
              </a:solidFill>
              <a:latin typeface="新愚公和谐宋-S" charset="-122"/>
              <a:ea typeface="新愚公和谐宋-S" charset="-122"/>
            </a:endParaRPr>
          </a:p>
        </p:txBody>
      </p:sp>
      <p:sp>
        <p:nvSpPr>
          <p:cNvPr id="16" name="文本框 15"/>
          <p:cNvSpPr txBox="1"/>
          <p:nvPr/>
        </p:nvSpPr>
        <p:spPr>
          <a:xfrm>
            <a:off x="2660650" y="10226675"/>
            <a:ext cx="14641830" cy="737235"/>
          </a:xfrm>
          <a:prstGeom prst="rect">
            <a:avLst/>
          </a:prstGeom>
          <a:noFill/>
        </p:spPr>
        <p:txBody>
          <a:bodyPr wrap="square" rtlCol="0">
            <a:spAutoFit/>
          </a:bodyPr>
          <a:p>
            <a:pPr algn="ctr"/>
            <a:r>
              <a:rPr lang="en-US" altLang="zh-CN" sz="4200" b="1" u="none" strike="noStrike" kern="0" cap="none" spc="0" normalizeH="0">
                <a:solidFill>
                  <a:srgbClr val="343435"/>
                </a:solidFill>
                <a:latin typeface="新愚公和谐宋-S" charset="-122"/>
                <a:ea typeface="新愚公和谐宋-S" charset="-122"/>
                <a:sym typeface="+mn-ea"/>
              </a:rPr>
              <a:t>IP</a:t>
            </a:r>
            <a:r>
              <a:rPr lang="zh-CN" altLang="en-US" sz="4200" b="1" u="none" strike="noStrike" kern="0" cap="none" spc="0" normalizeH="0">
                <a:solidFill>
                  <a:srgbClr val="343435"/>
                </a:solidFill>
                <a:latin typeface="新愚公和谐宋-S" charset="-122"/>
                <a:ea typeface="新愚公和谐宋-S" charset="-122"/>
                <a:sym typeface="+mn-ea"/>
              </a:rPr>
              <a:t>理念：让文物走出展柜，让千年情感触手可及</a:t>
            </a:r>
            <a:endParaRPr lang="zh-CN" altLang="en-US" sz="4200" b="1" u="none" strike="noStrike" kern="0" cap="none" spc="0" normalizeH="0">
              <a:solidFill>
                <a:srgbClr val="343435"/>
              </a:solidFill>
              <a:latin typeface="新愚公和谐宋-S" charset="-122"/>
              <a:ea typeface="新愚公和谐宋-S" charset="-122"/>
            </a:endParaRPr>
          </a:p>
        </p:txBody>
      </p:sp>
      <p:pic>
        <p:nvPicPr>
          <p:cNvPr id="32" name="图片 31" descr="logo透明底处理"/>
          <p:cNvPicPr>
            <a:picLocks noChangeAspect="1"/>
          </p:cNvPicPr>
          <p:nvPr/>
        </p:nvPicPr>
        <p:blipFill>
          <a:blip r:embed="rId5"/>
          <a:srcRect b="12326"/>
          <a:stretch>
            <a:fillRect/>
          </a:stretch>
        </p:blipFill>
        <p:spPr>
          <a:xfrm>
            <a:off x="17261205" y="-349885"/>
            <a:ext cx="2842895" cy="2473960"/>
          </a:xfrm>
          <a:prstGeom prst="rect">
            <a:avLst/>
          </a:prstGeom>
        </p:spPr>
      </p:pic>
      <p:pic>
        <p:nvPicPr>
          <p:cNvPr id="50" name="图片 49" descr="logo透明底处理 (1)"/>
          <p:cNvPicPr>
            <a:picLocks noChangeAspect="1"/>
          </p:cNvPicPr>
          <p:nvPr/>
        </p:nvPicPr>
        <p:blipFill>
          <a:blip r:embed="rId6"/>
          <a:srcRect l="18089" t="19366" r="22882" b="22515"/>
          <a:stretch>
            <a:fillRect/>
          </a:stretch>
        </p:blipFill>
        <p:spPr>
          <a:xfrm>
            <a:off x="8359775" y="3329305"/>
            <a:ext cx="2875280" cy="4000500"/>
          </a:xfrm>
          <a:prstGeom prst="rect">
            <a:avLst/>
          </a:prstGeom>
        </p:spPr>
      </p:pic>
      <p:sp>
        <p:nvSpPr>
          <p:cNvPr id="54" name="TextBox 14"/>
          <p:cNvSpPr txBox="1"/>
          <p:nvPr>
            <p:custDataLst>
              <p:tags r:id="rId7"/>
            </p:custDataLst>
          </p:nvPr>
        </p:nvSpPr>
        <p:spPr>
          <a:xfrm>
            <a:off x="8653145" y="7063105"/>
            <a:ext cx="2419985" cy="584835"/>
          </a:xfrm>
          <a:prstGeom prst="rect">
            <a:avLst/>
          </a:prstGeom>
          <a:noFill/>
        </p:spPr>
        <p:txBody>
          <a:bodyPr wrap="none" lIns="0" tIns="0" rIns="0" bIns="0"/>
          <a:lstStyle/>
          <a:p>
            <a:pPr algn="ctr">
              <a:lnSpc>
                <a:spcPct val="122000"/>
              </a:lnSpc>
              <a:spcBef>
                <a:spcPts val="0"/>
              </a:spcBef>
              <a:spcAft>
                <a:spcPts val="0"/>
              </a:spcAft>
            </a:pPr>
            <a:r>
              <a:rPr lang="zh-CN" altLang="en-US" sz="2800" b="1" i="0">
                <a:solidFill>
                  <a:schemeClr val="tx1"/>
                </a:solidFill>
                <a:latin typeface="微软雅黑" panose="020B0503020204020204" charset="-122"/>
                <a:ea typeface="微软雅黑" panose="020B0503020204020204" charset="-122"/>
              </a:rPr>
              <a:t>彩绘陶牵手女俑</a:t>
            </a:r>
            <a:endParaRPr lang="zh-CN" altLang="en-US" sz="2800" b="1" i="0">
              <a:solidFill>
                <a:schemeClr val="tx1"/>
              </a:solidFill>
              <a:latin typeface="微软雅黑" panose="020B0503020204020204" charset="-122"/>
              <a:ea typeface="微软雅黑" panose="020B0503020204020204" charset="-122"/>
            </a:endParaRPr>
          </a:p>
        </p:txBody>
      </p:sp>
      <p:pic>
        <p:nvPicPr>
          <p:cNvPr id="55" name="Picture 5" descr="image.png"/>
          <p:cNvPicPr>
            <a:picLocks noChangeAspect="1"/>
          </p:cNvPicPr>
          <p:nvPr>
            <p:custDataLst>
              <p:tags r:id="rId8"/>
            </p:custDataLst>
          </p:nvPr>
        </p:nvPicPr>
        <p:blipFill>
          <a:blip r:embed="rId4"/>
          <a:stretch>
            <a:fillRect/>
          </a:stretch>
        </p:blipFill>
        <p:spPr>
          <a:xfrm>
            <a:off x="617855" y="6381750"/>
            <a:ext cx="5793740" cy="3075940"/>
          </a:xfrm>
          <a:prstGeom prst="rect">
            <a:avLst/>
          </a:prstGeom>
        </p:spPr>
      </p:pic>
      <p:sp>
        <p:nvSpPr>
          <p:cNvPr id="56" name="文本框 55"/>
          <p:cNvSpPr txBox="1"/>
          <p:nvPr>
            <p:custDataLst>
              <p:tags r:id="rId9"/>
            </p:custDataLst>
          </p:nvPr>
        </p:nvSpPr>
        <p:spPr>
          <a:xfrm>
            <a:off x="1013460" y="7296150"/>
            <a:ext cx="5100320" cy="1783715"/>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以</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跨越千年的真挚牵手</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为核心，定格北魏少女纯粹的闺蜜情谊，既是南北朝民族文化交融的历史见证，也是当代年轻人对</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永不分离</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友情的情感投射，与联通</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连接</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基因形成完美闭环。</a:t>
            </a:r>
            <a:endParaRPr lang="zh-CN" altLang="en-US" sz="2200" u="none" strike="noStrike" kern="0" cap="none" spc="0" normalizeH="0">
              <a:solidFill>
                <a:srgbClr val="343435"/>
              </a:solidFill>
              <a:latin typeface="新愚公和谐宋-S" charset="-122"/>
              <a:ea typeface="新愚公和谐宋-S" charset="-122"/>
            </a:endParaRPr>
          </a:p>
        </p:txBody>
      </p:sp>
      <p:sp>
        <p:nvSpPr>
          <p:cNvPr id="57" name="TextBox 14"/>
          <p:cNvSpPr txBox="1"/>
          <p:nvPr>
            <p:custDataLst>
              <p:tags r:id="rId10"/>
            </p:custDataLst>
          </p:nvPr>
        </p:nvSpPr>
        <p:spPr>
          <a:xfrm>
            <a:off x="1278128" y="6661181"/>
            <a:ext cx="1425797" cy="417861"/>
          </a:xfrm>
          <a:prstGeom prst="rect">
            <a:avLst/>
          </a:prstGeom>
          <a:noFill/>
        </p:spPr>
        <p:txBody>
          <a:bodyPr wrap="none" lIns="0" tIns="0" rIns="0" bIns="0"/>
          <a:lstStyle/>
          <a:p>
            <a:pPr algn="just">
              <a:lnSpc>
                <a:spcPct val="122000"/>
              </a:lnSpc>
              <a:spcBef>
                <a:spcPts val="0"/>
              </a:spcBef>
              <a:spcAft>
                <a:spcPts val="0"/>
              </a:spcAft>
            </a:pPr>
            <a:r>
              <a:rPr lang="en-US" altLang="zh-CN" sz="2800" b="1" i="0">
                <a:solidFill>
                  <a:schemeClr val="tx1"/>
                </a:solidFill>
                <a:latin typeface="新愚公和谐宋-S" charset="-122"/>
                <a:ea typeface="新愚公和谐宋-S" charset="-122"/>
                <a:cs typeface="新愚公和谐宋-S" charset="-122"/>
              </a:rPr>
              <a:t>IP</a:t>
            </a:r>
            <a:r>
              <a:rPr lang="zh-CN" altLang="en-US" sz="2800" b="1" i="0">
                <a:solidFill>
                  <a:schemeClr val="tx1"/>
                </a:solidFill>
                <a:latin typeface="新愚公和谐宋-S" charset="-122"/>
                <a:ea typeface="新愚公和谐宋-S" charset="-122"/>
                <a:cs typeface="新愚公和谐宋-S" charset="-122"/>
              </a:rPr>
              <a:t>核心</a:t>
            </a:r>
            <a:r>
              <a:rPr lang="zh-CN" altLang="en-US" sz="2800" b="1" i="0">
                <a:solidFill>
                  <a:schemeClr val="tx1"/>
                </a:solidFill>
                <a:latin typeface="新愚公和谐宋-S" charset="-122"/>
                <a:ea typeface="新愚公和谐宋-S" charset="-122"/>
                <a:cs typeface="新愚公和谐宋-S" charset="-122"/>
              </a:rPr>
              <a:t>内涵</a:t>
            </a:r>
            <a:endParaRPr lang="zh-CN" altLang="en-US" sz="2800" b="1" i="0">
              <a:solidFill>
                <a:schemeClr val="tx1"/>
              </a:solidFill>
              <a:latin typeface="新愚公和谐宋-S" charset="-122"/>
              <a:ea typeface="新愚公和谐宋-S" charset="-122"/>
              <a:cs typeface="新愚公和谐宋-S" charset="-122"/>
            </a:endParaRPr>
          </a:p>
        </p:txBody>
      </p:sp>
      <p:pic>
        <p:nvPicPr>
          <p:cNvPr id="58" name="Picture 5" descr="image.png"/>
          <p:cNvPicPr>
            <a:picLocks noChangeAspect="1"/>
          </p:cNvPicPr>
          <p:nvPr>
            <p:custDataLst>
              <p:tags r:id="rId11"/>
            </p:custDataLst>
          </p:nvPr>
        </p:nvPicPr>
        <p:blipFill>
          <a:blip r:embed="rId4"/>
          <a:stretch>
            <a:fillRect/>
          </a:stretch>
        </p:blipFill>
        <p:spPr>
          <a:xfrm>
            <a:off x="12944475" y="2530475"/>
            <a:ext cx="6595745" cy="3325495"/>
          </a:xfrm>
          <a:prstGeom prst="rect">
            <a:avLst/>
          </a:prstGeom>
        </p:spPr>
      </p:pic>
      <p:sp>
        <p:nvSpPr>
          <p:cNvPr id="59" name="文本框 58"/>
          <p:cNvSpPr txBox="1"/>
          <p:nvPr>
            <p:custDataLst>
              <p:tags r:id="rId12"/>
            </p:custDataLst>
          </p:nvPr>
        </p:nvSpPr>
        <p:spPr>
          <a:xfrm>
            <a:off x="13557250" y="3597275"/>
            <a:ext cx="5753100" cy="1783715"/>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以</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跨越千年的真挚牵手</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为核心，定格北魏少女纯粹的闺蜜情谊，既是南北朝民族文化交融的历史见证，也是当代年轻人对</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永不分离</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友情的情感投射，与联通</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连接</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基因形成完美闭环。</a:t>
            </a:r>
            <a:endParaRPr lang="zh-CN" altLang="en-US" sz="2200" u="none" strike="noStrike" kern="0" cap="none" spc="0" normalizeH="0">
              <a:solidFill>
                <a:srgbClr val="343435"/>
              </a:solidFill>
              <a:latin typeface="新愚公和谐宋-S" charset="-122"/>
              <a:ea typeface="新愚公和谐宋-S" charset="-122"/>
            </a:endParaRPr>
          </a:p>
        </p:txBody>
      </p:sp>
      <p:sp>
        <p:nvSpPr>
          <p:cNvPr id="60" name="TextBox 14"/>
          <p:cNvSpPr txBox="1"/>
          <p:nvPr>
            <p:custDataLst>
              <p:tags r:id="rId13"/>
            </p:custDataLst>
          </p:nvPr>
        </p:nvSpPr>
        <p:spPr>
          <a:xfrm>
            <a:off x="13633323" y="2911506"/>
            <a:ext cx="1425797" cy="417861"/>
          </a:xfrm>
          <a:prstGeom prst="rect">
            <a:avLst/>
          </a:prstGeom>
          <a:noFill/>
        </p:spPr>
        <p:txBody>
          <a:bodyPr wrap="none" lIns="0" tIns="0" rIns="0" bIns="0"/>
          <a:lstStyle/>
          <a:p>
            <a:pPr algn="just">
              <a:lnSpc>
                <a:spcPct val="122000"/>
              </a:lnSpc>
              <a:spcBef>
                <a:spcPts val="0"/>
              </a:spcBef>
              <a:spcAft>
                <a:spcPts val="0"/>
              </a:spcAft>
            </a:pPr>
            <a:r>
              <a:rPr lang="en-US" altLang="zh-CN" sz="2800" b="1" i="0">
                <a:solidFill>
                  <a:schemeClr val="tx1"/>
                </a:solidFill>
                <a:latin typeface="新愚公和谐宋-S" charset="-122"/>
                <a:ea typeface="新愚公和谐宋-S" charset="-122"/>
                <a:cs typeface="新愚公和谐宋-S" charset="-122"/>
              </a:rPr>
              <a:t>IP</a:t>
            </a:r>
            <a:r>
              <a:rPr lang="zh-CN" altLang="en-US" sz="2800" b="1" i="0">
                <a:solidFill>
                  <a:schemeClr val="tx1"/>
                </a:solidFill>
                <a:latin typeface="新愚公和谐宋-S" charset="-122"/>
                <a:ea typeface="新愚公和谐宋-S" charset="-122"/>
                <a:cs typeface="新愚公和谐宋-S" charset="-122"/>
              </a:rPr>
              <a:t>介绍</a:t>
            </a:r>
            <a:endParaRPr lang="zh-CN" altLang="en-US" sz="2800" b="1" i="0">
              <a:solidFill>
                <a:schemeClr val="tx1"/>
              </a:solidFill>
              <a:latin typeface="新愚公和谐宋-S" charset="-122"/>
              <a:ea typeface="新愚公和谐宋-S" charset="-122"/>
              <a:cs typeface="新愚公和谐宋-S" charset="-122"/>
            </a:endParaRPr>
          </a:p>
        </p:txBody>
      </p:sp>
      <p:sp>
        <p:nvSpPr>
          <p:cNvPr id="64"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5</a:t>
            </a:r>
            <a:endParaRPr lang="en-US" altLang="en-US" sz="1800" b="1" spc="55" dirty="0">
              <a:solidFill>
                <a:srgbClr val="000204"/>
              </a:solidFill>
              <a:latin typeface="Arial" panose="020B0604020202020204"/>
              <a:cs typeface="Arial" panose="020B0604020202020204"/>
            </a:endParaRPr>
          </a:p>
        </p:txBody>
      </p:sp>
      <p:pic>
        <p:nvPicPr>
          <p:cNvPr id="6" name="Picture 5" descr="image.png"/>
          <p:cNvPicPr>
            <a:picLocks noChangeAspect="1"/>
          </p:cNvPicPr>
          <p:nvPr>
            <p:custDataLst>
              <p:tags r:id="rId14"/>
            </p:custDataLst>
          </p:nvPr>
        </p:nvPicPr>
        <p:blipFill>
          <a:blip r:embed="rId4"/>
          <a:stretch>
            <a:fillRect/>
          </a:stretch>
        </p:blipFill>
        <p:spPr>
          <a:xfrm>
            <a:off x="13037185" y="6188075"/>
            <a:ext cx="6503035" cy="3325495"/>
          </a:xfrm>
          <a:prstGeom prst="rect">
            <a:avLst/>
          </a:prstGeom>
        </p:spPr>
      </p:pic>
      <p:sp>
        <p:nvSpPr>
          <p:cNvPr id="7" name="文本框 6"/>
          <p:cNvSpPr txBox="1"/>
          <p:nvPr>
            <p:custDataLst>
              <p:tags r:id="rId15"/>
            </p:custDataLst>
          </p:nvPr>
        </p:nvSpPr>
        <p:spPr>
          <a:xfrm>
            <a:off x="13542645" y="7026275"/>
            <a:ext cx="5920105" cy="2122805"/>
          </a:xfrm>
          <a:prstGeom prst="rect">
            <a:avLst/>
          </a:prstGeom>
          <a:noFill/>
        </p:spPr>
        <p:txBody>
          <a:bodyPr wrap="square" rtlCol="0">
            <a:spAutoFit/>
          </a:bodyPr>
          <a:p>
            <a:pPr marL="0" indent="0" eaLnBrk="1" fontAlgn="auto" latinLnBrk="0" hangingPunct="1">
              <a:lnSpc>
                <a:spcPct val="100000"/>
              </a:lnSpc>
            </a:pPr>
            <a:r>
              <a:rPr lang="en-US" altLang="zh-CN" sz="2200">
                <a:latin typeface="新愚公和谐宋-S" charset="-122"/>
                <a:ea typeface="新愚公和谐宋-S" charset="-122"/>
                <a:sym typeface="+mn-ea"/>
              </a:rPr>
              <a:t>82% </a:t>
            </a:r>
            <a:r>
              <a:rPr lang="zh-CN" altLang="en-US" sz="2200">
                <a:latin typeface="新愚公和谐宋-S" charset="-122"/>
                <a:ea typeface="新愚公和谐宋-S" charset="-122"/>
                <a:sym typeface="+mn-ea"/>
              </a:rPr>
              <a:t>联名产品为简单印花，情感内核挖掘不足。无任何科技互动体验，传播仅靠颜值打，无参与感和探索欲。产品均为单人款，未激活闺蜜社交传播属性，浪费了闺蜜向内容比普通内容传播效率高的优势。历史文化传播浅层化，文物价值未充分传递，难以形成长期影响力。</a:t>
            </a:r>
            <a:endParaRPr lang="zh-CN" altLang="en-US" sz="2200" u="none" strike="noStrike" kern="0" cap="none" spc="0" normalizeH="0">
              <a:solidFill>
                <a:srgbClr val="343435"/>
              </a:solidFill>
              <a:latin typeface="新愚公和谐宋-S" charset="-122"/>
              <a:ea typeface="新愚公和谐宋-S" charset="-122"/>
            </a:endParaRPr>
          </a:p>
        </p:txBody>
      </p:sp>
      <p:sp>
        <p:nvSpPr>
          <p:cNvPr id="11" name="TextBox 14"/>
          <p:cNvSpPr txBox="1"/>
          <p:nvPr>
            <p:custDataLst>
              <p:tags r:id="rId16"/>
            </p:custDataLst>
          </p:nvPr>
        </p:nvSpPr>
        <p:spPr>
          <a:xfrm>
            <a:off x="13633323" y="6492906"/>
            <a:ext cx="1425797" cy="417861"/>
          </a:xfrm>
          <a:prstGeom prst="rect">
            <a:avLst/>
          </a:prstGeom>
          <a:noFill/>
        </p:spPr>
        <p:txBody>
          <a:bodyPr wrap="none" lIns="0" tIns="0" rIns="0" bIns="0"/>
          <a:lstStyle/>
          <a:p>
            <a:pPr algn="just">
              <a:lnSpc>
                <a:spcPct val="122000"/>
              </a:lnSpc>
              <a:spcBef>
                <a:spcPts val="0"/>
              </a:spcBef>
              <a:spcAft>
                <a:spcPts val="0"/>
              </a:spcAft>
            </a:pPr>
            <a:r>
              <a:rPr lang="zh-CN" altLang="en-US" sz="2800" b="1" i="0">
                <a:solidFill>
                  <a:schemeClr val="tx1"/>
                </a:solidFill>
                <a:latin typeface="新愚公和谐宋-S" charset="-122"/>
                <a:ea typeface="新愚公和谐宋-S" charset="-122"/>
                <a:cs typeface="新愚公和谐宋-S" charset="-122"/>
              </a:rPr>
              <a:t>痛点</a:t>
            </a:r>
            <a:endParaRPr lang="zh-CN" altLang="en-US" sz="2800" b="1" i="0">
              <a:solidFill>
                <a:schemeClr val="tx1"/>
              </a:solidFill>
              <a:latin typeface="新愚公和谐宋-S" charset="-122"/>
              <a:ea typeface="新愚公和谐宋-S" charset="-122"/>
              <a:cs typeface="新愚公和谐宋-S" charset="-122"/>
            </a:endParaRPr>
          </a:p>
        </p:txBody>
      </p:sp>
      <p:cxnSp>
        <p:nvCxnSpPr>
          <p:cNvPr id="12" name="直接连接符 11"/>
          <p:cNvCxnSpPr/>
          <p:nvPr/>
        </p:nvCxnSpPr>
        <p:spPr>
          <a:xfrm>
            <a:off x="6379210" y="3825875"/>
            <a:ext cx="2148840" cy="1143000"/>
          </a:xfrm>
          <a:prstGeom prst="line">
            <a:avLst/>
          </a:prstGeom>
          <a:ln w="53975">
            <a:solidFill>
              <a:srgbClr val="C19F62"/>
            </a:solidFill>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10966450" y="6721475"/>
            <a:ext cx="2209800" cy="1676400"/>
          </a:xfrm>
          <a:prstGeom prst="line">
            <a:avLst/>
          </a:prstGeom>
          <a:ln w="53975">
            <a:solidFill>
              <a:srgbClr val="C19F62"/>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nvCxnSpPr>
        <p:spPr>
          <a:xfrm flipV="1">
            <a:off x="6318250" y="6721475"/>
            <a:ext cx="2209800" cy="1284605"/>
          </a:xfrm>
          <a:prstGeom prst="line">
            <a:avLst/>
          </a:prstGeom>
          <a:ln w="53975">
            <a:solidFill>
              <a:srgbClr val="C19F62"/>
            </a:solidFill>
          </a:ln>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flipH="1">
            <a:off x="11042650" y="3825875"/>
            <a:ext cx="1981200" cy="1143000"/>
          </a:xfrm>
          <a:prstGeom prst="line">
            <a:avLst/>
          </a:prstGeom>
          <a:ln w="53975">
            <a:solidFill>
              <a:srgbClr val="C19F62"/>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rPr>
              <a:t>市场分析</a:t>
            </a:r>
            <a:endPar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用户</a:t>
            </a:r>
            <a:r>
              <a:rPr lang="zh-CN" altLang="en-US" sz="3200" b="0" spc="-10" dirty="0">
                <a:solidFill>
                  <a:srgbClr val="8E9192"/>
                </a:solidFill>
                <a:latin typeface="新愚公和谐宋-S" charset="-122"/>
                <a:ea typeface="新愚公和谐宋-S" charset="-122"/>
                <a:cs typeface="Arial" panose="020B0604020202020204"/>
              </a:rPr>
              <a:t>分析</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6</a:t>
            </a:r>
            <a:endParaRPr lang="en-US" altLang="en-US" sz="1800" b="1" spc="55" dirty="0">
              <a:solidFill>
                <a:srgbClr val="000204"/>
              </a:solidFill>
              <a:latin typeface="Arial" panose="020B0604020202020204"/>
              <a:cs typeface="Arial" panose="020B0604020202020204"/>
            </a:endParaRPr>
          </a:p>
        </p:txBody>
      </p:sp>
      <p:sp>
        <p:nvSpPr>
          <p:cNvPr id="4" name="椭圆 3"/>
          <p:cNvSpPr/>
          <p:nvPr/>
        </p:nvSpPr>
        <p:spPr>
          <a:xfrm>
            <a:off x="7080250" y="2759075"/>
            <a:ext cx="5867400" cy="5867400"/>
          </a:xfrm>
          <a:prstGeom prst="ellipse">
            <a:avLst/>
          </a:prstGeom>
          <a:solidFill>
            <a:srgbClr val="FFEFC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C000"/>
              </a:solidFill>
            </a:endParaRPr>
          </a:p>
        </p:txBody>
      </p:sp>
      <p:sp>
        <p:nvSpPr>
          <p:cNvPr id="5" name="椭圆 4"/>
          <p:cNvSpPr/>
          <p:nvPr/>
        </p:nvSpPr>
        <p:spPr>
          <a:xfrm>
            <a:off x="8223250" y="3902075"/>
            <a:ext cx="3505200" cy="3505200"/>
          </a:xfrm>
          <a:prstGeom prst="ellipse">
            <a:avLst/>
          </a:prstGeom>
          <a:solidFill>
            <a:srgbClr val="FCD38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C000"/>
              </a:solidFill>
            </a:endParaRPr>
          </a:p>
        </p:txBody>
      </p:sp>
      <p:sp>
        <p:nvSpPr>
          <p:cNvPr id="6" name="文本框 5"/>
          <p:cNvSpPr txBox="1"/>
          <p:nvPr/>
        </p:nvSpPr>
        <p:spPr>
          <a:xfrm>
            <a:off x="8687435" y="5045075"/>
            <a:ext cx="2677160" cy="1198880"/>
          </a:xfrm>
          <a:prstGeom prst="rect">
            <a:avLst/>
          </a:prstGeom>
          <a:noFill/>
        </p:spPr>
        <p:txBody>
          <a:bodyPr wrap="square" rtlCol="0">
            <a:spAutoFit/>
          </a:bodyPr>
          <a:p>
            <a:r>
              <a:rPr lang="en-US" altLang="zh-CN" sz="7200" b="1"/>
              <a:t>PEST</a:t>
            </a:r>
            <a:endParaRPr lang="en-US" altLang="zh-CN" sz="7200" b="1"/>
          </a:p>
        </p:txBody>
      </p:sp>
      <p:sp>
        <p:nvSpPr>
          <p:cNvPr id="7" name="椭圆 6"/>
          <p:cNvSpPr/>
          <p:nvPr/>
        </p:nvSpPr>
        <p:spPr>
          <a:xfrm>
            <a:off x="6546850" y="2606675"/>
            <a:ext cx="1915795" cy="1915795"/>
          </a:xfrm>
          <a:prstGeom prst="ellipse">
            <a:avLst/>
          </a:prstGeom>
          <a:solidFill>
            <a:srgbClr val="F9BF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C000"/>
              </a:solidFill>
            </a:endParaRPr>
          </a:p>
        </p:txBody>
      </p:sp>
      <p:sp>
        <p:nvSpPr>
          <p:cNvPr id="10" name="文本框 9"/>
          <p:cNvSpPr txBox="1"/>
          <p:nvPr/>
        </p:nvSpPr>
        <p:spPr>
          <a:xfrm>
            <a:off x="7162800" y="3063875"/>
            <a:ext cx="849630" cy="1198880"/>
          </a:xfrm>
          <a:prstGeom prst="rect">
            <a:avLst/>
          </a:prstGeom>
          <a:noFill/>
        </p:spPr>
        <p:txBody>
          <a:bodyPr wrap="square" rtlCol="0">
            <a:spAutoFit/>
          </a:bodyPr>
          <a:p>
            <a:r>
              <a:rPr lang="en-US" altLang="zh-CN" sz="7200" b="1"/>
              <a:t>P</a:t>
            </a:r>
            <a:endParaRPr lang="en-US" altLang="zh-CN" sz="7200" b="1"/>
          </a:p>
        </p:txBody>
      </p:sp>
      <p:sp>
        <p:nvSpPr>
          <p:cNvPr id="11" name="椭圆 10"/>
          <p:cNvSpPr/>
          <p:nvPr/>
        </p:nvSpPr>
        <p:spPr>
          <a:xfrm>
            <a:off x="11423650" y="2530475"/>
            <a:ext cx="1915795" cy="1915795"/>
          </a:xfrm>
          <a:prstGeom prst="ellipse">
            <a:avLst/>
          </a:prstGeom>
          <a:solidFill>
            <a:srgbClr val="FEA34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C000"/>
              </a:solidFill>
            </a:endParaRPr>
          </a:p>
        </p:txBody>
      </p:sp>
      <p:sp>
        <p:nvSpPr>
          <p:cNvPr id="16" name="文本框 15"/>
          <p:cNvSpPr txBox="1"/>
          <p:nvPr/>
        </p:nvSpPr>
        <p:spPr>
          <a:xfrm>
            <a:off x="11957050" y="2911475"/>
            <a:ext cx="849630" cy="1198880"/>
          </a:xfrm>
          <a:prstGeom prst="rect">
            <a:avLst/>
          </a:prstGeom>
          <a:noFill/>
        </p:spPr>
        <p:txBody>
          <a:bodyPr wrap="square" rtlCol="0">
            <a:spAutoFit/>
          </a:bodyPr>
          <a:p>
            <a:r>
              <a:rPr lang="en-US" altLang="zh-CN" sz="7200" b="1"/>
              <a:t>E</a:t>
            </a:r>
            <a:endParaRPr lang="en-US" altLang="zh-CN" sz="7200" b="1"/>
          </a:p>
        </p:txBody>
      </p:sp>
      <p:sp>
        <p:nvSpPr>
          <p:cNvPr id="21" name="椭圆 20"/>
          <p:cNvSpPr/>
          <p:nvPr/>
        </p:nvSpPr>
        <p:spPr>
          <a:xfrm>
            <a:off x="6597650" y="6797675"/>
            <a:ext cx="1915795" cy="1915795"/>
          </a:xfrm>
          <a:prstGeom prst="ellipse">
            <a:avLst/>
          </a:prstGeom>
          <a:solidFill>
            <a:srgbClr val="FEA34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C000"/>
              </a:solidFill>
            </a:endParaRPr>
          </a:p>
        </p:txBody>
      </p:sp>
      <p:sp>
        <p:nvSpPr>
          <p:cNvPr id="22" name="文本框 21"/>
          <p:cNvSpPr txBox="1"/>
          <p:nvPr/>
        </p:nvSpPr>
        <p:spPr>
          <a:xfrm>
            <a:off x="7137400" y="7254875"/>
            <a:ext cx="849630" cy="1198880"/>
          </a:xfrm>
          <a:prstGeom prst="rect">
            <a:avLst/>
          </a:prstGeom>
          <a:noFill/>
        </p:spPr>
        <p:txBody>
          <a:bodyPr wrap="square" rtlCol="0">
            <a:spAutoFit/>
          </a:bodyPr>
          <a:p>
            <a:r>
              <a:rPr lang="en-US" altLang="zh-CN" sz="7200" b="1"/>
              <a:t>S</a:t>
            </a:r>
            <a:endParaRPr lang="en-US" altLang="zh-CN" sz="7200" b="1"/>
          </a:p>
        </p:txBody>
      </p:sp>
      <p:sp>
        <p:nvSpPr>
          <p:cNvPr id="23" name="椭圆 22"/>
          <p:cNvSpPr/>
          <p:nvPr/>
        </p:nvSpPr>
        <p:spPr>
          <a:xfrm>
            <a:off x="11364595" y="6797675"/>
            <a:ext cx="1915795" cy="1915795"/>
          </a:xfrm>
          <a:prstGeom prst="ellipse">
            <a:avLst/>
          </a:prstGeom>
          <a:solidFill>
            <a:srgbClr val="F9BF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C000"/>
              </a:solidFill>
            </a:endParaRPr>
          </a:p>
        </p:txBody>
      </p:sp>
      <p:sp>
        <p:nvSpPr>
          <p:cNvPr id="24" name="文本框 23"/>
          <p:cNvSpPr txBox="1"/>
          <p:nvPr/>
        </p:nvSpPr>
        <p:spPr>
          <a:xfrm>
            <a:off x="11980545" y="7254875"/>
            <a:ext cx="849630" cy="1198880"/>
          </a:xfrm>
          <a:prstGeom prst="rect">
            <a:avLst/>
          </a:prstGeom>
          <a:noFill/>
        </p:spPr>
        <p:txBody>
          <a:bodyPr wrap="square" rtlCol="0">
            <a:spAutoFit/>
          </a:bodyPr>
          <a:p>
            <a:r>
              <a:rPr lang="en-US" altLang="zh-CN" sz="7200" b="1"/>
              <a:t>T</a:t>
            </a:r>
            <a:endParaRPr lang="en-US" altLang="zh-CN" sz="7200" b="1"/>
          </a:p>
        </p:txBody>
      </p:sp>
      <p:sp>
        <p:nvSpPr>
          <p:cNvPr id="26" name="圆角矩形 25"/>
          <p:cNvSpPr/>
          <p:nvPr/>
        </p:nvSpPr>
        <p:spPr>
          <a:xfrm>
            <a:off x="450850" y="1844675"/>
            <a:ext cx="5867400" cy="3657600"/>
          </a:xfrm>
          <a:prstGeom prst="roundRect">
            <a:avLst/>
          </a:prstGeom>
          <a:solidFill>
            <a:srgbClr val="FFEFC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圆角矩形 26"/>
          <p:cNvSpPr/>
          <p:nvPr/>
        </p:nvSpPr>
        <p:spPr>
          <a:xfrm>
            <a:off x="13862050" y="1834515"/>
            <a:ext cx="5867400" cy="3657600"/>
          </a:xfrm>
          <a:prstGeom prst="roundRect">
            <a:avLst/>
          </a:prstGeom>
          <a:solidFill>
            <a:srgbClr val="FFEFC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descr="2-05"/>
          <p:cNvPicPr>
            <a:picLocks noChangeAspect="1"/>
          </p:cNvPicPr>
          <p:nvPr/>
        </p:nvPicPr>
        <p:blipFill>
          <a:blip r:embed="rId2"/>
          <a:srcRect t="10175"/>
          <a:stretch>
            <a:fillRect/>
          </a:stretch>
        </p:blipFill>
        <p:spPr>
          <a:xfrm>
            <a:off x="-6350" y="1082675"/>
            <a:ext cx="20147280" cy="103028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3931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rPr>
              <a:t>市场分析</a:t>
            </a:r>
            <a:endPar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用户</a:t>
            </a:r>
            <a:r>
              <a:rPr lang="zh-CN" altLang="en-US" sz="3200" b="0" spc="-10" dirty="0">
                <a:solidFill>
                  <a:srgbClr val="8E9192"/>
                </a:solidFill>
                <a:latin typeface="新愚公和谐宋-S" charset="-122"/>
                <a:ea typeface="新愚公和谐宋-S" charset="-122"/>
                <a:cs typeface="Arial" panose="020B0604020202020204"/>
              </a:rPr>
              <a:t>分析</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7</a:t>
            </a:r>
            <a:endParaRPr lang="en-US" altLang="en-US" sz="1800" b="1" spc="55" dirty="0">
              <a:solidFill>
                <a:srgbClr val="000204"/>
              </a:solidFill>
              <a:latin typeface="Arial" panose="020B0604020202020204"/>
              <a:cs typeface="Arial" panose="020B0604020202020204"/>
            </a:endParaRPr>
          </a:p>
        </p:txBody>
      </p:sp>
      <p:sp>
        <p:nvSpPr>
          <p:cNvPr id="4" name="椭圆 3"/>
          <p:cNvSpPr/>
          <p:nvPr/>
        </p:nvSpPr>
        <p:spPr>
          <a:xfrm>
            <a:off x="7080250" y="2759075"/>
            <a:ext cx="5867400" cy="5867400"/>
          </a:xfrm>
          <a:prstGeom prst="ellipse">
            <a:avLst/>
          </a:prstGeom>
          <a:solidFill>
            <a:srgbClr val="FFEFC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C000"/>
              </a:solidFill>
            </a:endParaRPr>
          </a:p>
        </p:txBody>
      </p:sp>
      <p:sp>
        <p:nvSpPr>
          <p:cNvPr id="5" name="椭圆 4"/>
          <p:cNvSpPr/>
          <p:nvPr/>
        </p:nvSpPr>
        <p:spPr>
          <a:xfrm>
            <a:off x="8223250" y="3902075"/>
            <a:ext cx="3505200" cy="3505200"/>
          </a:xfrm>
          <a:prstGeom prst="ellipse">
            <a:avLst/>
          </a:prstGeom>
          <a:solidFill>
            <a:srgbClr val="FCD38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C000"/>
              </a:solidFill>
            </a:endParaRPr>
          </a:p>
        </p:txBody>
      </p:sp>
      <p:sp>
        <p:nvSpPr>
          <p:cNvPr id="6" name="文本框 5"/>
          <p:cNvSpPr txBox="1"/>
          <p:nvPr/>
        </p:nvSpPr>
        <p:spPr>
          <a:xfrm>
            <a:off x="8535035" y="5045075"/>
            <a:ext cx="3016250" cy="1198880"/>
          </a:xfrm>
          <a:prstGeom prst="rect">
            <a:avLst/>
          </a:prstGeom>
          <a:noFill/>
        </p:spPr>
        <p:txBody>
          <a:bodyPr wrap="square" rtlCol="0">
            <a:spAutoFit/>
          </a:bodyPr>
          <a:p>
            <a:r>
              <a:rPr lang="en-US" altLang="zh-CN" sz="7200" b="1"/>
              <a:t>SWOT</a:t>
            </a:r>
            <a:endParaRPr lang="en-US" altLang="zh-CN" sz="7200" b="1"/>
          </a:p>
        </p:txBody>
      </p:sp>
      <p:pic>
        <p:nvPicPr>
          <p:cNvPr id="7" name="图片 6" descr="2-06"/>
          <p:cNvPicPr>
            <a:picLocks noChangeAspect="1"/>
          </p:cNvPicPr>
          <p:nvPr/>
        </p:nvPicPr>
        <p:blipFill>
          <a:blip r:embed="rId2"/>
          <a:srcRect t="10969"/>
          <a:stretch>
            <a:fillRect/>
          </a:stretch>
        </p:blipFill>
        <p:spPr>
          <a:xfrm>
            <a:off x="0" y="1165225"/>
            <a:ext cx="20104100" cy="101434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0"/>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rPr>
              <a:t>市场分析</a:t>
            </a:r>
            <a:endParaRPr lang="zh-CN" altLang="en-US" sz="3200" b="1" u="sng" spc="-10" dirty="0">
              <a:solidFill>
                <a:srgbClr val="231F20"/>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用户</a:t>
            </a:r>
            <a:r>
              <a:rPr lang="zh-CN" altLang="en-US" sz="3200" b="0" spc="-10" dirty="0">
                <a:solidFill>
                  <a:srgbClr val="8E9192"/>
                </a:solidFill>
                <a:latin typeface="新愚公和谐宋-S" charset="-122"/>
                <a:ea typeface="新愚公和谐宋-S" charset="-122"/>
                <a:cs typeface="Arial" panose="020B0604020202020204"/>
              </a:rPr>
              <a:t>分析</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8</a:t>
            </a:r>
            <a:endParaRPr lang="en-US" altLang="en-US" sz="1800" b="1" spc="55" dirty="0">
              <a:solidFill>
                <a:srgbClr val="000204"/>
              </a:solidFill>
              <a:latin typeface="Arial" panose="020B0604020202020204"/>
              <a:cs typeface="Arial" panose="020B0604020202020204"/>
            </a:endParaRPr>
          </a:p>
        </p:txBody>
      </p:sp>
      <p:sp>
        <p:nvSpPr>
          <p:cNvPr id="3" name="文本框 2"/>
          <p:cNvSpPr txBox="1"/>
          <p:nvPr/>
        </p:nvSpPr>
        <p:spPr>
          <a:xfrm>
            <a:off x="603250" y="1387475"/>
            <a:ext cx="4882515" cy="737235"/>
          </a:xfrm>
          <a:prstGeom prst="rect">
            <a:avLst/>
          </a:prstGeom>
          <a:noFill/>
        </p:spPr>
        <p:txBody>
          <a:bodyPr wrap="square" rtlCol="0">
            <a:spAutoFit/>
          </a:bodyPr>
          <a:p>
            <a:r>
              <a:rPr lang="zh-CN" altLang="en-US" sz="4200" u="none" strike="noStrike" kern="0" cap="none" spc="0" normalizeH="0">
                <a:solidFill>
                  <a:srgbClr val="343435"/>
                </a:solidFill>
                <a:latin typeface="新愚公和谐宋-S" charset="-122"/>
                <a:ea typeface="新愚公和谐宋-S" charset="-122"/>
              </a:rPr>
              <a:t>竞品分析：</a:t>
            </a:r>
            <a:endParaRPr lang="zh-CN" altLang="en-US" sz="4200" u="none" strike="noStrike" kern="0" cap="none" spc="0" normalizeH="0">
              <a:solidFill>
                <a:srgbClr val="343435"/>
              </a:solidFill>
              <a:latin typeface="新愚公和谐宋-S" charset="-122"/>
              <a:ea typeface="新愚公和谐宋-S" charset="-122"/>
            </a:endParaRPr>
          </a:p>
        </p:txBody>
      </p:sp>
      <p:cxnSp>
        <p:nvCxnSpPr>
          <p:cNvPr id="4" name="直接连接符 3"/>
          <p:cNvCxnSpPr/>
          <p:nvPr/>
        </p:nvCxnSpPr>
        <p:spPr>
          <a:xfrm>
            <a:off x="588645" y="4664075"/>
            <a:ext cx="19020155" cy="0"/>
          </a:xfrm>
          <a:prstGeom prst="line">
            <a:avLst/>
          </a:prstGeom>
          <a:ln>
            <a:solidFill>
              <a:srgbClr val="343435"/>
            </a:solidFill>
          </a:ln>
        </p:spPr>
        <p:style>
          <a:lnRef idx="2">
            <a:schemeClr val="accent1"/>
          </a:lnRef>
          <a:fillRef idx="0">
            <a:srgbClr val="FFFFFF"/>
          </a:fillRef>
          <a:effectRef idx="0">
            <a:srgbClr val="FFFFFF"/>
          </a:effectRef>
          <a:fontRef idx="minor">
            <a:schemeClr val="tx1"/>
          </a:fontRef>
        </p:style>
      </p:cxnSp>
      <p:pic>
        <p:nvPicPr>
          <p:cNvPr id="5" name="图片 4" descr="移动"/>
          <p:cNvPicPr>
            <a:picLocks noChangeAspect="1"/>
          </p:cNvPicPr>
          <p:nvPr/>
        </p:nvPicPr>
        <p:blipFill>
          <a:blip r:embed="rId2"/>
          <a:srcRect t="16895" b="27911"/>
          <a:stretch>
            <a:fillRect/>
          </a:stretch>
        </p:blipFill>
        <p:spPr>
          <a:xfrm>
            <a:off x="2795905" y="5273675"/>
            <a:ext cx="1218565" cy="951230"/>
          </a:xfrm>
          <a:prstGeom prst="rect">
            <a:avLst/>
          </a:prstGeom>
        </p:spPr>
      </p:pic>
      <p:pic>
        <p:nvPicPr>
          <p:cNvPr id="6" name="图片 5" descr="D:/19307（2）/桌面2/电信.png电信"/>
          <p:cNvPicPr>
            <a:picLocks noChangeAspect="1"/>
          </p:cNvPicPr>
          <p:nvPr/>
        </p:nvPicPr>
        <p:blipFill>
          <a:blip r:embed="rId3"/>
          <a:srcRect t="22405" b="22426"/>
          <a:stretch>
            <a:fillRect/>
          </a:stretch>
        </p:blipFill>
        <p:spPr>
          <a:xfrm>
            <a:off x="2813050" y="3715385"/>
            <a:ext cx="1201420" cy="937895"/>
          </a:xfrm>
          <a:prstGeom prst="rect">
            <a:avLst/>
          </a:prstGeom>
        </p:spPr>
      </p:pic>
      <p:sp>
        <p:nvSpPr>
          <p:cNvPr id="10" name="TextBox 14"/>
          <p:cNvSpPr txBox="1"/>
          <p:nvPr/>
        </p:nvSpPr>
        <p:spPr>
          <a:xfrm>
            <a:off x="984123" y="2454306"/>
            <a:ext cx="1425797" cy="417861"/>
          </a:xfrm>
          <a:prstGeom prst="rect">
            <a:avLst/>
          </a:prstGeom>
          <a:noFill/>
        </p:spPr>
        <p:txBody>
          <a:bodyPr wrap="none" lIns="0" tIns="0" rIns="0" bIns="0"/>
          <a:lstStyle/>
          <a:p>
            <a:pPr algn="just">
              <a:lnSpc>
                <a:spcPct val="122000"/>
              </a:lnSpc>
              <a:spcBef>
                <a:spcPts val="0"/>
              </a:spcBef>
              <a:spcAft>
                <a:spcPts val="0"/>
              </a:spcAft>
            </a:pPr>
            <a:r>
              <a:rPr lang="zh-CN" altLang="en-US" sz="2800" b="1" i="0">
                <a:solidFill>
                  <a:schemeClr val="tx1"/>
                </a:solidFill>
                <a:latin typeface="微软雅黑" panose="020B0503020204020204" charset="-122"/>
                <a:ea typeface="微软雅黑" panose="020B0503020204020204" charset="-122"/>
              </a:rPr>
              <a:t>竞品</a:t>
            </a:r>
            <a:r>
              <a:rPr lang="zh-CN" altLang="en-US" sz="2800" b="1" i="0">
                <a:solidFill>
                  <a:schemeClr val="tx1"/>
                </a:solidFill>
                <a:latin typeface="微软雅黑" panose="020B0503020204020204" charset="-122"/>
                <a:ea typeface="微软雅黑" panose="020B0503020204020204" charset="-122"/>
              </a:rPr>
              <a:t>类型</a:t>
            </a:r>
            <a:endParaRPr lang="zh-CN" altLang="en-US" sz="2800" b="1" i="0">
              <a:solidFill>
                <a:schemeClr val="tx1"/>
              </a:solidFill>
              <a:latin typeface="微软雅黑" panose="020B0503020204020204" charset="-122"/>
              <a:ea typeface="微软雅黑" panose="020B0503020204020204" charset="-122"/>
            </a:endParaRPr>
          </a:p>
        </p:txBody>
      </p:sp>
      <p:sp>
        <p:nvSpPr>
          <p:cNvPr id="9" name="TextBox 14"/>
          <p:cNvSpPr txBox="1"/>
          <p:nvPr/>
        </p:nvSpPr>
        <p:spPr>
          <a:xfrm>
            <a:off x="3346323" y="2454306"/>
            <a:ext cx="1425797" cy="417861"/>
          </a:xfrm>
          <a:prstGeom prst="rect">
            <a:avLst/>
          </a:prstGeom>
          <a:noFill/>
        </p:spPr>
        <p:txBody>
          <a:bodyPr wrap="none" lIns="0" tIns="0" rIns="0" bIns="0"/>
          <a:lstStyle/>
          <a:p>
            <a:pPr algn="just">
              <a:lnSpc>
                <a:spcPct val="122000"/>
              </a:lnSpc>
              <a:spcBef>
                <a:spcPts val="0"/>
              </a:spcBef>
              <a:spcAft>
                <a:spcPts val="0"/>
              </a:spcAft>
            </a:pPr>
            <a:r>
              <a:rPr lang="zh-CN" altLang="en-US" sz="2800" b="1" i="0">
                <a:solidFill>
                  <a:schemeClr val="tx1"/>
                </a:solidFill>
                <a:latin typeface="微软雅黑" panose="020B0503020204020204" charset="-122"/>
                <a:ea typeface="微软雅黑" panose="020B0503020204020204" charset="-122"/>
              </a:rPr>
              <a:t>代表</a:t>
            </a:r>
            <a:r>
              <a:rPr lang="zh-CN" altLang="en-US" sz="2800" b="1" i="0">
                <a:solidFill>
                  <a:schemeClr val="tx1"/>
                </a:solidFill>
                <a:latin typeface="微软雅黑" panose="020B0503020204020204" charset="-122"/>
                <a:ea typeface="微软雅黑" panose="020B0503020204020204" charset="-122"/>
              </a:rPr>
              <a:t>品牌</a:t>
            </a:r>
            <a:endParaRPr lang="zh-CN" altLang="en-US" sz="2800" b="1" i="0">
              <a:solidFill>
                <a:schemeClr val="tx1"/>
              </a:solidFill>
              <a:latin typeface="微软雅黑" panose="020B0503020204020204" charset="-122"/>
              <a:ea typeface="微软雅黑" panose="020B0503020204020204" charset="-122"/>
            </a:endParaRPr>
          </a:p>
        </p:txBody>
      </p:sp>
      <p:sp>
        <p:nvSpPr>
          <p:cNvPr id="11" name="TextBox 14"/>
          <p:cNvSpPr txBox="1"/>
          <p:nvPr/>
        </p:nvSpPr>
        <p:spPr>
          <a:xfrm>
            <a:off x="6699123" y="2454306"/>
            <a:ext cx="1425797" cy="417861"/>
          </a:xfrm>
          <a:prstGeom prst="rect">
            <a:avLst/>
          </a:prstGeom>
          <a:noFill/>
        </p:spPr>
        <p:txBody>
          <a:bodyPr wrap="none" lIns="0" tIns="0" rIns="0" bIns="0"/>
          <a:lstStyle/>
          <a:p>
            <a:pPr algn="just">
              <a:lnSpc>
                <a:spcPct val="122000"/>
              </a:lnSpc>
              <a:spcBef>
                <a:spcPts val="0"/>
              </a:spcBef>
              <a:spcAft>
                <a:spcPts val="0"/>
              </a:spcAft>
            </a:pPr>
            <a:r>
              <a:rPr lang="zh-CN" altLang="en-US" sz="2800" b="1" i="0">
                <a:solidFill>
                  <a:schemeClr val="tx1"/>
                </a:solidFill>
                <a:latin typeface="微软雅黑" panose="020B0503020204020204" charset="-122"/>
                <a:ea typeface="微软雅黑" panose="020B0503020204020204" charset="-122"/>
              </a:rPr>
              <a:t>官方文创模式</a:t>
            </a:r>
            <a:endParaRPr lang="zh-CN" altLang="en-US" sz="2800" b="1" i="0">
              <a:solidFill>
                <a:schemeClr val="tx1"/>
              </a:solidFill>
              <a:latin typeface="微软雅黑" panose="020B0503020204020204" charset="-122"/>
              <a:ea typeface="微软雅黑" panose="020B0503020204020204" charset="-122"/>
            </a:endParaRPr>
          </a:p>
        </p:txBody>
      </p:sp>
      <p:sp>
        <p:nvSpPr>
          <p:cNvPr id="16" name="TextBox 14"/>
          <p:cNvSpPr txBox="1"/>
          <p:nvPr/>
        </p:nvSpPr>
        <p:spPr>
          <a:xfrm>
            <a:off x="14014323" y="2454306"/>
            <a:ext cx="1425797" cy="417861"/>
          </a:xfrm>
          <a:prstGeom prst="rect">
            <a:avLst/>
          </a:prstGeom>
          <a:noFill/>
        </p:spPr>
        <p:txBody>
          <a:bodyPr wrap="none" lIns="0" tIns="0" rIns="0" bIns="0"/>
          <a:lstStyle/>
          <a:p>
            <a:pPr algn="just">
              <a:lnSpc>
                <a:spcPct val="122000"/>
              </a:lnSpc>
              <a:spcBef>
                <a:spcPts val="0"/>
              </a:spcBef>
              <a:spcAft>
                <a:spcPts val="0"/>
              </a:spcAft>
            </a:pPr>
            <a:r>
              <a:rPr lang="zh-CN" altLang="en-US" sz="2800" b="1" i="0">
                <a:solidFill>
                  <a:schemeClr val="tx1"/>
                </a:solidFill>
                <a:latin typeface="微软雅黑" panose="020B0503020204020204" charset="-122"/>
                <a:ea typeface="微软雅黑" panose="020B0503020204020204" charset="-122"/>
              </a:rPr>
              <a:t>核心短板</a:t>
            </a:r>
            <a:endParaRPr lang="zh-CN" altLang="en-US" sz="2800" b="1" i="0">
              <a:solidFill>
                <a:schemeClr val="tx1"/>
              </a:solidFill>
              <a:latin typeface="微软雅黑" panose="020B0503020204020204" charset="-122"/>
              <a:ea typeface="微软雅黑" panose="020B0503020204020204" charset="-122"/>
            </a:endParaRPr>
          </a:p>
        </p:txBody>
      </p:sp>
      <p:sp>
        <p:nvSpPr>
          <p:cNvPr id="56" name="文本框 55"/>
          <p:cNvSpPr txBox="1"/>
          <p:nvPr>
            <p:custDataLst>
              <p:tags r:id="rId4"/>
            </p:custDataLst>
          </p:nvPr>
        </p:nvSpPr>
        <p:spPr>
          <a:xfrm>
            <a:off x="756920" y="4206875"/>
            <a:ext cx="2384425" cy="491490"/>
          </a:xfrm>
          <a:prstGeom prst="rect">
            <a:avLst/>
          </a:prstGeom>
          <a:noFill/>
        </p:spPr>
        <p:txBody>
          <a:bodyPr wrap="square" rtlCol="0">
            <a:spAutoFit/>
          </a:bodyPr>
          <a:p>
            <a:r>
              <a:rPr lang="zh-CN" altLang="en-US" sz="2600" u="none" strike="noStrike" kern="0" cap="none" spc="0" normalizeH="0">
                <a:solidFill>
                  <a:srgbClr val="343435"/>
                </a:solidFill>
                <a:latin typeface="新愚公和谐宋-S" charset="-122"/>
                <a:ea typeface="新愚公和谐宋-S" charset="-122"/>
              </a:rPr>
              <a:t>运营商竞品</a:t>
            </a:r>
            <a:endParaRPr lang="zh-CN" altLang="en-US" sz="2600" u="none" strike="noStrike" kern="0" cap="none" spc="0" normalizeH="0">
              <a:solidFill>
                <a:srgbClr val="343435"/>
              </a:solidFill>
              <a:latin typeface="新愚公和谐宋-S" charset="-122"/>
              <a:ea typeface="新愚公和谐宋-S" charset="-122"/>
            </a:endParaRPr>
          </a:p>
        </p:txBody>
      </p:sp>
      <p:sp>
        <p:nvSpPr>
          <p:cNvPr id="17" name="文本框 16"/>
          <p:cNvSpPr txBox="1"/>
          <p:nvPr>
            <p:custDataLst>
              <p:tags r:id="rId5"/>
            </p:custDataLst>
          </p:nvPr>
        </p:nvSpPr>
        <p:spPr>
          <a:xfrm>
            <a:off x="756920" y="5807075"/>
            <a:ext cx="2384425" cy="491490"/>
          </a:xfrm>
          <a:prstGeom prst="rect">
            <a:avLst/>
          </a:prstGeom>
          <a:noFill/>
        </p:spPr>
        <p:txBody>
          <a:bodyPr wrap="square" rtlCol="0">
            <a:spAutoFit/>
          </a:bodyPr>
          <a:p>
            <a:r>
              <a:rPr lang="zh-CN" altLang="en-US" sz="2600" u="none" strike="noStrike" kern="0" cap="none" spc="0" normalizeH="0">
                <a:solidFill>
                  <a:srgbClr val="343435"/>
                </a:solidFill>
                <a:latin typeface="新愚公和谐宋-S" charset="-122"/>
                <a:ea typeface="新愚公和谐宋-S" charset="-122"/>
              </a:rPr>
              <a:t>运营商竞品</a:t>
            </a:r>
            <a:endParaRPr lang="zh-CN" altLang="en-US" sz="2600" u="none" strike="noStrike" kern="0" cap="none" spc="0" normalizeH="0">
              <a:solidFill>
                <a:srgbClr val="343435"/>
              </a:solidFill>
              <a:latin typeface="新愚公和谐宋-S" charset="-122"/>
              <a:ea typeface="新愚公和谐宋-S" charset="-122"/>
            </a:endParaRPr>
          </a:p>
        </p:txBody>
      </p:sp>
      <p:sp>
        <p:nvSpPr>
          <p:cNvPr id="21" name="文本框 20"/>
          <p:cNvSpPr txBox="1"/>
          <p:nvPr>
            <p:custDataLst>
              <p:tags r:id="rId6"/>
            </p:custDataLst>
          </p:nvPr>
        </p:nvSpPr>
        <p:spPr>
          <a:xfrm>
            <a:off x="694055" y="7279640"/>
            <a:ext cx="2384425" cy="491490"/>
          </a:xfrm>
          <a:prstGeom prst="rect">
            <a:avLst/>
          </a:prstGeom>
          <a:noFill/>
        </p:spPr>
        <p:txBody>
          <a:bodyPr wrap="square" rtlCol="0">
            <a:spAutoFit/>
          </a:bodyPr>
          <a:p>
            <a:pPr algn="ctr"/>
            <a:r>
              <a:rPr lang="zh-CN" altLang="en-US" sz="2600" u="none" strike="noStrike" kern="0" cap="none" spc="0" normalizeH="0">
                <a:solidFill>
                  <a:srgbClr val="343435"/>
                </a:solidFill>
                <a:latin typeface="新愚公和谐宋-S" charset="-122"/>
                <a:ea typeface="新愚公和谐宋-S" charset="-122"/>
              </a:rPr>
              <a:t>文博竞品</a:t>
            </a:r>
            <a:endParaRPr lang="zh-CN" altLang="en-US" sz="2600" u="none" strike="noStrike" kern="0" cap="none" spc="0" normalizeH="0">
              <a:solidFill>
                <a:srgbClr val="343435"/>
              </a:solidFill>
              <a:latin typeface="新愚公和谐宋-S" charset="-122"/>
              <a:ea typeface="新愚公和谐宋-S" charset="-122"/>
            </a:endParaRPr>
          </a:p>
        </p:txBody>
      </p:sp>
      <p:sp>
        <p:nvSpPr>
          <p:cNvPr id="22" name="文本框 21"/>
          <p:cNvSpPr txBox="1"/>
          <p:nvPr>
            <p:custDataLst>
              <p:tags r:id="rId7"/>
            </p:custDataLst>
          </p:nvPr>
        </p:nvSpPr>
        <p:spPr>
          <a:xfrm>
            <a:off x="3803650" y="4282440"/>
            <a:ext cx="2384425" cy="429895"/>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中国电信</a:t>
            </a:r>
            <a:endParaRPr lang="zh-CN" altLang="en-US" sz="2200" u="none" strike="noStrike" kern="0" cap="none" spc="0" normalizeH="0">
              <a:solidFill>
                <a:srgbClr val="343435"/>
              </a:solidFill>
              <a:latin typeface="新愚公和谐宋-S" charset="-122"/>
              <a:ea typeface="新愚公和谐宋-S" charset="-122"/>
            </a:endParaRPr>
          </a:p>
        </p:txBody>
      </p:sp>
      <p:sp>
        <p:nvSpPr>
          <p:cNvPr id="24" name="文本框 23"/>
          <p:cNvSpPr txBox="1"/>
          <p:nvPr>
            <p:custDataLst>
              <p:tags r:id="rId8"/>
            </p:custDataLst>
          </p:nvPr>
        </p:nvSpPr>
        <p:spPr>
          <a:xfrm>
            <a:off x="694690" y="9641205"/>
            <a:ext cx="2384425" cy="491490"/>
          </a:xfrm>
          <a:prstGeom prst="rect">
            <a:avLst/>
          </a:prstGeom>
          <a:noFill/>
        </p:spPr>
        <p:txBody>
          <a:bodyPr wrap="square" rtlCol="0">
            <a:spAutoFit/>
          </a:bodyPr>
          <a:p>
            <a:pPr algn="ctr"/>
            <a:r>
              <a:rPr lang="zh-CN" altLang="en-US" sz="2600" u="none" strike="noStrike" kern="0" cap="none" spc="0" normalizeH="0">
                <a:solidFill>
                  <a:srgbClr val="343435"/>
                </a:solidFill>
                <a:latin typeface="新愚公和谐宋-S" charset="-122"/>
                <a:ea typeface="新愚公和谐宋-S" charset="-122"/>
              </a:rPr>
              <a:t>文博竞品</a:t>
            </a:r>
            <a:endParaRPr lang="zh-CN" altLang="en-US" sz="2600" u="none" strike="noStrike" kern="0" cap="none" spc="0" normalizeH="0">
              <a:solidFill>
                <a:srgbClr val="343435"/>
              </a:solidFill>
              <a:latin typeface="新愚公和谐宋-S" charset="-122"/>
              <a:ea typeface="新愚公和谐宋-S" charset="-122"/>
            </a:endParaRPr>
          </a:p>
        </p:txBody>
      </p:sp>
      <p:sp>
        <p:nvSpPr>
          <p:cNvPr id="26" name="文本框 25"/>
          <p:cNvSpPr txBox="1"/>
          <p:nvPr>
            <p:custDataLst>
              <p:tags r:id="rId9"/>
            </p:custDataLst>
          </p:nvPr>
        </p:nvSpPr>
        <p:spPr>
          <a:xfrm>
            <a:off x="3817620" y="5878195"/>
            <a:ext cx="2384425" cy="429895"/>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中国</a:t>
            </a:r>
            <a:r>
              <a:rPr lang="zh-CN" altLang="en-US" sz="2200" u="none" strike="noStrike" kern="0" cap="none" spc="0" normalizeH="0">
                <a:solidFill>
                  <a:srgbClr val="343435"/>
                </a:solidFill>
                <a:latin typeface="新愚公和谐宋-S" charset="-122"/>
                <a:ea typeface="新愚公和谐宋-S" charset="-122"/>
              </a:rPr>
              <a:t>移动</a:t>
            </a:r>
            <a:endParaRPr lang="zh-CN" altLang="en-US" sz="2200" u="none" strike="noStrike" kern="0" cap="none" spc="0" normalizeH="0">
              <a:solidFill>
                <a:srgbClr val="343435"/>
              </a:solidFill>
              <a:latin typeface="新愚公和谐宋-S" charset="-122"/>
              <a:ea typeface="新愚公和谐宋-S" charset="-122"/>
            </a:endParaRPr>
          </a:p>
        </p:txBody>
      </p:sp>
      <p:sp>
        <p:nvSpPr>
          <p:cNvPr id="27" name="文本框 26"/>
          <p:cNvSpPr txBox="1"/>
          <p:nvPr>
            <p:custDataLst>
              <p:tags r:id="rId10"/>
            </p:custDataLst>
          </p:nvPr>
        </p:nvSpPr>
        <p:spPr>
          <a:xfrm>
            <a:off x="3092450" y="7331075"/>
            <a:ext cx="2384425" cy="429895"/>
          </a:xfrm>
          <a:prstGeom prst="rect">
            <a:avLst/>
          </a:prstGeom>
          <a:noFill/>
        </p:spPr>
        <p:txBody>
          <a:bodyPr wrap="square" rtlCol="0">
            <a:spAutoFit/>
          </a:bodyPr>
          <a:p>
            <a:pPr algn="ctr"/>
            <a:r>
              <a:rPr lang="zh-CN" altLang="en-US" sz="2200" u="none" strike="noStrike" kern="0" cap="none" spc="0" normalizeH="0">
                <a:solidFill>
                  <a:srgbClr val="343435"/>
                </a:solidFill>
                <a:latin typeface="新愚公和谐宋-S" charset="-122"/>
                <a:ea typeface="新愚公和谐宋-S" charset="-122"/>
              </a:rPr>
              <a:t>故宫</a:t>
            </a:r>
            <a:r>
              <a:rPr lang="zh-CN" altLang="en-US" sz="2200" u="none" strike="noStrike" kern="0" cap="none" spc="0" normalizeH="0">
                <a:solidFill>
                  <a:srgbClr val="343435"/>
                </a:solidFill>
                <a:latin typeface="新愚公和谐宋-S" charset="-122"/>
                <a:ea typeface="新愚公和谐宋-S" charset="-122"/>
              </a:rPr>
              <a:t>博物院</a:t>
            </a:r>
            <a:endParaRPr lang="zh-CN" altLang="en-US" sz="2200" u="none" strike="noStrike" kern="0" cap="none" spc="0" normalizeH="0">
              <a:solidFill>
                <a:srgbClr val="343435"/>
              </a:solidFill>
              <a:latin typeface="新愚公和谐宋-S" charset="-122"/>
              <a:ea typeface="新愚公和谐宋-S" charset="-122"/>
            </a:endParaRPr>
          </a:p>
        </p:txBody>
      </p:sp>
      <p:cxnSp>
        <p:nvCxnSpPr>
          <p:cNvPr id="28" name="直接连接符 27"/>
          <p:cNvCxnSpPr/>
          <p:nvPr/>
        </p:nvCxnSpPr>
        <p:spPr>
          <a:xfrm>
            <a:off x="5567680" y="2682875"/>
            <a:ext cx="0" cy="8103235"/>
          </a:xfrm>
          <a:prstGeom prst="line">
            <a:avLst/>
          </a:prstGeom>
          <a:ln>
            <a:solidFill>
              <a:srgbClr val="231F20"/>
            </a:solidFill>
          </a:ln>
        </p:spPr>
        <p:style>
          <a:lnRef idx="2">
            <a:schemeClr val="accent1"/>
          </a:lnRef>
          <a:fillRef idx="0">
            <a:srgbClr val="FFFFFF"/>
          </a:fillRef>
          <a:effectRef idx="0">
            <a:srgbClr val="FFFFFF"/>
          </a:effectRef>
          <a:fontRef idx="minor">
            <a:schemeClr val="tx1"/>
          </a:fontRef>
        </p:style>
      </p:cxnSp>
      <p:sp>
        <p:nvSpPr>
          <p:cNvPr id="29" name="文本框 28"/>
          <p:cNvSpPr txBox="1"/>
          <p:nvPr>
            <p:custDataLst>
              <p:tags r:id="rId11"/>
            </p:custDataLst>
          </p:nvPr>
        </p:nvSpPr>
        <p:spPr>
          <a:xfrm>
            <a:off x="3093085" y="9717405"/>
            <a:ext cx="2384425" cy="429895"/>
          </a:xfrm>
          <a:prstGeom prst="rect">
            <a:avLst/>
          </a:prstGeom>
          <a:noFill/>
        </p:spPr>
        <p:txBody>
          <a:bodyPr wrap="square" rtlCol="0">
            <a:spAutoFit/>
          </a:bodyPr>
          <a:p>
            <a:pPr algn="ctr"/>
            <a:r>
              <a:rPr lang="zh-CN" altLang="en-US" sz="2200" u="none" strike="noStrike" kern="0" cap="none" spc="0" normalizeH="0">
                <a:solidFill>
                  <a:srgbClr val="343435"/>
                </a:solidFill>
                <a:latin typeface="新愚公和谐宋-S" charset="-122"/>
                <a:ea typeface="新愚公和谐宋-S" charset="-122"/>
              </a:rPr>
              <a:t>敦煌研究院</a:t>
            </a:r>
            <a:endParaRPr lang="zh-CN" altLang="en-US" sz="2200" u="none" strike="noStrike" kern="0" cap="none" spc="0" normalizeH="0">
              <a:solidFill>
                <a:srgbClr val="343435"/>
              </a:solidFill>
              <a:latin typeface="新愚公和谐宋-S" charset="-122"/>
              <a:ea typeface="新愚公和谐宋-S" charset="-122"/>
            </a:endParaRPr>
          </a:p>
        </p:txBody>
      </p:sp>
      <p:sp>
        <p:nvSpPr>
          <p:cNvPr id="30" name="文本框 29"/>
          <p:cNvSpPr txBox="1"/>
          <p:nvPr>
            <p:custDataLst>
              <p:tags r:id="rId12"/>
            </p:custDataLst>
          </p:nvPr>
        </p:nvSpPr>
        <p:spPr>
          <a:xfrm>
            <a:off x="5723890" y="4206875"/>
            <a:ext cx="4257675" cy="429895"/>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非遗</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航天</a:t>
            </a:r>
            <a:r>
              <a:rPr lang="en-US" altLang="zh-CN" sz="2200" u="none" strike="noStrike" kern="0" cap="none" spc="0" normalizeH="0">
                <a:solidFill>
                  <a:srgbClr val="343435"/>
                </a:solidFill>
                <a:latin typeface="新愚公和谐宋-S" charset="-122"/>
                <a:ea typeface="新愚公和谐宋-S" charset="-122"/>
              </a:rPr>
              <a:t>IP</a:t>
            </a:r>
            <a:r>
              <a:rPr lang="zh-CN" altLang="en-US" sz="2200" u="none" strike="noStrike" kern="0" cap="none" spc="0" normalizeH="0">
                <a:solidFill>
                  <a:srgbClr val="343435"/>
                </a:solidFill>
                <a:latin typeface="新愚公和谐宋-S" charset="-122"/>
                <a:ea typeface="新愚公和谐宋-S" charset="-122"/>
              </a:rPr>
              <a:t>联名</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政企礼品渠道</a:t>
            </a:r>
            <a:endParaRPr lang="zh-CN" altLang="en-US" sz="2200" u="none" strike="noStrike" kern="0" cap="none" spc="0" normalizeH="0">
              <a:solidFill>
                <a:srgbClr val="343435"/>
              </a:solidFill>
              <a:latin typeface="新愚公和谐宋-S" charset="-122"/>
              <a:ea typeface="新愚公和谐宋-S" charset="-122"/>
            </a:endParaRPr>
          </a:p>
        </p:txBody>
      </p:sp>
      <p:sp>
        <p:nvSpPr>
          <p:cNvPr id="31" name="文本框 30"/>
          <p:cNvSpPr txBox="1"/>
          <p:nvPr>
            <p:custDataLst>
              <p:tags r:id="rId13"/>
            </p:custDataLst>
          </p:nvPr>
        </p:nvSpPr>
        <p:spPr>
          <a:xfrm>
            <a:off x="5784850" y="5513705"/>
            <a:ext cx="4257675" cy="768350"/>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国宝</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非遗短期联名</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话费套餐捆绑</a:t>
            </a:r>
            <a:endParaRPr lang="zh-CN" altLang="en-US" sz="2200" u="none" strike="noStrike" kern="0" cap="none" spc="0" normalizeH="0">
              <a:solidFill>
                <a:srgbClr val="343435"/>
              </a:solidFill>
              <a:latin typeface="新愚公和谐宋-S" charset="-122"/>
              <a:ea typeface="新愚公和谐宋-S" charset="-122"/>
            </a:endParaRPr>
          </a:p>
        </p:txBody>
      </p:sp>
      <p:sp>
        <p:nvSpPr>
          <p:cNvPr id="32" name="文本框 31"/>
          <p:cNvSpPr txBox="1"/>
          <p:nvPr>
            <p:custDataLst>
              <p:tags r:id="rId14"/>
            </p:custDataLst>
          </p:nvPr>
        </p:nvSpPr>
        <p:spPr>
          <a:xfrm>
            <a:off x="5806440" y="6975475"/>
            <a:ext cx="4257675" cy="768350"/>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静态实物文创为主，数字藏品单独发售</a:t>
            </a:r>
            <a:endParaRPr lang="zh-CN" altLang="en-US" sz="2200" u="none" strike="noStrike" kern="0" cap="none" spc="0" normalizeH="0">
              <a:solidFill>
                <a:srgbClr val="343435"/>
              </a:solidFill>
              <a:latin typeface="新愚公和谐宋-S" charset="-122"/>
              <a:ea typeface="新愚公和谐宋-S" charset="-122"/>
            </a:endParaRPr>
          </a:p>
        </p:txBody>
      </p:sp>
      <p:sp>
        <p:nvSpPr>
          <p:cNvPr id="33" name="文本框 32"/>
          <p:cNvSpPr txBox="1"/>
          <p:nvPr>
            <p:custDataLst>
              <p:tags r:id="rId15"/>
            </p:custDataLst>
          </p:nvPr>
        </p:nvSpPr>
        <p:spPr>
          <a:xfrm>
            <a:off x="5806440" y="9693275"/>
            <a:ext cx="4257675" cy="429895"/>
          </a:xfrm>
          <a:prstGeom prst="rect">
            <a:avLst/>
          </a:prstGeom>
          <a:noFill/>
        </p:spPr>
        <p:txBody>
          <a:bodyPr wrap="square" rtlCol="0">
            <a:spAutoFit/>
          </a:bodyPr>
          <a:p>
            <a:r>
              <a:rPr lang="zh-CN" altLang="en-US" sz="2200" u="none" strike="noStrike" kern="0" cap="none" spc="0" normalizeH="0">
                <a:solidFill>
                  <a:srgbClr val="343435"/>
                </a:solidFill>
                <a:latin typeface="新愚公和谐宋-S" charset="-122"/>
                <a:ea typeface="新愚公和谐宋-S" charset="-122"/>
              </a:rPr>
              <a:t>敦煌美学</a:t>
            </a:r>
            <a:r>
              <a:rPr lang="en-US" altLang="zh-CN" sz="2200" u="none" strike="noStrike" kern="0" cap="none" spc="0" normalizeH="0">
                <a:solidFill>
                  <a:srgbClr val="343435"/>
                </a:solidFill>
                <a:latin typeface="新愚公和谐宋-S" charset="-122"/>
                <a:ea typeface="新愚公和谐宋-S" charset="-122"/>
              </a:rPr>
              <a:t>IP+</a:t>
            </a:r>
            <a:r>
              <a:rPr lang="zh-CN" altLang="en-US" sz="2200" u="none" strike="noStrike" kern="0" cap="none" spc="0" normalizeH="0">
                <a:solidFill>
                  <a:srgbClr val="343435"/>
                </a:solidFill>
                <a:latin typeface="新愚公和谐宋-S" charset="-122"/>
                <a:ea typeface="新愚公和谐宋-S" charset="-122"/>
              </a:rPr>
              <a:t>数字敦煌双轨并行</a:t>
            </a:r>
            <a:endParaRPr lang="zh-CN" altLang="en-US" sz="2200" u="none" strike="noStrike" kern="0" cap="none" spc="0" normalizeH="0">
              <a:solidFill>
                <a:srgbClr val="343435"/>
              </a:solidFill>
              <a:latin typeface="新愚公和谐宋-S" charset="-122"/>
              <a:ea typeface="新愚公和谐宋-S" charset="-122"/>
            </a:endParaRPr>
          </a:p>
        </p:txBody>
      </p:sp>
      <p:sp>
        <p:nvSpPr>
          <p:cNvPr id="35" name="文本框 34"/>
          <p:cNvSpPr txBox="1"/>
          <p:nvPr>
            <p:custDataLst>
              <p:tags r:id="rId16"/>
            </p:custDataLst>
          </p:nvPr>
        </p:nvSpPr>
        <p:spPr>
          <a:xfrm>
            <a:off x="10433050" y="3573145"/>
            <a:ext cx="9260840" cy="1106805"/>
          </a:xfrm>
          <a:prstGeom prst="rect">
            <a:avLst/>
          </a:prstGeom>
          <a:noFill/>
        </p:spPr>
        <p:txBody>
          <a:bodyPr wrap="square" rtlCol="0">
            <a:spAutoFit/>
          </a:bodyPr>
          <a:p>
            <a:r>
              <a:rPr lang="en-US" altLang="zh-CN" sz="2200" u="none" strike="noStrike" kern="0" cap="none" spc="0" normalizeH="0">
                <a:solidFill>
                  <a:srgbClr val="343435"/>
                </a:solidFill>
                <a:latin typeface="新愚公和谐宋-S" charset="-122"/>
                <a:ea typeface="新愚公和谐宋-S" charset="-122"/>
              </a:rPr>
              <a:t>1. </a:t>
            </a:r>
            <a:r>
              <a:rPr lang="zh-CN" altLang="en-US" sz="2200" u="none" strike="noStrike" kern="0" cap="none" spc="0" normalizeH="0">
                <a:solidFill>
                  <a:srgbClr val="343435"/>
                </a:solidFill>
                <a:latin typeface="新愚公和谐宋-S" charset="-122"/>
                <a:ea typeface="新愚公和谐宋-S" charset="-122"/>
              </a:rPr>
              <a:t>产品定位偏向商务礼品，设计风格偏成熟</a:t>
            </a:r>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2. C</a:t>
            </a:r>
            <a:r>
              <a:rPr lang="zh-CN" altLang="en-US" sz="2200" u="none" strike="noStrike" kern="0" cap="none" spc="0" normalizeH="0">
                <a:solidFill>
                  <a:srgbClr val="343435"/>
                </a:solidFill>
                <a:latin typeface="新愚公和谐宋-S" charset="-122"/>
                <a:ea typeface="新愚公和谐宋-S" charset="-122"/>
              </a:rPr>
              <a:t>端零售占比不足</a:t>
            </a:r>
            <a:r>
              <a:rPr lang="en-US" altLang="zh-CN" sz="2200" u="none" strike="noStrike" kern="0" cap="none" spc="0" normalizeH="0">
                <a:solidFill>
                  <a:srgbClr val="343435"/>
                </a:solidFill>
                <a:latin typeface="新愚公和谐宋-S" charset="-122"/>
                <a:ea typeface="新愚公和谐宋-S" charset="-122"/>
              </a:rPr>
              <a:t>15%</a:t>
            </a:r>
            <a:r>
              <a:rPr lang="zh-CN" altLang="en-US" sz="2200" u="none" strike="noStrike" kern="0" cap="none" spc="0" normalizeH="0">
                <a:solidFill>
                  <a:srgbClr val="343435"/>
                </a:solidFill>
                <a:latin typeface="新愚公和谐宋-S" charset="-122"/>
                <a:ea typeface="新愚公和谐宋-S" charset="-122"/>
              </a:rPr>
              <a:t>，几乎无针对年轻用户的营销</a:t>
            </a:r>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3. </a:t>
            </a:r>
            <a:r>
              <a:rPr lang="zh-CN" altLang="en-US" sz="2200" u="none" strike="noStrike" kern="0" cap="none" spc="0" normalizeH="0">
                <a:solidFill>
                  <a:srgbClr val="343435"/>
                </a:solidFill>
                <a:latin typeface="新愚公和谐宋-S" charset="-122"/>
                <a:ea typeface="新愚公和谐宋-S" charset="-122"/>
              </a:rPr>
              <a:t>年轻用户触达率仅</a:t>
            </a:r>
            <a:r>
              <a:rPr lang="en-US" altLang="zh-CN" sz="2200" u="none" strike="noStrike" kern="0" cap="none" spc="0" normalizeH="0">
                <a:solidFill>
                  <a:srgbClr val="343435"/>
                </a:solidFill>
                <a:latin typeface="新愚公和谐宋-S" charset="-122"/>
                <a:ea typeface="新愚公和谐宋-S" charset="-122"/>
              </a:rPr>
              <a:t>8.7%</a:t>
            </a:r>
            <a:r>
              <a:rPr lang="zh-CN" altLang="en-US" sz="2200" u="none" strike="noStrike" kern="0" cap="none" spc="0" normalizeH="0">
                <a:solidFill>
                  <a:srgbClr val="343435"/>
                </a:solidFill>
                <a:latin typeface="新愚公和谐宋-S" charset="-122"/>
                <a:ea typeface="新愚公和谐宋-S" charset="-122"/>
              </a:rPr>
              <a:t>，远低于行业平均</a:t>
            </a:r>
            <a:endParaRPr lang="zh-CN" altLang="en-US" sz="2200" u="none" strike="noStrike" kern="0" cap="none" spc="0" normalizeH="0">
              <a:solidFill>
                <a:srgbClr val="343435"/>
              </a:solidFill>
              <a:latin typeface="新愚公和谐宋-S" charset="-122"/>
              <a:ea typeface="新愚公和谐宋-S" charset="-122"/>
            </a:endParaRPr>
          </a:p>
        </p:txBody>
      </p:sp>
      <p:sp>
        <p:nvSpPr>
          <p:cNvPr id="36" name="文本框 35"/>
          <p:cNvSpPr txBox="1"/>
          <p:nvPr>
            <p:custDataLst>
              <p:tags r:id="rId17"/>
            </p:custDataLst>
          </p:nvPr>
        </p:nvSpPr>
        <p:spPr>
          <a:xfrm>
            <a:off x="10462260" y="5183505"/>
            <a:ext cx="9260840" cy="1106805"/>
          </a:xfrm>
          <a:prstGeom prst="rect">
            <a:avLst/>
          </a:prstGeom>
          <a:noFill/>
        </p:spPr>
        <p:txBody>
          <a:bodyPr wrap="square" rtlCol="0">
            <a:spAutoFit/>
          </a:bodyPr>
          <a:p>
            <a:r>
              <a:rPr lang="en-US" altLang="zh-CN" sz="2200" u="none" strike="noStrike" kern="0" cap="none" spc="0" normalizeH="0">
                <a:solidFill>
                  <a:srgbClr val="343435"/>
                </a:solidFill>
                <a:latin typeface="新愚公和谐宋-S" charset="-122"/>
                <a:ea typeface="新愚公和谐宋-S" charset="-122"/>
              </a:rPr>
              <a:t>1. </a:t>
            </a:r>
            <a:r>
              <a:rPr lang="zh-CN" altLang="en-US" sz="2200" u="none" strike="noStrike" kern="0" cap="none" spc="0" normalizeH="0">
                <a:solidFill>
                  <a:srgbClr val="343435"/>
                </a:solidFill>
                <a:latin typeface="新愚公和谐宋-S" charset="-122"/>
                <a:ea typeface="新愚公和谐宋-S" charset="-122"/>
              </a:rPr>
              <a:t>无独立</a:t>
            </a:r>
            <a:r>
              <a:rPr lang="en-US" altLang="zh-CN" sz="2200" u="none" strike="noStrike" kern="0" cap="none" spc="0" normalizeH="0">
                <a:solidFill>
                  <a:srgbClr val="343435"/>
                </a:solidFill>
                <a:latin typeface="新愚公和谐宋-S" charset="-122"/>
                <a:ea typeface="新愚公和谐宋-S" charset="-122"/>
              </a:rPr>
              <a:t> IP </a:t>
            </a:r>
            <a:r>
              <a:rPr lang="zh-CN" altLang="en-US" sz="2200" u="none" strike="noStrike" kern="0" cap="none" spc="0" normalizeH="0">
                <a:solidFill>
                  <a:srgbClr val="343435"/>
                </a:solidFill>
                <a:latin typeface="新愚公和谐宋-S" charset="-122"/>
                <a:ea typeface="新愚公和谐宋-S" charset="-122"/>
              </a:rPr>
              <a:t>世界观，所有联名均为短期借势</a:t>
            </a:r>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2. </a:t>
            </a:r>
            <a:r>
              <a:rPr lang="zh-CN" altLang="en-US" sz="2200" u="none" strike="noStrike" kern="0" cap="none" spc="0" normalizeH="0">
                <a:solidFill>
                  <a:srgbClr val="343435"/>
                </a:solidFill>
                <a:latin typeface="新愚公和谐宋-S" charset="-122"/>
                <a:ea typeface="新愚公和谐宋-S" charset="-122"/>
              </a:rPr>
              <a:t>无数字互动和剧情玩法，产品仅为实物赠品</a:t>
            </a:r>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3. 90%</a:t>
            </a:r>
            <a:r>
              <a:rPr lang="zh-CN" altLang="en-US" sz="2200" u="none" strike="noStrike" kern="0" cap="none" spc="0" normalizeH="0">
                <a:solidFill>
                  <a:srgbClr val="343435"/>
                </a:solidFill>
                <a:latin typeface="新愚公和谐宋-S" charset="-122"/>
                <a:ea typeface="新愚公和谐宋-S" charset="-122"/>
              </a:rPr>
              <a:t>产品与话费捆绑销售，用户无主动购买意愿</a:t>
            </a:r>
            <a:endParaRPr lang="zh-CN" altLang="en-US" sz="2200" u="none" strike="noStrike" kern="0" cap="none" spc="0" normalizeH="0">
              <a:solidFill>
                <a:srgbClr val="343435"/>
              </a:solidFill>
              <a:latin typeface="新愚公和谐宋-S" charset="-122"/>
              <a:ea typeface="新愚公和谐宋-S" charset="-122"/>
            </a:endParaRPr>
          </a:p>
        </p:txBody>
      </p:sp>
      <p:sp>
        <p:nvSpPr>
          <p:cNvPr id="37" name="文本框 36"/>
          <p:cNvSpPr txBox="1"/>
          <p:nvPr>
            <p:custDataLst>
              <p:tags r:id="rId18"/>
            </p:custDataLst>
          </p:nvPr>
        </p:nvSpPr>
        <p:spPr>
          <a:xfrm>
            <a:off x="10472420" y="6645275"/>
            <a:ext cx="9260840" cy="1106805"/>
          </a:xfrm>
          <a:prstGeom prst="rect">
            <a:avLst/>
          </a:prstGeom>
          <a:noFill/>
        </p:spPr>
        <p:txBody>
          <a:bodyPr wrap="square" rtlCol="0">
            <a:spAutoFit/>
          </a:bodyPr>
          <a:p>
            <a:r>
              <a:rPr lang="en-US" altLang="zh-CN" sz="2200" u="none" strike="noStrike" kern="0" cap="none" spc="0" normalizeH="0">
                <a:solidFill>
                  <a:srgbClr val="343435"/>
                </a:solidFill>
                <a:latin typeface="新愚公和谐宋-S" charset="-122"/>
                <a:ea typeface="新愚公和谐宋-S" charset="-122"/>
              </a:rPr>
              <a:t>1. </a:t>
            </a:r>
            <a:r>
              <a:rPr lang="zh-CN" altLang="en-US" sz="2200" u="none" strike="noStrike" kern="0" cap="none" spc="0" normalizeH="0">
                <a:solidFill>
                  <a:srgbClr val="343435"/>
                </a:solidFill>
                <a:latin typeface="新愚公和谐宋-S" charset="-122"/>
                <a:ea typeface="新愚公和谐宋-S" charset="-122"/>
              </a:rPr>
              <a:t>实物与数字文创完全割裂，无权益互通</a:t>
            </a:r>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2. </a:t>
            </a:r>
            <a:r>
              <a:rPr lang="zh-CN" altLang="en-US" sz="2200" u="none" strike="noStrike" kern="0" cap="none" spc="0" normalizeH="0">
                <a:solidFill>
                  <a:srgbClr val="343435"/>
                </a:solidFill>
                <a:latin typeface="新愚公和谐宋-S" charset="-122"/>
                <a:ea typeface="新愚公和谐宋-S" charset="-122"/>
              </a:rPr>
              <a:t>无情感剧情联动，产品仅具备实用和收藏属性</a:t>
            </a:r>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3. </a:t>
            </a:r>
            <a:r>
              <a:rPr lang="zh-CN" altLang="en-US" sz="2200" u="none" strike="noStrike" kern="0" cap="none" spc="0" normalizeH="0">
                <a:solidFill>
                  <a:srgbClr val="343435"/>
                </a:solidFill>
                <a:latin typeface="新愚公和谐宋-S" charset="-122"/>
                <a:ea typeface="新愚公和谐宋-S" charset="-122"/>
              </a:rPr>
              <a:t>科技互动类产品占比不足</a:t>
            </a:r>
            <a:r>
              <a:rPr lang="en-US" altLang="zh-CN" sz="2200" u="none" strike="noStrike" kern="0" cap="none" spc="0" normalizeH="0">
                <a:solidFill>
                  <a:srgbClr val="343435"/>
                </a:solidFill>
                <a:latin typeface="新愚公和谐宋-S" charset="-122"/>
                <a:ea typeface="新愚公和谐宋-S" charset="-122"/>
              </a:rPr>
              <a:t>8%</a:t>
            </a:r>
            <a:r>
              <a:rPr lang="zh-CN" altLang="en-US" sz="2200" u="none" strike="noStrike" kern="0" cap="none" spc="0" normalizeH="0">
                <a:solidFill>
                  <a:srgbClr val="343435"/>
                </a:solidFill>
                <a:latin typeface="新愚公和谐宋-S" charset="-122"/>
                <a:ea typeface="新愚公和谐宋-S" charset="-122"/>
              </a:rPr>
              <a:t>，用户参与感弱</a:t>
            </a:r>
            <a:endParaRPr lang="zh-CN" altLang="en-US" sz="2200" u="none" strike="noStrike" kern="0" cap="none" spc="0" normalizeH="0">
              <a:solidFill>
                <a:srgbClr val="343435"/>
              </a:solidFill>
              <a:latin typeface="新愚公和谐宋-S" charset="-122"/>
              <a:ea typeface="新愚公和谐宋-S" charset="-122"/>
            </a:endParaRPr>
          </a:p>
        </p:txBody>
      </p:sp>
      <p:sp>
        <p:nvSpPr>
          <p:cNvPr id="38" name="文本框 37"/>
          <p:cNvSpPr txBox="1"/>
          <p:nvPr>
            <p:custDataLst>
              <p:tags r:id="rId19"/>
            </p:custDataLst>
          </p:nvPr>
        </p:nvSpPr>
        <p:spPr>
          <a:xfrm>
            <a:off x="10509250" y="8984615"/>
            <a:ext cx="9260840" cy="1106805"/>
          </a:xfrm>
          <a:prstGeom prst="rect">
            <a:avLst/>
          </a:prstGeom>
          <a:noFill/>
        </p:spPr>
        <p:txBody>
          <a:bodyPr wrap="square" rtlCol="0">
            <a:spAutoFit/>
          </a:bodyPr>
          <a:p>
            <a:r>
              <a:rPr lang="en-US" altLang="zh-CN" sz="2200" u="none" strike="noStrike" kern="0" cap="none" spc="0" normalizeH="0">
                <a:solidFill>
                  <a:srgbClr val="343435"/>
                </a:solidFill>
                <a:latin typeface="新愚公和谐宋-S" charset="-122"/>
                <a:ea typeface="新愚公和谐宋-S" charset="-122"/>
              </a:rPr>
              <a:t>1. </a:t>
            </a:r>
            <a:r>
              <a:rPr lang="zh-CN" altLang="en-US" sz="2200" u="none" strike="noStrike" kern="0" cap="none" spc="0" normalizeH="0">
                <a:solidFill>
                  <a:srgbClr val="343435"/>
                </a:solidFill>
                <a:latin typeface="新愚公和谐宋-S" charset="-122"/>
                <a:ea typeface="新愚公和谐宋-S" charset="-122"/>
              </a:rPr>
              <a:t>产品过度依赖壁画元素，同质化严重</a:t>
            </a:r>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2. </a:t>
            </a:r>
            <a:r>
              <a:rPr lang="zh-CN" altLang="en-US" sz="2200" u="none" strike="noStrike" kern="0" cap="none" spc="0" normalizeH="0">
                <a:solidFill>
                  <a:srgbClr val="343435"/>
                </a:solidFill>
                <a:latin typeface="新愚公和谐宋-S" charset="-122"/>
                <a:ea typeface="新愚公和谐宋-S" charset="-122"/>
              </a:rPr>
              <a:t>数字敦煌累计访问量超</a:t>
            </a:r>
            <a:r>
              <a:rPr lang="en-US" altLang="zh-CN" sz="2200" u="none" strike="noStrike" kern="0" cap="none" spc="0" normalizeH="0">
                <a:solidFill>
                  <a:srgbClr val="343435"/>
                </a:solidFill>
                <a:latin typeface="新愚公和谐宋-S" charset="-122"/>
                <a:ea typeface="新愚公和谐宋-S" charset="-122"/>
              </a:rPr>
              <a:t>10</a:t>
            </a:r>
            <a:r>
              <a:rPr lang="zh-CN" altLang="en-US" sz="2200" u="none" strike="noStrike" kern="0" cap="none" spc="0" normalizeH="0">
                <a:solidFill>
                  <a:srgbClr val="343435"/>
                </a:solidFill>
                <a:latin typeface="新愚公和谐宋-S" charset="-122"/>
                <a:ea typeface="新愚公和谐宋-S" charset="-122"/>
              </a:rPr>
              <a:t>亿次，但与实物文创无任何权益联动</a:t>
            </a:r>
            <a:endParaRPr lang="zh-CN" altLang="en-US" sz="2200" u="none" strike="noStrike" kern="0" cap="none" spc="0" normalizeH="0">
              <a:solidFill>
                <a:srgbClr val="343435"/>
              </a:solidFill>
              <a:latin typeface="新愚公和谐宋-S" charset="-122"/>
              <a:ea typeface="新愚公和谐宋-S" charset="-122"/>
            </a:endParaRPr>
          </a:p>
          <a:p>
            <a:r>
              <a:rPr lang="en-US" altLang="zh-CN" sz="2200" u="none" strike="noStrike" kern="0" cap="none" spc="0" normalizeH="0">
                <a:solidFill>
                  <a:srgbClr val="343435"/>
                </a:solidFill>
                <a:latin typeface="新愚公和谐宋-S" charset="-122"/>
                <a:ea typeface="新愚公和谐宋-S" charset="-122"/>
              </a:rPr>
              <a:t>3. </a:t>
            </a:r>
            <a:r>
              <a:rPr lang="zh-CN" altLang="en-US" sz="2200" u="none" strike="noStrike" kern="0" cap="none" spc="0" normalizeH="0">
                <a:solidFill>
                  <a:srgbClr val="343435"/>
                </a:solidFill>
                <a:latin typeface="新愚公和谐宋-S" charset="-122"/>
                <a:ea typeface="新愚公和谐宋-S" charset="-122"/>
              </a:rPr>
              <a:t>情感挖掘偏向</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文化情怀</a:t>
            </a:r>
            <a:r>
              <a:rPr lang="en-US" altLang="zh-CN" sz="2200" u="none" strike="noStrike" kern="0" cap="none" spc="0" normalizeH="0">
                <a:solidFill>
                  <a:srgbClr val="343435"/>
                </a:solidFill>
                <a:latin typeface="新愚公和谐宋-S" charset="-122"/>
                <a:ea typeface="新愚公和谐宋-S" charset="-122"/>
              </a:rPr>
              <a:t>”</a:t>
            </a:r>
            <a:r>
              <a:rPr lang="zh-CN" altLang="en-US" sz="2200" u="none" strike="noStrike" kern="0" cap="none" spc="0" normalizeH="0">
                <a:solidFill>
                  <a:srgbClr val="343435"/>
                </a:solidFill>
                <a:latin typeface="新愚公和谐宋-S" charset="-122"/>
                <a:ea typeface="新愚公和谐宋-S" charset="-122"/>
              </a:rPr>
              <a:t>，缺少当代年轻人的情感共鸣点</a:t>
            </a:r>
            <a:endParaRPr lang="zh-CN" altLang="en-US" sz="2200" u="none" strike="noStrike" kern="0" cap="none" spc="0" normalizeH="0">
              <a:solidFill>
                <a:srgbClr val="343435"/>
              </a:solidFill>
              <a:latin typeface="新愚公和谐宋-S" charset="-122"/>
              <a:ea typeface="新愚公和谐宋-S" charset="-122"/>
            </a:endParaRPr>
          </a:p>
        </p:txBody>
      </p:sp>
      <p:cxnSp>
        <p:nvCxnSpPr>
          <p:cNvPr id="39" name="直接连接符 38"/>
          <p:cNvCxnSpPr/>
          <p:nvPr/>
        </p:nvCxnSpPr>
        <p:spPr>
          <a:xfrm>
            <a:off x="618490" y="6264275"/>
            <a:ext cx="19020155" cy="0"/>
          </a:xfrm>
          <a:prstGeom prst="line">
            <a:avLst/>
          </a:prstGeom>
          <a:ln>
            <a:solidFill>
              <a:srgbClr val="343435"/>
            </a:solidFill>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a:off x="603250" y="7747635"/>
            <a:ext cx="19020155" cy="0"/>
          </a:xfrm>
          <a:prstGeom prst="line">
            <a:avLst/>
          </a:prstGeom>
          <a:ln>
            <a:solidFill>
              <a:srgbClr val="343435"/>
            </a:solidFill>
          </a:ln>
        </p:spPr>
        <p:style>
          <a:lnRef idx="2">
            <a:schemeClr val="accent1"/>
          </a:lnRef>
          <a:fillRef idx="0">
            <a:srgbClr val="FFFFFF"/>
          </a:fillRef>
          <a:effectRef idx="0">
            <a:srgbClr val="FFFFFF"/>
          </a:effectRef>
          <a:fontRef idx="minor">
            <a:schemeClr val="tx1"/>
          </a:fontRef>
        </p:style>
      </p:cxnSp>
      <p:cxnSp>
        <p:nvCxnSpPr>
          <p:cNvPr id="41" name="直接连接符 40"/>
          <p:cNvCxnSpPr/>
          <p:nvPr/>
        </p:nvCxnSpPr>
        <p:spPr>
          <a:xfrm>
            <a:off x="715645" y="10088245"/>
            <a:ext cx="19020155" cy="0"/>
          </a:xfrm>
          <a:prstGeom prst="line">
            <a:avLst/>
          </a:prstGeom>
          <a:ln>
            <a:solidFill>
              <a:srgbClr val="343435"/>
            </a:solidFill>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a:off x="2874645" y="2682875"/>
            <a:ext cx="0" cy="8103235"/>
          </a:xfrm>
          <a:prstGeom prst="line">
            <a:avLst/>
          </a:prstGeom>
          <a:ln>
            <a:solidFill>
              <a:srgbClr val="231F20"/>
            </a:solidFill>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10137775" y="2606675"/>
            <a:ext cx="0" cy="8103235"/>
          </a:xfrm>
          <a:prstGeom prst="line">
            <a:avLst/>
          </a:prstGeom>
          <a:ln>
            <a:solidFill>
              <a:srgbClr val="231F2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用户分析</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a:t>
            </a:r>
            <a:r>
              <a:rPr lang="zh-CN" altLang="en-US" sz="3200" b="0" spc="-10" dirty="0">
                <a:solidFill>
                  <a:srgbClr val="8E9192"/>
                </a:solidFill>
                <a:latin typeface="新愚公和谐宋-S" charset="-122"/>
                <a:ea typeface="新愚公和谐宋-S" charset="-122"/>
                <a:cs typeface="Arial" panose="020B0604020202020204"/>
              </a:rPr>
              <a:t>排期</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9</a:t>
            </a:r>
            <a:endParaRPr lang="en-US" altLang="en-US" sz="1800" b="1" spc="55" dirty="0">
              <a:solidFill>
                <a:srgbClr val="000204"/>
              </a:solidFill>
              <a:latin typeface="Arial" panose="020B0604020202020204"/>
              <a:cs typeface="Arial" panose="020B0604020202020204"/>
            </a:endParaRPr>
          </a:p>
        </p:txBody>
      </p:sp>
      <p:sp>
        <p:nvSpPr>
          <p:cNvPr id="20" name="文本框 19"/>
          <p:cNvSpPr txBox="1"/>
          <p:nvPr/>
        </p:nvSpPr>
        <p:spPr>
          <a:xfrm>
            <a:off x="5861050" y="4377690"/>
            <a:ext cx="8351520" cy="2553335"/>
          </a:xfrm>
          <a:prstGeom prst="rect">
            <a:avLst/>
          </a:prstGeom>
          <a:noFill/>
        </p:spPr>
        <p:txBody>
          <a:bodyPr wrap="square" rtlCol="0">
            <a:spAutoFit/>
          </a:bodyPr>
          <a:p>
            <a:r>
              <a:rPr lang="zh-CN" altLang="en-US" sz="16000">
                <a:solidFill>
                  <a:srgbClr val="343435"/>
                </a:solidFill>
                <a:latin typeface="字魂132号-江舟行客" panose="00000500000000000000" charset="-122"/>
                <a:ea typeface="字魂132号-江舟行客" panose="00000500000000000000" charset="-122"/>
              </a:rPr>
              <a:t>用户</a:t>
            </a:r>
            <a:r>
              <a:rPr lang="zh-CN" altLang="en-US" sz="16000">
                <a:solidFill>
                  <a:srgbClr val="343435"/>
                </a:solidFill>
                <a:latin typeface="字魂132号-江舟行客" panose="00000500000000000000" charset="-122"/>
                <a:ea typeface="字魂132号-江舟行客" panose="00000500000000000000" charset="-122"/>
              </a:rPr>
              <a:t>分析</a:t>
            </a:r>
            <a:endParaRPr lang="zh-CN" altLang="en-US" sz="16000">
              <a:solidFill>
                <a:srgbClr val="343435"/>
              </a:solidFill>
              <a:latin typeface="字魂132号-江舟行客" panose="00000500000000000000" charset="-122"/>
              <a:ea typeface="字魂132号-江舟行客" panose="000005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用户分析</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10</a:t>
            </a:r>
            <a:endParaRPr lang="en-US" altLang="en-US" sz="1800" b="1" spc="55" dirty="0">
              <a:solidFill>
                <a:srgbClr val="000204"/>
              </a:solidFill>
              <a:latin typeface="Arial" panose="020B0604020202020204"/>
              <a:cs typeface="Arial" panose="020B0604020202020204"/>
            </a:endParaRPr>
          </a:p>
        </p:txBody>
      </p:sp>
      <p:sp>
        <p:nvSpPr>
          <p:cNvPr id="24" name="圆角矩形 23"/>
          <p:cNvSpPr/>
          <p:nvPr/>
        </p:nvSpPr>
        <p:spPr>
          <a:xfrm>
            <a:off x="679450" y="1299210"/>
            <a:ext cx="18821400" cy="3761105"/>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1148715" y="1616075"/>
            <a:ext cx="17731105" cy="3091815"/>
          </a:xfrm>
          <a:prstGeom prst="rect">
            <a:avLst/>
          </a:prstGeom>
          <a:noFill/>
        </p:spPr>
        <p:txBody>
          <a:bodyPr wrap="square" rtlCol="0">
            <a:spAutoFit/>
          </a:bodyPr>
          <a:p>
            <a:r>
              <a:rPr lang="zh-CN" altLang="en-US" sz="3000" b="1" u="none" strike="noStrike" kern="0" cap="none" spc="0" normalizeH="0">
                <a:solidFill>
                  <a:srgbClr val="B2151A"/>
                </a:solidFill>
                <a:latin typeface="新愚公和谐宋-S" charset="-122"/>
                <a:ea typeface="新愚公和谐宋-S" charset="-122"/>
                <a:cs typeface="新愚公和谐宋-S" charset="-122"/>
              </a:rPr>
              <a:t>固定属性：</a:t>
            </a:r>
            <a:endParaRPr lang="zh-CN" altLang="en-US" sz="3000" b="1" u="none" strike="noStrike" kern="0" cap="none" spc="0" normalizeH="0">
              <a:solidFill>
                <a:srgbClr val="B2151A"/>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en-US" altLang="zh-CN" sz="2200" u="none" strike="noStrike" kern="0" cap="none" spc="0" normalizeH="0">
                <a:solidFill>
                  <a:srgbClr val="343435"/>
                </a:solidFill>
                <a:latin typeface="新愚公和谐宋-S" charset="-122"/>
                <a:ea typeface="新愚公和谐宋-S" charset="-122"/>
                <a:cs typeface="新愚公和谐宋-S" charset="-122"/>
              </a:rPr>
              <a:t>18-35</a:t>
            </a:r>
            <a:r>
              <a:rPr lang="zh-CN" altLang="en-US" sz="2200" u="none" strike="noStrike" kern="0" cap="none" spc="0" normalizeH="0">
                <a:solidFill>
                  <a:srgbClr val="343435"/>
                </a:solidFill>
                <a:latin typeface="新愚公和谐宋-S" charset="-122"/>
                <a:ea typeface="新愚公和谐宋-S" charset="-122"/>
                <a:cs typeface="新愚公和谐宋-S" charset="-122"/>
              </a:rPr>
              <a:t>岁女性群体，大学生、年轻职场人、国潮爱好者、科技数码用户、社交平台活跃用户为主；</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一二线城市为主，分布于纯粹友情阶段、渴望专属回忆与仪式感的大学生，工作压力大、将闺蜜作为核心情感宣泄口的年轻职场人，以及追求文化共鸣与收藏成就感的国潮文博深度爱好者构成；</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类型分为</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闺蜜共生体</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（消费决策参考闺蜜意见）、</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情绪收藏家</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（愿为打动人心的故事支付）、</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社交表达者</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（购买文创是为了表达自我态度）与</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科技共情者</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
        <p:nvSpPr>
          <p:cNvPr id="32" name="文本框 31"/>
          <p:cNvSpPr txBox="1"/>
          <p:nvPr/>
        </p:nvSpPr>
        <p:spPr>
          <a:xfrm>
            <a:off x="1212850" y="5502275"/>
            <a:ext cx="17731105" cy="2584450"/>
          </a:xfrm>
          <a:prstGeom prst="rect">
            <a:avLst/>
          </a:prstGeom>
          <a:noFill/>
        </p:spPr>
        <p:txBody>
          <a:bodyPr wrap="square" rtlCol="0">
            <a:spAutoFit/>
          </a:bodyPr>
          <a:p>
            <a:r>
              <a:rPr lang="zh-CN" altLang="en-US" sz="3000" b="1" u="none" strike="noStrike" kern="0" cap="none" spc="0" normalizeH="0">
                <a:solidFill>
                  <a:srgbClr val="343435"/>
                </a:solidFill>
                <a:latin typeface="新愚公和谐宋-S" charset="-122"/>
                <a:ea typeface="新愚公和谐宋-S" charset="-122"/>
                <a:cs typeface="新愚公和谐宋-S" charset="-122"/>
              </a:rPr>
              <a:t>情感</a:t>
            </a:r>
            <a:r>
              <a:rPr lang="zh-CN" altLang="en-US" sz="3000" b="1" u="none" strike="noStrike" kern="0" cap="none" spc="0" normalizeH="0">
                <a:solidFill>
                  <a:srgbClr val="343435"/>
                </a:solidFill>
                <a:latin typeface="新愚公和谐宋-S" charset="-122"/>
                <a:ea typeface="新愚公和谐宋-S" charset="-122"/>
                <a:cs typeface="新愚公和谐宋-S" charset="-122"/>
              </a:rPr>
              <a:t>痛点：</a:t>
            </a:r>
            <a:endParaRPr lang="zh-CN" altLang="en-US" sz="3000" b="1"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市面上的闺蜜产品多为</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同款不同色</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，缺乏真正的情感连接和故事性</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文博文创过于严肃，无法承载当代年轻人的细腻情感</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运营商品牌冰冷，没有能引发情感共鸣的产品和内容</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571500" indent="-571500" eaLnBrk="1" fontAlgn="auto" latinLnBrk="0" hangingPunct="1">
              <a:lnSpc>
                <a:spcPct val="150000"/>
              </a:lnSpc>
              <a:buFont typeface="Arial" panose="020B0604020202020204" pitchFamily="34" charset="0"/>
              <a:buChar char="•"/>
            </a:pP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
        <p:nvSpPr>
          <p:cNvPr id="36" name="圆角矩形 35"/>
          <p:cNvSpPr/>
          <p:nvPr/>
        </p:nvSpPr>
        <p:spPr>
          <a:xfrm>
            <a:off x="755650" y="7933055"/>
            <a:ext cx="18821400" cy="3080385"/>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nvSpPr>
        <p:spPr>
          <a:xfrm>
            <a:off x="1212850" y="8169275"/>
            <a:ext cx="17731105" cy="2584450"/>
          </a:xfrm>
          <a:prstGeom prst="rect">
            <a:avLst/>
          </a:prstGeom>
          <a:noFill/>
        </p:spPr>
        <p:txBody>
          <a:bodyPr wrap="square" rtlCol="0">
            <a:spAutoFit/>
          </a:bodyPr>
          <a:p>
            <a:r>
              <a:rPr lang="zh-CN" altLang="en-US" sz="3000" b="1" u="none" strike="noStrike" kern="0" cap="none" spc="0" normalizeH="0">
                <a:solidFill>
                  <a:srgbClr val="B2151A"/>
                </a:solidFill>
                <a:latin typeface="新愚公和谐宋-S" charset="-122"/>
                <a:ea typeface="新愚公和谐宋-S" charset="-122"/>
                <a:cs typeface="新愚公和谐宋-S" charset="-122"/>
              </a:rPr>
              <a:t>用户消费水平：</a:t>
            </a:r>
            <a:endParaRPr lang="zh-CN" altLang="en-US" sz="3000" b="1" u="none" strike="noStrike" kern="0" cap="none" spc="0" normalizeH="0">
              <a:solidFill>
                <a:srgbClr val="B2151A"/>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消费能力：</a:t>
            </a:r>
            <a:r>
              <a:rPr lang="en-US" altLang="zh-CN" sz="2200" u="none" strike="noStrike" kern="0" cap="none" spc="0" normalizeH="0">
                <a:solidFill>
                  <a:srgbClr val="343435"/>
                </a:solidFill>
                <a:latin typeface="新愚公和谐宋-S" charset="-122"/>
                <a:ea typeface="新愚公和谐宋-S" charset="-122"/>
                <a:cs typeface="新愚公和谐宋-S" charset="-122"/>
              </a:rPr>
              <a:t>18-35</a:t>
            </a:r>
            <a:r>
              <a:rPr lang="zh-CN" altLang="en-US" sz="2200" u="none" strike="noStrike" kern="0" cap="none" spc="0" normalizeH="0">
                <a:solidFill>
                  <a:srgbClr val="343435"/>
                </a:solidFill>
                <a:latin typeface="新愚公和谐宋-S" charset="-122"/>
                <a:ea typeface="新愚公和谐宋-S" charset="-122"/>
                <a:cs typeface="新愚公和谐宋-S" charset="-122"/>
              </a:rPr>
              <a:t>岁女性消费较高，客单价区间：</a:t>
            </a:r>
            <a:r>
              <a:rPr lang="en-US" altLang="zh-CN" sz="2200" u="none" strike="noStrike" kern="0" cap="none" spc="0" normalizeH="0">
                <a:solidFill>
                  <a:srgbClr val="343435"/>
                </a:solidFill>
                <a:latin typeface="新愚公和谐宋-S" charset="-122"/>
                <a:ea typeface="新愚公和谐宋-S" charset="-122"/>
                <a:cs typeface="新愚公和谐宋-S" charset="-122"/>
              </a:rPr>
              <a:t>59-199</a:t>
            </a:r>
            <a:r>
              <a:rPr lang="zh-CN" altLang="en-US" sz="2200" u="none" strike="noStrike" kern="0" cap="none" spc="0" normalizeH="0">
                <a:solidFill>
                  <a:srgbClr val="343435"/>
                </a:solidFill>
                <a:latin typeface="新愚公和谐宋-S" charset="-122"/>
                <a:ea typeface="新愚公和谐宋-S" charset="-122"/>
                <a:cs typeface="新愚公和谐宋-S" charset="-122"/>
              </a:rPr>
              <a:t>元，覆盖</a:t>
            </a:r>
            <a:r>
              <a:rPr lang="en-US" altLang="zh-CN" sz="2200" u="none" strike="noStrike" kern="0" cap="none" spc="0" normalizeH="0">
                <a:solidFill>
                  <a:srgbClr val="343435"/>
                </a:solidFill>
                <a:latin typeface="新愚公和谐宋-S" charset="-122"/>
                <a:ea typeface="新愚公和谐宋-S" charset="-122"/>
                <a:cs typeface="新愚公和谐宋-S" charset="-122"/>
              </a:rPr>
              <a:t>85%</a:t>
            </a:r>
            <a:r>
              <a:rPr lang="zh-CN" altLang="en-US" sz="2200" u="none" strike="noStrike" kern="0" cap="none" spc="0" normalizeH="0">
                <a:solidFill>
                  <a:srgbClr val="343435"/>
                </a:solidFill>
                <a:latin typeface="新愚公和谐宋-S" charset="-122"/>
                <a:ea typeface="新愚公和谐宋-S" charset="-122"/>
                <a:cs typeface="新愚公和谐宋-S" charset="-122"/>
              </a:rPr>
              <a:t>以上用户的接受范围</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决策因素：影响购买的前三大因素：情感共鸣</a:t>
            </a:r>
            <a:r>
              <a:rPr lang="en-US" altLang="zh-CN" sz="2200" u="none" strike="noStrike" kern="0" cap="none" spc="0" normalizeH="0">
                <a:solidFill>
                  <a:srgbClr val="343435"/>
                </a:solidFill>
                <a:latin typeface="新愚公和谐宋-S" charset="-122"/>
                <a:ea typeface="新愚公和谐宋-S" charset="-122"/>
                <a:cs typeface="新愚公和谐宋-S" charset="-122"/>
              </a:rPr>
              <a:t> &gt; </a:t>
            </a:r>
            <a:r>
              <a:rPr lang="zh-CN" altLang="en-US" sz="2200" u="none" strike="noStrike" kern="0" cap="none" spc="0" normalizeH="0">
                <a:solidFill>
                  <a:srgbClr val="343435"/>
                </a:solidFill>
                <a:latin typeface="新愚公和谐宋-S" charset="-122"/>
                <a:ea typeface="新愚公和谐宋-S" charset="-122"/>
                <a:cs typeface="新愚公和谐宋-S" charset="-122"/>
              </a:rPr>
              <a:t>设计颜值</a:t>
            </a:r>
            <a:r>
              <a:rPr lang="en-US" altLang="zh-CN" sz="2200" u="none" strike="noStrike" kern="0" cap="none" spc="0" normalizeH="0">
                <a:solidFill>
                  <a:srgbClr val="343435"/>
                </a:solidFill>
                <a:latin typeface="新愚公和谐宋-S" charset="-122"/>
                <a:ea typeface="新愚公和谐宋-S" charset="-122"/>
                <a:cs typeface="新愚公和谐宋-S" charset="-122"/>
              </a:rPr>
              <a:t> &gt; </a:t>
            </a:r>
            <a:r>
              <a:rPr lang="zh-CN" altLang="en-US" sz="2200" u="none" strike="noStrike" kern="0" cap="none" spc="0" normalizeH="0">
                <a:solidFill>
                  <a:srgbClr val="343435"/>
                </a:solidFill>
                <a:latin typeface="新愚公和谐宋-S" charset="-122"/>
                <a:ea typeface="新愚公和谐宋-S" charset="-122"/>
                <a:cs typeface="新愚公和谐宋-S" charset="-122"/>
              </a:rPr>
              <a:t>实用性，闺蜜推荐是第二大决策因素，仅次于平台种草</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购买渠道：线上渠道占比大，其中平台占比抖音</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小红书直播</a:t>
            </a:r>
            <a:r>
              <a:rPr lang="en-US" altLang="zh-CN" sz="2200" u="none" strike="noStrike" kern="0" cap="none" spc="0" normalizeH="0">
                <a:solidFill>
                  <a:srgbClr val="343435"/>
                </a:solidFill>
                <a:latin typeface="新愚公和谐宋-S" charset="-122"/>
                <a:ea typeface="新愚公和谐宋-S" charset="-122"/>
                <a:cs typeface="新愚公和谐宋-S" charset="-122"/>
              </a:rPr>
              <a:t> &gt; </a:t>
            </a:r>
            <a:r>
              <a:rPr lang="zh-CN" altLang="en-US" sz="2200" u="none" strike="noStrike" kern="0" cap="none" spc="0" normalizeH="0">
                <a:solidFill>
                  <a:srgbClr val="343435"/>
                </a:solidFill>
                <a:latin typeface="新愚公和谐宋-S" charset="-122"/>
                <a:ea typeface="新愚公和谐宋-S" charset="-122"/>
                <a:cs typeface="新愚公和谐宋-S" charset="-122"/>
              </a:rPr>
              <a:t>品牌官方商城占</a:t>
            </a:r>
            <a:r>
              <a:rPr lang="en-US" altLang="zh-CN" sz="2200" u="none" strike="noStrike" kern="0" cap="none" spc="0" normalizeH="0">
                <a:solidFill>
                  <a:srgbClr val="343435"/>
                </a:solidFill>
                <a:latin typeface="新愚公和谐宋-S" charset="-122"/>
                <a:ea typeface="新愚公和谐宋-S" charset="-122"/>
                <a:cs typeface="新愚公和谐宋-S" charset="-122"/>
              </a:rPr>
              <a:t> &gt; </a:t>
            </a:r>
            <a:r>
              <a:rPr lang="zh-CN" altLang="en-US" sz="2200" u="none" strike="noStrike" kern="0" cap="none" spc="0" normalizeH="0">
                <a:solidFill>
                  <a:srgbClr val="343435"/>
                </a:solidFill>
                <a:latin typeface="新愚公和谐宋-S" charset="-122"/>
                <a:ea typeface="新愚公和谐宋-S" charset="-122"/>
                <a:cs typeface="新愚公和谐宋-S" charset="-122"/>
              </a:rPr>
              <a:t>电商平台</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 </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线下渠道，主要为博物馆门店、联通营业厅、高校快闪店</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用户分析</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11</a:t>
            </a:r>
            <a:endParaRPr lang="en-US" altLang="en-US" sz="1800" b="1" spc="55" dirty="0">
              <a:solidFill>
                <a:srgbClr val="000204"/>
              </a:solidFill>
              <a:latin typeface="Arial" panose="020B0604020202020204"/>
              <a:cs typeface="Arial" panose="020B0604020202020204"/>
            </a:endParaRPr>
          </a:p>
        </p:txBody>
      </p:sp>
      <p:sp>
        <p:nvSpPr>
          <p:cNvPr id="24" name="圆角矩形 23"/>
          <p:cNvSpPr/>
          <p:nvPr/>
        </p:nvSpPr>
        <p:spPr>
          <a:xfrm>
            <a:off x="679450" y="2364740"/>
            <a:ext cx="9227820" cy="3721100"/>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1072515" y="2454275"/>
            <a:ext cx="8513445" cy="3830955"/>
          </a:xfrm>
          <a:prstGeom prst="rect">
            <a:avLst/>
          </a:prstGeom>
          <a:noFill/>
        </p:spPr>
        <p:txBody>
          <a:bodyPr wrap="square" rtlCol="0">
            <a:spAutoFit/>
          </a:bodyPr>
          <a:p>
            <a:pPr marL="0" indent="0" eaLnBrk="1" fontAlgn="auto" latinLnBrk="0" hangingPunct="1">
              <a:lnSpc>
                <a:spcPct val="150000"/>
              </a:lnSpc>
              <a:buFont typeface="Arial" panose="020B0604020202020204" pitchFamily="34" charset="0"/>
              <a:buNone/>
            </a:pPr>
            <a:r>
              <a:rPr lang="zh-CN" altLang="en-US" sz="3000" b="1" u="none" strike="noStrike" kern="0" cap="none" spc="0" normalizeH="0">
                <a:solidFill>
                  <a:srgbClr val="343435"/>
                </a:solidFill>
                <a:latin typeface="新愚公和谐宋-S" charset="-122"/>
                <a:ea typeface="新愚公和谐宋-S" charset="-122"/>
                <a:cs typeface="新愚公和谐宋-S" charset="-122"/>
              </a:rPr>
              <a:t>认知阶段：</a:t>
            </a:r>
            <a:endParaRPr lang="zh-CN" altLang="en-US" sz="3000" b="1"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刷到</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与</a:t>
            </a:r>
            <a:r>
              <a:rPr lang="en-US" altLang="zh-CN" sz="2200" u="none" strike="noStrike" kern="0" cap="none" spc="0" normalizeH="0">
                <a:solidFill>
                  <a:srgbClr val="343435"/>
                </a:solidFill>
                <a:latin typeface="新愚公和谐宋-S" charset="-122"/>
                <a:ea typeface="新愚公和谐宋-S" charset="-122"/>
                <a:cs typeface="新愚公和谐宋-S" charset="-122"/>
              </a:rPr>
              <a:t>1500</a:t>
            </a:r>
            <a:r>
              <a:rPr lang="zh-CN" altLang="en-US" sz="2200" u="none" strike="noStrike" kern="0" cap="none" spc="0" normalizeH="0">
                <a:solidFill>
                  <a:srgbClr val="343435"/>
                </a:solidFill>
                <a:latin typeface="新愚公和谐宋-S" charset="-122"/>
                <a:ea typeface="新愚公和谐宋-S" charset="-122"/>
                <a:cs typeface="新愚公和谐宋-S" charset="-122"/>
              </a:rPr>
              <a:t>年前的牵手</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话题</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来自北魏的未接来电</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en-US" altLang="en-US" sz="2200" b="1" u="none" strike="noStrike" kern="0" cap="none" spc="0" normalizeH="0">
                <a:solidFill>
                  <a:srgbClr val="FF0000"/>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不同人群触发不同情感共鸣：闺蜜被</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跨越千年的友情</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打动、单人用户被</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穿越时空的治愈感</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吸引、国潮爱好者被</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文物</a:t>
            </a:r>
            <a:r>
              <a:rPr lang="en-US" altLang="zh-CN" sz="2200" u="none" strike="noStrike" kern="0" cap="none" spc="0" normalizeH="0">
                <a:solidFill>
                  <a:srgbClr val="343435"/>
                </a:solidFill>
                <a:latin typeface="新愚公和谐宋-S" charset="-122"/>
                <a:ea typeface="新愚公和谐宋-S" charset="-122"/>
                <a:cs typeface="新愚公和谐宋-S" charset="-122"/>
              </a:rPr>
              <a:t> + </a:t>
            </a:r>
            <a:r>
              <a:rPr lang="zh-CN" altLang="en-US" sz="2200" u="none" strike="noStrike" kern="0" cap="none" spc="0" normalizeH="0">
                <a:solidFill>
                  <a:srgbClr val="343435"/>
                </a:solidFill>
                <a:latin typeface="新愚公和谐宋-S" charset="-122"/>
                <a:ea typeface="新愚公和谐宋-S" charset="-122"/>
                <a:cs typeface="新愚公和谐宋-S" charset="-122"/>
              </a:rPr>
              <a:t>科技</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的创意戳中、送礼人群发现</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独特走心的心意载体</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en-US" altLang="en-US" sz="2200" b="1" u="none" strike="noStrike" kern="0" cap="none" spc="0" normalizeH="0">
                <a:solidFill>
                  <a:srgbClr val="FF0000"/>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主动了解项目背景与文物故事</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457200" indent="-457200" eaLnBrk="1" fontAlgn="auto" latinLnBrk="0" hangingPunct="1">
              <a:lnSpc>
                <a:spcPct val="150000"/>
              </a:lnSpc>
              <a:buFont typeface="Arial" panose="020B0604020202020204" pitchFamily="34" charset="0"/>
              <a:buChar char="•"/>
            </a:pP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
        <p:nvSpPr>
          <p:cNvPr id="3" name="文本框 2"/>
          <p:cNvSpPr txBox="1"/>
          <p:nvPr/>
        </p:nvSpPr>
        <p:spPr>
          <a:xfrm>
            <a:off x="603250" y="1387475"/>
            <a:ext cx="4882515" cy="553085"/>
          </a:xfrm>
          <a:prstGeom prst="rect">
            <a:avLst/>
          </a:prstGeom>
          <a:noFill/>
        </p:spPr>
        <p:txBody>
          <a:bodyPr wrap="square" rtlCol="0">
            <a:spAutoFit/>
          </a:bodyPr>
          <a:p>
            <a:r>
              <a:rPr lang="zh-CN" altLang="en-US" sz="3000" b="1" u="none" strike="noStrike" kern="0" cap="none" spc="0" normalizeH="0">
                <a:solidFill>
                  <a:srgbClr val="343435"/>
                </a:solidFill>
                <a:latin typeface="新愚公和谐宋-S" charset="-122"/>
                <a:ea typeface="新愚公和谐宋-S" charset="-122"/>
              </a:rPr>
              <a:t>核心路径：</a:t>
            </a:r>
            <a:endParaRPr lang="zh-CN" altLang="en-US" sz="3000" b="1" u="none" strike="noStrike" kern="0" cap="none" spc="0" normalizeH="0">
              <a:solidFill>
                <a:srgbClr val="343435"/>
              </a:solidFill>
              <a:latin typeface="新愚公和谐宋-S" charset="-122"/>
              <a:ea typeface="新愚公和谐宋-S" charset="-122"/>
            </a:endParaRPr>
          </a:p>
        </p:txBody>
      </p:sp>
      <p:sp>
        <p:nvSpPr>
          <p:cNvPr id="4" name="圆角矩形 3"/>
          <p:cNvSpPr/>
          <p:nvPr/>
        </p:nvSpPr>
        <p:spPr>
          <a:xfrm>
            <a:off x="667385" y="6708140"/>
            <a:ext cx="9240520" cy="3680460"/>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060450" y="6797675"/>
            <a:ext cx="8513445" cy="3830955"/>
          </a:xfrm>
          <a:prstGeom prst="rect">
            <a:avLst/>
          </a:prstGeom>
          <a:noFill/>
        </p:spPr>
        <p:txBody>
          <a:bodyPr wrap="square" rtlCol="0">
            <a:spAutoFit/>
          </a:bodyPr>
          <a:p>
            <a:pPr marL="0" indent="0" eaLnBrk="1" fontAlgn="auto" latinLnBrk="0" hangingPunct="1">
              <a:lnSpc>
                <a:spcPct val="150000"/>
              </a:lnSpc>
              <a:buFont typeface="Arial" panose="020B0604020202020204" pitchFamily="34" charset="0"/>
              <a:buNone/>
            </a:pPr>
            <a:r>
              <a:rPr lang="zh-CN" altLang="en-US" sz="3000" b="1" u="none" strike="noStrike" kern="0" cap="none" spc="0" normalizeH="0">
                <a:solidFill>
                  <a:srgbClr val="343435"/>
                </a:solidFill>
                <a:latin typeface="新愚公和谐宋-S" charset="-122"/>
                <a:ea typeface="新愚公和谐宋-S" charset="-122"/>
                <a:cs typeface="新愚公和谐宋-S" charset="-122"/>
                <a:sym typeface="+mn-ea"/>
              </a:rPr>
              <a:t>兴趣阶段：</a:t>
            </a:r>
            <a:endParaRPr lang="zh-CN" altLang="en-US" sz="3000" b="1" u="none" strike="noStrike" kern="0" cap="none" spc="0" normalizeH="0">
              <a:solidFill>
                <a:srgbClr val="343435"/>
              </a:solidFill>
              <a:latin typeface="新愚公和谐宋-S" charset="-122"/>
              <a:ea typeface="新愚公和谐宋-S" charset="-122"/>
              <a:cs typeface="新愚公和谐宋-S" charset="-122"/>
              <a:sym typeface="+mn-ea"/>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进入</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H5“</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北魏牵手信号恢复计划</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a:t>
            </a:r>
            <a:r>
              <a:rPr lang="en-US" altLang="en-US" sz="2200" b="1" u="none" strike="noStrike" kern="0" cap="none" spc="0" normalizeH="0">
                <a:solidFill>
                  <a:srgbClr val="FF0000"/>
                </a:solidFill>
                <a:latin typeface="新愚公和谐宋-S" charset="-122"/>
                <a:ea typeface="新愚公和谐宋-S" charset="-122"/>
                <a:cs typeface="新愚公和谐宋-S" charset="-122"/>
                <a:sym typeface="+mn-ea"/>
              </a:rPr>
              <a:t>→ </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体验</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AR</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牵手特效</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生成</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AI</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专属身份卡</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解锁文物语音彩蛋</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sym typeface="+mn-ea"/>
              </a:rPr>
              <a:t>→ </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不同人群选择对应玩法：闺蜜组队完成双人信号收集任务、单人用户独自探索剧情线、国潮爱好者深挖北魏文化隐藏内容、送礼人群预览定制化选项</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sym typeface="+mn-ea"/>
              </a:rPr>
              <a:t>→ </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产生</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参与一场跨越时空的守护</a:t>
            </a:r>
            <a:r>
              <a:rPr lang="en-US" altLang="zh-CN" sz="2200" u="none" strike="noStrike" kern="0" cap="none" spc="0" normalizeH="0">
                <a:solidFill>
                  <a:srgbClr val="343435"/>
                </a:solidFill>
                <a:latin typeface="新愚公和谐宋-S" charset="-122"/>
                <a:ea typeface="新愚公和谐宋-S" charset="-122"/>
                <a:cs typeface="新愚公和谐宋-S" charset="-122"/>
                <a:sym typeface="+mn-ea"/>
              </a:rPr>
              <a:t>”</a:t>
            </a:r>
            <a:r>
              <a:rPr lang="zh-CN" altLang="en-US" sz="2200" u="none" strike="noStrike" kern="0" cap="none" spc="0" normalizeH="0">
                <a:solidFill>
                  <a:srgbClr val="343435"/>
                </a:solidFill>
                <a:latin typeface="新愚公和谐宋-S" charset="-122"/>
                <a:ea typeface="新愚公和谐宋-S" charset="-122"/>
                <a:cs typeface="新愚公和谐宋-S" charset="-122"/>
                <a:sym typeface="+mn-ea"/>
              </a:rPr>
              <a:t>的代入感</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457200" indent="-457200" eaLnBrk="1" fontAlgn="auto" latinLnBrk="0" hangingPunct="1">
              <a:lnSpc>
                <a:spcPct val="150000"/>
              </a:lnSpc>
              <a:buFont typeface="Arial" panose="020B0604020202020204" pitchFamily="34" charset="0"/>
              <a:buChar char="•"/>
            </a:pP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
        <p:nvSpPr>
          <p:cNvPr id="8" name="圆角矩形 7"/>
          <p:cNvSpPr/>
          <p:nvPr/>
        </p:nvSpPr>
        <p:spPr>
          <a:xfrm>
            <a:off x="10268585" y="2364740"/>
            <a:ext cx="9227820" cy="3721100"/>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661650" y="2454275"/>
            <a:ext cx="8513445" cy="3322955"/>
          </a:xfrm>
          <a:prstGeom prst="rect">
            <a:avLst/>
          </a:prstGeom>
          <a:noFill/>
        </p:spPr>
        <p:txBody>
          <a:bodyPr wrap="square" rtlCol="0">
            <a:spAutoFit/>
          </a:bodyPr>
          <a:p>
            <a:pPr marL="0" indent="0" eaLnBrk="1" fontAlgn="auto" latinLnBrk="0" hangingPunct="1">
              <a:lnSpc>
                <a:spcPct val="150000"/>
              </a:lnSpc>
              <a:buFont typeface="Arial" panose="020B0604020202020204" pitchFamily="34" charset="0"/>
              <a:buNone/>
            </a:pPr>
            <a:r>
              <a:rPr lang="zh-CN" altLang="en-US" sz="3000" b="1" u="none" strike="noStrike" kern="0" cap="none" spc="0" normalizeH="0">
                <a:solidFill>
                  <a:srgbClr val="343435"/>
                </a:solidFill>
                <a:latin typeface="新愚公和谐宋-S" charset="-122"/>
                <a:ea typeface="新愚公和谐宋-S" charset="-122"/>
                <a:cs typeface="新愚公和谐宋-S" charset="-122"/>
              </a:rPr>
              <a:t>转化阶段：</a:t>
            </a:r>
            <a:endParaRPr lang="zh-CN" altLang="en-US" sz="3000" b="1"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被产品的情感价值与科技互动打动</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不同人群按需选择：闺蜜入手双人牵手限定礼盒、单人用户购买心仪单品、国潮爱好者收藏全套系列、送礼人群定制刻字专属款</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rPr>
              <a:t>→</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认为</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买的不是产品，是一份跨越千年的情感信物</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rPr>
              <a:t>→</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完成下单并收到带有专属编号的产品与纪念证书</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
        <p:nvSpPr>
          <p:cNvPr id="10" name="圆角矩形 9"/>
          <p:cNvSpPr/>
          <p:nvPr/>
        </p:nvSpPr>
        <p:spPr>
          <a:xfrm>
            <a:off x="10268585" y="6745605"/>
            <a:ext cx="9240520" cy="3643630"/>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0661650" y="6835140"/>
            <a:ext cx="8513445" cy="3322955"/>
          </a:xfrm>
          <a:prstGeom prst="rect">
            <a:avLst/>
          </a:prstGeom>
          <a:noFill/>
        </p:spPr>
        <p:txBody>
          <a:bodyPr wrap="square" rtlCol="0">
            <a:spAutoFit/>
          </a:bodyPr>
          <a:p>
            <a:pPr marL="0" indent="0" eaLnBrk="1" fontAlgn="auto" latinLnBrk="0" hangingPunct="1">
              <a:lnSpc>
                <a:spcPct val="150000"/>
              </a:lnSpc>
              <a:buFont typeface="Arial" panose="020B0604020202020204" pitchFamily="34" charset="0"/>
              <a:buNone/>
            </a:pPr>
            <a:r>
              <a:rPr lang="zh-CN" altLang="en-US" sz="3000" b="1" u="none" strike="noStrike" kern="0" cap="none" spc="0" normalizeH="0">
                <a:solidFill>
                  <a:srgbClr val="343435"/>
                </a:solidFill>
                <a:latin typeface="新愚公和谐宋-S" charset="-122"/>
                <a:ea typeface="新愚公和谐宋-S" charset="-122"/>
                <a:cs typeface="新愚公和谐宋-S" charset="-122"/>
              </a:rPr>
              <a:t>传播阶段：</a:t>
            </a:r>
            <a:endParaRPr lang="zh-CN" altLang="en-US" sz="3000" b="1"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拍摄产品实拍、</a:t>
            </a:r>
            <a:r>
              <a:rPr lang="en-US" altLang="zh-CN" sz="2200" u="none" strike="noStrike" kern="0" cap="none" spc="0" normalizeH="0">
                <a:solidFill>
                  <a:srgbClr val="343435"/>
                </a:solidFill>
                <a:latin typeface="新愚公和谐宋-S" charset="-122"/>
                <a:ea typeface="新愚公和谐宋-S" charset="-122"/>
                <a:cs typeface="新愚公和谐宋-S" charset="-122"/>
              </a:rPr>
              <a:t>AR</a:t>
            </a:r>
            <a:r>
              <a:rPr lang="zh-CN" altLang="en-US" sz="2200" u="none" strike="noStrike" kern="0" cap="none" spc="0" normalizeH="0">
                <a:solidFill>
                  <a:srgbClr val="343435"/>
                </a:solidFill>
                <a:latin typeface="新愚公和谐宋-S" charset="-122"/>
                <a:ea typeface="新愚公和谐宋-S" charset="-122"/>
                <a:cs typeface="新愚公和谐宋-S" charset="-122"/>
              </a:rPr>
              <a:t>特效视频等</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rPr>
              <a:t>→</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不同人群分享不同内容：闺蜜晒双人互动日常、单人用户分享与千年文物的隔空对话、国潮爱好者解读文物背后的历史、送礼人群晒收礼人的感动瞬间</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rPr>
              <a:t>→</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参与</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我的千年牵手故事</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话题挑战</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rPr>
              <a:t>→</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获得官方转发</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数字藏品奖励</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en-US" altLang="en-US" sz="2200" b="1" u="none" strike="noStrike" kern="0" cap="none" spc="0" normalizeH="0">
                <a:solidFill>
                  <a:srgbClr val="FF0000"/>
                </a:solidFill>
                <a:latin typeface="新愚公和谐宋-S" charset="-122"/>
                <a:ea typeface="新愚公和谐宋-S" charset="-122"/>
                <a:cs typeface="新愚公和谐宋-S" charset="-122"/>
              </a:rPr>
              <a:t>→</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自发传递</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连接与陪伴</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的核心情感</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用户分析</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12</a:t>
            </a:r>
            <a:endParaRPr lang="en-US" altLang="en-US" sz="1800" b="1" spc="55" dirty="0">
              <a:solidFill>
                <a:srgbClr val="000204"/>
              </a:solidFill>
              <a:latin typeface="Arial" panose="020B0604020202020204"/>
              <a:cs typeface="Arial" panose="020B0604020202020204"/>
            </a:endParaRPr>
          </a:p>
        </p:txBody>
      </p:sp>
      <p:sp>
        <p:nvSpPr>
          <p:cNvPr id="3" name="文本框 2"/>
          <p:cNvSpPr txBox="1"/>
          <p:nvPr/>
        </p:nvSpPr>
        <p:spPr>
          <a:xfrm>
            <a:off x="1518285" y="2149475"/>
            <a:ext cx="16838295" cy="553085"/>
          </a:xfrm>
          <a:prstGeom prst="rect">
            <a:avLst/>
          </a:prstGeom>
          <a:noFill/>
        </p:spPr>
        <p:txBody>
          <a:bodyPr wrap="square" rtlCol="0">
            <a:spAutoFit/>
          </a:bodyPr>
          <a:p>
            <a:r>
              <a:rPr lang="zh-CN" altLang="en-US" sz="3000" b="1" u="none" strike="noStrike" kern="0" cap="none" spc="0" normalizeH="0">
                <a:solidFill>
                  <a:srgbClr val="343435"/>
                </a:solidFill>
                <a:latin typeface="新愚公和谐宋-S" charset="-122"/>
                <a:ea typeface="新愚公和谐宋-S" charset="-122"/>
              </a:rPr>
              <a:t>核心场景：</a:t>
            </a:r>
            <a:r>
              <a:rPr lang="zh-CN" altLang="en-US" sz="3000" b="0" u="none" strike="noStrike" kern="0" cap="none" spc="0" normalizeH="0">
                <a:solidFill>
                  <a:srgbClr val="343435"/>
                </a:solidFill>
                <a:latin typeface="新愚公和谐宋-S" charset="-122"/>
                <a:ea typeface="新愚公和谐宋-S" charset="-122"/>
              </a:rPr>
              <a:t>日常随身陪伴、节日走心送礼、社交内容分享、线下沉浸式打卡、文化深度探索</a:t>
            </a:r>
            <a:endParaRPr lang="zh-CN" altLang="en-US" sz="3000" b="0" u="none" strike="noStrike" kern="0" cap="none" spc="0" normalizeH="0">
              <a:solidFill>
                <a:srgbClr val="343435"/>
              </a:solidFill>
              <a:latin typeface="新愚公和谐宋-S" charset="-122"/>
              <a:ea typeface="新愚公和谐宋-S" charset="-122"/>
            </a:endParaRPr>
          </a:p>
        </p:txBody>
      </p:sp>
      <p:sp>
        <p:nvSpPr>
          <p:cNvPr id="6" name="圆角矩形 5"/>
          <p:cNvSpPr/>
          <p:nvPr/>
        </p:nvSpPr>
        <p:spPr>
          <a:xfrm>
            <a:off x="679450" y="3509010"/>
            <a:ext cx="18821400" cy="5311140"/>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148715" y="3825875"/>
            <a:ext cx="17731105" cy="4661535"/>
          </a:xfrm>
          <a:prstGeom prst="rect">
            <a:avLst/>
          </a:prstGeom>
          <a:noFill/>
        </p:spPr>
        <p:txBody>
          <a:bodyPr wrap="square" rtlCol="0">
            <a:spAutoFit/>
          </a:bodyPr>
          <a:p>
            <a:pPr marL="342900" indent="-342900" eaLnBrk="1" fontAlgn="auto" latinLnBrk="0" hangingPunct="1">
              <a:lnSpc>
                <a:spcPct val="150000"/>
              </a:lnSpc>
              <a:buFont typeface="Arial" panose="020B0604020202020204" pitchFamily="34" charset="0"/>
              <a:buChar char="•"/>
            </a:pPr>
            <a:r>
              <a:rPr lang="zh-CN" altLang="en-US" sz="2200" u="none" strike="noStrike" kern="0" cap="none" spc="0" normalizeH="0">
                <a:solidFill>
                  <a:srgbClr val="343435"/>
                </a:solidFill>
                <a:latin typeface="新愚公和谐宋-S" charset="-122"/>
                <a:ea typeface="新愚公和谐宋-S" charset="-122"/>
                <a:cs typeface="新愚公和谐宋-S" charset="-122"/>
              </a:rPr>
              <a:t>通勤办公、课间休息时，用户可使用牵手女俑主题手机壳、充电宝、蓝牙音箱，扫码解锁闺蜜、单人、情侣不同版本的专属语音彩蛋，在日常点滴中获得跨越千年的温暖陪伴；</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342900" indent="-342900" eaLnBrk="1" fontAlgn="auto" latinLnBrk="0" hangingPunct="1">
              <a:lnSpc>
                <a:spcPct val="150000"/>
              </a:lnSpc>
              <a:buFont typeface="Arial" panose="020B0604020202020204" pitchFamily="34" charset="0"/>
              <a:buChar char="•"/>
            </a:pPr>
            <a:r>
              <a:rPr lang="zh-CN" altLang="en-US" sz="2200" u="none" strike="noStrike" kern="0" cap="none" spc="0" normalizeH="0">
                <a:solidFill>
                  <a:srgbClr val="343435"/>
                </a:solidFill>
                <a:latin typeface="新愚公和谐宋-S" charset="-122"/>
                <a:ea typeface="新愚公和谐宋-S" charset="-122"/>
                <a:cs typeface="新愚公和谐宋-S" charset="-122"/>
              </a:rPr>
              <a:t>生日、毕业季、各类节日节点，可选择双人限定礼盒或单人典藏款并定制刻字，通过礼盒内置的语音贺卡功能录制专属祝福，将</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千年牵手</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作为传递友情、自我犒赏的独特心意载体；</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342900" indent="-342900" eaLnBrk="1" fontAlgn="auto" latinLnBrk="0" hangingPunct="1">
              <a:lnSpc>
                <a:spcPct val="150000"/>
              </a:lnSpc>
              <a:buFont typeface="Arial" panose="020B0604020202020204" pitchFamily="34" charset="0"/>
              <a:buChar char="•"/>
            </a:pPr>
            <a:r>
              <a:rPr lang="zh-CN" altLang="en-US" sz="2200" u="none" strike="noStrike" kern="0" cap="none" spc="0" normalizeH="0">
                <a:solidFill>
                  <a:srgbClr val="343435"/>
                </a:solidFill>
                <a:latin typeface="新愚公和谐宋-S" charset="-122"/>
                <a:ea typeface="新愚公和谐宋-S" charset="-122"/>
                <a:cs typeface="新愚公和谐宋-S" charset="-122"/>
              </a:rPr>
              <a:t>在小红书、抖音、朋友圈分享生活时，可拍摄产品实拍、体验</a:t>
            </a:r>
            <a:r>
              <a:rPr lang="en-US" altLang="zh-CN" sz="2200" u="none" strike="noStrike" kern="0" cap="none" spc="0" normalizeH="0">
                <a:solidFill>
                  <a:srgbClr val="343435"/>
                </a:solidFill>
                <a:latin typeface="Arial" panose="020B0604020202020204" pitchFamily="34" charset="0"/>
                <a:ea typeface="新愚公和谐宋-S" charset="-122"/>
                <a:cs typeface="Arial" panose="020B0604020202020204" pitchFamily="34" charset="0"/>
              </a:rPr>
              <a:t>AR</a:t>
            </a:r>
            <a:r>
              <a:rPr lang="zh-CN" altLang="en-US" sz="2200" u="none" strike="noStrike" kern="0" cap="none" spc="0" normalizeH="0">
                <a:solidFill>
                  <a:srgbClr val="343435"/>
                </a:solidFill>
                <a:latin typeface="新愚公和谐宋-S" charset="-122"/>
                <a:ea typeface="新愚公和谐宋-S" charset="-122"/>
                <a:cs typeface="新愚公和谐宋-S" charset="-122"/>
              </a:rPr>
              <a:t>牵手特效、生成</a:t>
            </a:r>
            <a:r>
              <a:rPr lang="en-US" altLang="zh-CN" sz="2200" u="none" strike="noStrike" kern="0" cap="none" spc="0" normalizeH="0">
                <a:solidFill>
                  <a:srgbClr val="343435"/>
                </a:solidFill>
                <a:latin typeface="Arial" panose="020B0604020202020204" pitchFamily="34" charset="0"/>
                <a:ea typeface="新愚公和谐宋-S" charset="-122"/>
                <a:cs typeface="Arial" panose="020B0604020202020204" pitchFamily="34" charset="0"/>
              </a:rPr>
              <a:t>AI</a:t>
            </a:r>
            <a:r>
              <a:rPr lang="zh-CN" altLang="en-US" sz="2200" u="none" strike="noStrike" kern="0" cap="none" spc="0" normalizeH="0">
                <a:solidFill>
                  <a:srgbClr val="343435"/>
                </a:solidFill>
                <a:latin typeface="新愚公和谐宋-S" charset="-122"/>
                <a:ea typeface="新愚公和谐宋-S" charset="-122"/>
                <a:cs typeface="新愚公和谐宋-S" charset="-122"/>
              </a:rPr>
              <a:t>千年身份卡与动态剧情海报，一键带话题分享，满足不同人群的社交表达需求；</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342900" indent="-342900" eaLnBrk="1" fontAlgn="auto" latinLnBrk="0" hangingPunct="1">
              <a:lnSpc>
                <a:spcPct val="150000"/>
              </a:lnSpc>
              <a:buFont typeface="Arial" panose="020B0604020202020204" pitchFamily="34" charset="0"/>
              <a:buChar char="•"/>
            </a:pPr>
            <a:r>
              <a:rPr lang="zh-CN" altLang="en-US" sz="2200" u="none" strike="noStrike" kern="0" cap="none" spc="0" normalizeH="0">
                <a:solidFill>
                  <a:srgbClr val="343435"/>
                </a:solidFill>
                <a:latin typeface="新愚公和谐宋-S" charset="-122"/>
                <a:ea typeface="新愚公和谐宋-S" charset="-122"/>
                <a:cs typeface="新愚公和谐宋-S" charset="-122"/>
              </a:rPr>
              <a:t>周末前往联通营业厅或高校快闪店，可与闺蜜、家人一起参与牵手点亮</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千年牵手灯</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互动，获得实体纪念证书，创造沉浸式跨时空体验；闲暇之余，还能通过主题笔记本扫码观看专家讲解、解锁北魏文化隐藏关卡与剧情彩蛋，让国潮爱好者与普通用户都能轻松感受传统文化魅力。</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用户分析</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创意</a:t>
            </a:r>
            <a:r>
              <a:rPr lang="zh-CN" altLang="en-US" sz="3200" b="0" spc="-10" dirty="0">
                <a:solidFill>
                  <a:srgbClr val="8E9192"/>
                </a:solidFill>
                <a:latin typeface="新愚公和谐宋-S" charset="-122"/>
                <a:ea typeface="新愚公和谐宋-S" charset="-122"/>
                <a:cs typeface="Arial" panose="020B0604020202020204"/>
              </a:rPr>
              <a:t>呈现</a:t>
            </a:r>
            <a:endParaRPr lang="zh-CN" altLang="en-US" sz="3200" b="0" spc="-10" dirty="0">
              <a:solidFill>
                <a:srgbClr val="8E9192"/>
              </a:solid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13</a:t>
            </a:r>
            <a:endParaRPr lang="en-US" altLang="en-US" sz="1800" b="1" spc="55" dirty="0">
              <a:solidFill>
                <a:srgbClr val="000204"/>
              </a:solidFill>
              <a:latin typeface="Arial" panose="020B0604020202020204"/>
              <a:cs typeface="Arial" panose="020B0604020202020204"/>
            </a:endParaRPr>
          </a:p>
        </p:txBody>
      </p:sp>
      <p:sp>
        <p:nvSpPr>
          <p:cNvPr id="24" name="圆角矩形 23"/>
          <p:cNvSpPr/>
          <p:nvPr/>
        </p:nvSpPr>
        <p:spPr>
          <a:xfrm>
            <a:off x="679450" y="2136140"/>
            <a:ext cx="9227820" cy="4260850"/>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1072515" y="2225675"/>
            <a:ext cx="8513445" cy="3830955"/>
          </a:xfrm>
          <a:prstGeom prst="rect">
            <a:avLst/>
          </a:prstGeom>
          <a:noFill/>
        </p:spPr>
        <p:txBody>
          <a:bodyPr wrap="square" rtlCol="0">
            <a:spAutoFit/>
          </a:bodyPr>
          <a:p>
            <a:pPr marL="0" indent="0" eaLnBrk="1" fontAlgn="auto" latinLnBrk="0" hangingPunct="1">
              <a:lnSpc>
                <a:spcPct val="150000"/>
              </a:lnSpc>
              <a:buFont typeface="Arial" panose="020B0604020202020204" pitchFamily="34" charset="0"/>
              <a:buNone/>
            </a:pPr>
            <a:r>
              <a:rPr lang="zh-CN" altLang="en-US" sz="3000" b="1" u="none" strike="noStrike" kern="0" cap="none" spc="0" normalizeH="0">
                <a:solidFill>
                  <a:srgbClr val="343435"/>
                </a:solidFill>
                <a:latin typeface="新愚公和谐宋-S" charset="-122"/>
                <a:ea typeface="新愚公和谐宋-S" charset="-122"/>
                <a:cs typeface="新愚公和谐宋-S" charset="-122"/>
              </a:rPr>
              <a:t>现有文创</a:t>
            </a:r>
            <a:r>
              <a:rPr lang="zh-CN" altLang="en-US" sz="3000" b="1" u="none" strike="noStrike" kern="0" cap="none" spc="0" normalizeH="0">
                <a:solidFill>
                  <a:srgbClr val="343435"/>
                </a:solidFill>
                <a:latin typeface="新愚公和谐宋-S" charset="-122"/>
                <a:ea typeface="新愚公和谐宋-S" charset="-122"/>
                <a:cs typeface="新愚公和谐宋-S" charset="-122"/>
              </a:rPr>
              <a:t>痛点</a:t>
            </a:r>
            <a:endParaRPr lang="zh-CN" altLang="en-US" sz="3000" b="1"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同质化严重：</a:t>
            </a:r>
            <a:r>
              <a:rPr lang="en-US" altLang="zh-CN" sz="2200" u="none" strike="noStrike" kern="0" cap="none" spc="0" normalizeH="0">
                <a:solidFill>
                  <a:srgbClr val="343435"/>
                </a:solidFill>
                <a:latin typeface="新愚公和谐宋-S" charset="-122"/>
                <a:ea typeface="新愚公和谐宋-S" charset="-122"/>
                <a:cs typeface="新愚公和谐宋-S" charset="-122"/>
              </a:rPr>
              <a:t>87.2%</a:t>
            </a:r>
            <a:r>
              <a:rPr lang="zh-CN" altLang="en-US" sz="2200" u="none" strike="noStrike" kern="0" cap="none" spc="0" normalizeH="0">
                <a:solidFill>
                  <a:srgbClr val="343435"/>
                </a:solidFill>
                <a:latin typeface="新愚公和谐宋-S" charset="-122"/>
                <a:ea typeface="新愚公和谐宋-S" charset="-122"/>
                <a:cs typeface="新愚公和谐宋-S" charset="-122"/>
              </a:rPr>
              <a:t>的用户认为市面上多数文创</a:t>
            </a:r>
            <a:r>
              <a:rPr lang="en-US" altLang="zh-CN" sz="2200" u="none" strike="noStrike" kern="0" cap="none" spc="0" normalizeH="0">
                <a:solidFill>
                  <a:srgbClr val="343435"/>
                </a:solidFill>
                <a:latin typeface="新愚公和谐宋-S" charset="-122"/>
                <a:ea typeface="新愚公和谐宋-S" charset="-122"/>
                <a:cs typeface="新愚公和谐宋-S" charset="-122"/>
              </a:rPr>
              <a:t> “</a:t>
            </a:r>
            <a:r>
              <a:rPr lang="zh-CN" altLang="en-US" sz="2200" u="none" strike="noStrike" kern="0" cap="none" spc="0" normalizeH="0">
                <a:solidFill>
                  <a:srgbClr val="343435"/>
                </a:solidFill>
                <a:latin typeface="新愚公和谐宋-S" charset="-122"/>
                <a:ea typeface="新愚公和谐宋-S" charset="-122"/>
                <a:cs typeface="新愚公和谐宋-S" charset="-122"/>
              </a:rPr>
              <a:t>只是简单印花，没有灵魂</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en-US" altLang="zh-CN"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情感缺失：</a:t>
            </a:r>
            <a:r>
              <a:rPr lang="en-US" altLang="zh-CN" sz="2200" u="none" strike="noStrike" kern="0" cap="none" spc="0" normalizeH="0">
                <a:solidFill>
                  <a:srgbClr val="343435"/>
                </a:solidFill>
                <a:latin typeface="新愚公和谐宋-S" charset="-122"/>
                <a:ea typeface="新愚公和谐宋-S" charset="-122"/>
                <a:cs typeface="新愚公和谐宋-S" charset="-122"/>
              </a:rPr>
              <a:t>79.6%</a:t>
            </a:r>
            <a:r>
              <a:rPr lang="zh-CN" altLang="en-US" sz="2200" u="none" strike="noStrike" kern="0" cap="none" spc="0" normalizeH="0">
                <a:solidFill>
                  <a:srgbClr val="343435"/>
                </a:solidFill>
                <a:latin typeface="新愚公和谐宋-S" charset="-122"/>
                <a:ea typeface="新愚公和谐宋-S" charset="-122"/>
                <a:cs typeface="新愚公和谐宋-S" charset="-122"/>
              </a:rPr>
              <a:t>的用户表示</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很少有文创能真正打动我，都是千篇一律的图案</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en-US" altLang="zh-CN"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互动性差：</a:t>
            </a:r>
            <a:r>
              <a:rPr lang="en-US" altLang="zh-CN" sz="2200" u="none" strike="noStrike" kern="0" cap="none" spc="0" normalizeH="0">
                <a:solidFill>
                  <a:srgbClr val="343435"/>
                </a:solidFill>
                <a:latin typeface="新愚公和谐宋-S" charset="-122"/>
                <a:ea typeface="新愚公和谐宋-S" charset="-122"/>
                <a:cs typeface="新愚公和谐宋-S" charset="-122"/>
              </a:rPr>
              <a:t>83.1%</a:t>
            </a:r>
            <a:r>
              <a:rPr lang="zh-CN" altLang="en-US" sz="2200" u="none" strike="noStrike" kern="0" cap="none" spc="0" normalizeH="0">
                <a:solidFill>
                  <a:srgbClr val="343435"/>
                </a:solidFill>
                <a:latin typeface="新愚公和谐宋-S" charset="-122"/>
                <a:ea typeface="新愚公和谐宋-S" charset="-122"/>
                <a:cs typeface="新愚公和谐宋-S" charset="-122"/>
              </a:rPr>
              <a:t>的用户希望文创产品能有</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更多好玩的互动玩法，而不只是摆着看</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
        <p:nvSpPr>
          <p:cNvPr id="3" name="文本框 2"/>
          <p:cNvSpPr txBox="1"/>
          <p:nvPr/>
        </p:nvSpPr>
        <p:spPr>
          <a:xfrm>
            <a:off x="603250" y="1387475"/>
            <a:ext cx="4882515" cy="553085"/>
          </a:xfrm>
          <a:prstGeom prst="rect">
            <a:avLst/>
          </a:prstGeom>
          <a:noFill/>
        </p:spPr>
        <p:txBody>
          <a:bodyPr wrap="square" rtlCol="0">
            <a:spAutoFit/>
          </a:bodyPr>
          <a:p>
            <a:r>
              <a:rPr lang="zh-CN" altLang="en-US" sz="3000" b="1" u="none" strike="noStrike" kern="0" cap="none" spc="0" normalizeH="0">
                <a:solidFill>
                  <a:srgbClr val="343435"/>
                </a:solidFill>
                <a:latin typeface="新愚公和谐宋-S" charset="-122"/>
                <a:ea typeface="新愚公和谐宋-S" charset="-122"/>
              </a:rPr>
              <a:t>用户现存</a:t>
            </a:r>
            <a:r>
              <a:rPr lang="zh-CN" altLang="en-US" sz="3000" b="1" u="none" strike="noStrike" kern="0" cap="none" spc="0" normalizeH="0">
                <a:solidFill>
                  <a:srgbClr val="343435"/>
                </a:solidFill>
                <a:latin typeface="新愚公和谐宋-S" charset="-122"/>
                <a:ea typeface="新愚公和谐宋-S" charset="-122"/>
              </a:rPr>
              <a:t>痛点：</a:t>
            </a:r>
            <a:endParaRPr lang="zh-CN" altLang="en-US" sz="3000" b="1" u="none" strike="noStrike" kern="0" cap="none" spc="0" normalizeH="0">
              <a:solidFill>
                <a:srgbClr val="343435"/>
              </a:solidFill>
              <a:latin typeface="新愚公和谐宋-S" charset="-122"/>
              <a:ea typeface="新愚公和谐宋-S" charset="-122"/>
            </a:endParaRPr>
          </a:p>
        </p:txBody>
      </p:sp>
      <p:sp>
        <p:nvSpPr>
          <p:cNvPr id="6" name="圆角矩形 5"/>
          <p:cNvSpPr/>
          <p:nvPr/>
        </p:nvSpPr>
        <p:spPr>
          <a:xfrm>
            <a:off x="10268585" y="2136140"/>
            <a:ext cx="9227820" cy="4270375"/>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0661650" y="2225675"/>
            <a:ext cx="8513445" cy="3830955"/>
          </a:xfrm>
          <a:prstGeom prst="rect">
            <a:avLst/>
          </a:prstGeom>
          <a:noFill/>
        </p:spPr>
        <p:txBody>
          <a:bodyPr wrap="square" rtlCol="0">
            <a:spAutoFit/>
          </a:bodyPr>
          <a:p>
            <a:pPr marL="0" indent="0" eaLnBrk="1" fontAlgn="auto" latinLnBrk="0" hangingPunct="1">
              <a:lnSpc>
                <a:spcPct val="150000"/>
              </a:lnSpc>
              <a:buFont typeface="Arial" panose="020B0604020202020204" pitchFamily="34" charset="0"/>
              <a:buNone/>
            </a:pPr>
            <a:r>
              <a:rPr lang="zh-CN" altLang="en-US" sz="3000" b="1" u="none" strike="noStrike" kern="0" cap="none" spc="0" normalizeH="0">
                <a:solidFill>
                  <a:srgbClr val="343435"/>
                </a:solidFill>
                <a:latin typeface="新愚公和谐宋-S" charset="-122"/>
                <a:ea typeface="新愚公和谐宋-S" charset="-122"/>
                <a:cs typeface="新愚公和谐宋-S" charset="-122"/>
              </a:rPr>
              <a:t>现有运营商服务痛点</a:t>
            </a:r>
            <a:endParaRPr lang="zh-CN" altLang="en-US" sz="24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工具属性过强：</a:t>
            </a:r>
            <a:r>
              <a:rPr lang="en-US" altLang="zh-CN" sz="2200" u="none" strike="noStrike" kern="0" cap="none" spc="0" normalizeH="0">
                <a:solidFill>
                  <a:srgbClr val="343435"/>
                </a:solidFill>
                <a:latin typeface="新愚公和谐宋-S" charset="-122"/>
                <a:ea typeface="新愚公和谐宋-S" charset="-122"/>
                <a:cs typeface="新愚公和谐宋-S" charset="-122"/>
              </a:rPr>
              <a:t>76.5%</a:t>
            </a:r>
            <a:r>
              <a:rPr lang="zh-CN" altLang="en-US" sz="2200" u="none" strike="noStrike" kern="0" cap="none" spc="0" normalizeH="0">
                <a:solidFill>
                  <a:srgbClr val="343435"/>
                </a:solidFill>
                <a:latin typeface="新愚公和谐宋-S" charset="-122"/>
                <a:ea typeface="新愚公和谐宋-S" charset="-122"/>
                <a:cs typeface="新愚公和谐宋-S" charset="-122"/>
              </a:rPr>
              <a:t>的用户对联通的认知仅停留在</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办卡、装宽带</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，认为运营商</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没有温度</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en-US" altLang="zh-CN"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年轻化不足：</a:t>
            </a:r>
            <a:r>
              <a:rPr lang="en-US" altLang="zh-CN" sz="2200" u="none" strike="noStrike" kern="0" cap="none" spc="0" normalizeH="0">
                <a:solidFill>
                  <a:srgbClr val="343435"/>
                </a:solidFill>
                <a:latin typeface="新愚公和谐宋-S" charset="-122"/>
                <a:ea typeface="新愚公和谐宋-S" charset="-122"/>
                <a:cs typeface="新愚公和谐宋-S" charset="-122"/>
              </a:rPr>
              <a:t>68.9%</a:t>
            </a:r>
            <a:r>
              <a:rPr lang="zh-CN" altLang="en-US" sz="2200" u="none" strike="noStrike" kern="0" cap="none" spc="0" normalizeH="0">
                <a:solidFill>
                  <a:srgbClr val="343435"/>
                </a:solidFill>
                <a:latin typeface="新愚公和谐宋-S" charset="-122"/>
                <a:ea typeface="新愚公和谐宋-S" charset="-122"/>
                <a:cs typeface="新愚公和谐宋-S" charset="-122"/>
              </a:rPr>
              <a:t>的</a:t>
            </a:r>
            <a:r>
              <a:rPr lang="en-US" altLang="zh-CN" sz="2200" u="none" strike="noStrike" kern="0" cap="none" spc="0" normalizeH="0">
                <a:solidFill>
                  <a:srgbClr val="343435"/>
                </a:solidFill>
                <a:latin typeface="新愚公和谐宋-S" charset="-122"/>
                <a:ea typeface="新愚公和谐宋-S" charset="-122"/>
                <a:cs typeface="新愚公和谐宋-S" charset="-122"/>
              </a:rPr>
              <a:t>18-25</a:t>
            </a:r>
            <a:r>
              <a:rPr lang="zh-CN" altLang="en-US" sz="2200" u="none" strike="noStrike" kern="0" cap="none" spc="0" normalizeH="0">
                <a:solidFill>
                  <a:srgbClr val="343435"/>
                </a:solidFill>
                <a:latin typeface="新愚公和谐宋-S" charset="-122"/>
                <a:ea typeface="新愚公和谐宋-S" charset="-122"/>
                <a:cs typeface="新愚公和谐宋-S" charset="-122"/>
              </a:rPr>
              <a:t>岁用户表示</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不会主动关注联通的营销活动，觉得和自己无关</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文创认可度低：</a:t>
            </a:r>
            <a:r>
              <a:rPr lang="en-US" altLang="zh-CN" sz="2200" u="none" strike="noStrike" kern="0" cap="none" spc="0" normalizeH="0">
                <a:solidFill>
                  <a:srgbClr val="343435"/>
                </a:solidFill>
                <a:latin typeface="新愚公和谐宋-S" charset="-122"/>
                <a:ea typeface="新愚公和谐宋-S" charset="-122"/>
                <a:cs typeface="新愚公和谐宋-S" charset="-122"/>
              </a:rPr>
              <a:t>81.3%</a:t>
            </a:r>
            <a:r>
              <a:rPr lang="zh-CN" altLang="en-US" sz="2200" u="none" strike="noStrike" kern="0" cap="none" spc="0" normalizeH="0">
                <a:solidFill>
                  <a:srgbClr val="343435"/>
                </a:solidFill>
                <a:latin typeface="新愚公和谐宋-S" charset="-122"/>
                <a:ea typeface="新愚公和谐宋-S" charset="-122"/>
                <a:cs typeface="新愚公和谐宋-S" charset="-122"/>
              </a:rPr>
              <a:t>的用户认为运营商文创</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都是赠品，质量差，不会花钱买</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
        <p:nvSpPr>
          <p:cNvPr id="16" name="圆角矩形 15"/>
          <p:cNvSpPr/>
          <p:nvPr/>
        </p:nvSpPr>
        <p:spPr>
          <a:xfrm>
            <a:off x="5467985" y="6708140"/>
            <a:ext cx="9227820" cy="4222115"/>
          </a:xfrm>
          <a:prstGeom prst="roundRect">
            <a:avLst/>
          </a:prstGeom>
          <a:solidFill>
            <a:srgbClr val="FCE8C5"/>
          </a:solidFill>
          <a:ln>
            <a:solidFill>
              <a:schemeClr val="bg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5861050" y="6797675"/>
            <a:ext cx="8513445" cy="3830955"/>
          </a:xfrm>
          <a:prstGeom prst="rect">
            <a:avLst/>
          </a:prstGeom>
          <a:noFill/>
        </p:spPr>
        <p:txBody>
          <a:bodyPr wrap="square" rtlCol="0">
            <a:spAutoFit/>
          </a:bodyPr>
          <a:p>
            <a:pPr marL="0" indent="0" eaLnBrk="1" fontAlgn="auto" latinLnBrk="0" hangingPunct="1">
              <a:lnSpc>
                <a:spcPct val="150000"/>
              </a:lnSpc>
              <a:buFont typeface="Arial" panose="020B0604020202020204" pitchFamily="34" charset="0"/>
              <a:buNone/>
            </a:pPr>
            <a:r>
              <a:rPr lang="zh-CN" altLang="en-US" sz="3000" b="1" u="none" strike="noStrike" kern="0" cap="none" spc="0" normalizeH="0">
                <a:solidFill>
                  <a:srgbClr val="343435"/>
                </a:solidFill>
                <a:latin typeface="新愚公和谐宋-S" charset="-122"/>
                <a:ea typeface="新愚公和谐宋-S" charset="-122"/>
                <a:cs typeface="新愚公和谐宋-S" charset="-122"/>
              </a:rPr>
              <a:t>现有文博</a:t>
            </a:r>
            <a:r>
              <a:rPr lang="en-US" altLang="zh-CN" sz="3000" b="1" u="none" strike="noStrike" kern="0" cap="none" spc="0" normalizeH="0">
                <a:solidFill>
                  <a:srgbClr val="343435"/>
                </a:solidFill>
                <a:latin typeface="新愚公和谐宋-S" charset="-122"/>
                <a:ea typeface="新愚公和谐宋-S" charset="-122"/>
                <a:cs typeface="新愚公和谐宋-S" charset="-122"/>
              </a:rPr>
              <a:t>IP</a:t>
            </a:r>
            <a:r>
              <a:rPr lang="zh-CN" altLang="en-US" sz="3000" b="1" u="none" strike="noStrike" kern="0" cap="none" spc="0" normalizeH="0">
                <a:solidFill>
                  <a:srgbClr val="343435"/>
                </a:solidFill>
                <a:latin typeface="新愚公和谐宋-S" charset="-122"/>
                <a:ea typeface="新愚公和谐宋-S" charset="-122"/>
                <a:cs typeface="新愚公和谐宋-S" charset="-122"/>
              </a:rPr>
              <a:t>体验</a:t>
            </a:r>
            <a:r>
              <a:rPr lang="zh-CN" altLang="en-US" sz="3000" b="1" u="none" strike="noStrike" kern="0" cap="none" spc="0" normalizeH="0">
                <a:solidFill>
                  <a:srgbClr val="343435"/>
                </a:solidFill>
                <a:latin typeface="新愚公和谐宋-S" charset="-122"/>
                <a:ea typeface="新愚公和谐宋-S" charset="-122"/>
                <a:cs typeface="新愚公和谐宋-S" charset="-122"/>
              </a:rPr>
              <a:t>痛点</a:t>
            </a:r>
            <a:endParaRPr lang="zh-CN" altLang="en-US" sz="3000" b="1"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历史感厚重：</a:t>
            </a:r>
            <a:r>
              <a:rPr lang="en-US" altLang="zh-CN" sz="2200" u="none" strike="noStrike" kern="0" cap="none" spc="0" normalizeH="0">
                <a:solidFill>
                  <a:srgbClr val="343435"/>
                </a:solidFill>
                <a:latin typeface="新愚公和谐宋-S" charset="-122"/>
                <a:ea typeface="新愚公和谐宋-S" charset="-122"/>
                <a:cs typeface="新愚公和谐宋-S" charset="-122"/>
              </a:rPr>
              <a:t>72.8%</a:t>
            </a:r>
            <a:r>
              <a:rPr lang="zh-CN" altLang="en-US" sz="2200" u="none" strike="noStrike" kern="0" cap="none" spc="0" normalizeH="0">
                <a:solidFill>
                  <a:srgbClr val="343435"/>
                </a:solidFill>
                <a:latin typeface="新愚公和谐宋-S" charset="-122"/>
                <a:ea typeface="新愚公和谐宋-S" charset="-122"/>
                <a:cs typeface="新愚公和谐宋-S" charset="-122"/>
              </a:rPr>
              <a:t>的年轻用户觉得</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博物馆太严肃，逛起来很累</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en-US" altLang="zh-CN"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参与感弱：</a:t>
            </a:r>
            <a:r>
              <a:rPr lang="en-US" altLang="zh-CN" sz="2200" u="none" strike="noStrike" kern="0" cap="none" spc="0" normalizeH="0">
                <a:solidFill>
                  <a:srgbClr val="343435"/>
                </a:solidFill>
                <a:latin typeface="新愚公和谐宋-S" charset="-122"/>
                <a:ea typeface="新愚公和谐宋-S" charset="-122"/>
                <a:cs typeface="新愚公和谐宋-S" charset="-122"/>
              </a:rPr>
              <a:t>85.4%</a:t>
            </a:r>
            <a:r>
              <a:rPr lang="zh-CN" altLang="en-US" sz="2200" u="none" strike="noStrike" kern="0" cap="none" spc="0" normalizeH="0">
                <a:solidFill>
                  <a:srgbClr val="343435"/>
                </a:solidFill>
                <a:latin typeface="新愚公和谐宋-S" charset="-122"/>
                <a:ea typeface="新愚公和谐宋-S" charset="-122"/>
                <a:cs typeface="新愚公和谐宋-S" charset="-122"/>
              </a:rPr>
              <a:t>的用户表示</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去博物馆只是拍照打卡，没有真正参与进去</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buFont typeface="Arial" panose="020B0604020202020204" pitchFamily="34" charset="0"/>
              <a:buNone/>
            </a:pPr>
            <a:r>
              <a:rPr lang="zh-CN" altLang="en-US" sz="2200" u="none" strike="noStrike" kern="0" cap="none" spc="0" normalizeH="0">
                <a:solidFill>
                  <a:srgbClr val="343435"/>
                </a:solidFill>
                <a:latin typeface="新愚公和谐宋-S" charset="-122"/>
                <a:ea typeface="新愚公和谐宋-S" charset="-122"/>
                <a:cs typeface="新愚公和谐宋-S" charset="-122"/>
              </a:rPr>
              <a:t>文化传播浅：</a:t>
            </a:r>
            <a:r>
              <a:rPr lang="en-US" altLang="zh-CN" sz="2200" u="none" strike="noStrike" kern="0" cap="none" spc="0" normalizeH="0">
                <a:solidFill>
                  <a:srgbClr val="343435"/>
                </a:solidFill>
                <a:latin typeface="新愚公和谐宋-S" charset="-122"/>
                <a:ea typeface="新愚公和谐宋-S" charset="-122"/>
                <a:cs typeface="新愚公和谐宋-S" charset="-122"/>
              </a:rPr>
              <a:t>90%</a:t>
            </a:r>
            <a:r>
              <a:rPr lang="zh-CN" altLang="en-US" sz="2200" u="none" strike="noStrike" kern="0" cap="none" spc="0" normalizeH="0">
                <a:solidFill>
                  <a:srgbClr val="343435"/>
                </a:solidFill>
                <a:latin typeface="新愚公和谐宋-S" charset="-122"/>
                <a:ea typeface="新愚公和谐宋-S" charset="-122"/>
                <a:cs typeface="新愚公和谐宋-S" charset="-122"/>
              </a:rPr>
              <a:t>以上的用户仅知道</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闺蜜俑很可爱</a:t>
            </a:r>
            <a:r>
              <a:rPr lang="en-US" altLang="zh-CN" sz="2200" u="none" strike="noStrike" kern="0" cap="none" spc="0" normalizeH="0">
                <a:solidFill>
                  <a:srgbClr val="343435"/>
                </a:solidFill>
                <a:latin typeface="新愚公和谐宋-S" charset="-122"/>
                <a:ea typeface="新愚公和谐宋-S" charset="-122"/>
                <a:cs typeface="新愚公和谐宋-S" charset="-122"/>
              </a:rPr>
              <a:t>”</a:t>
            </a:r>
            <a:r>
              <a:rPr lang="zh-CN" altLang="en-US" sz="2200" u="none" strike="noStrike" kern="0" cap="none" spc="0" normalizeH="0">
                <a:solidFill>
                  <a:srgbClr val="343435"/>
                </a:solidFill>
                <a:latin typeface="新愚公和谐宋-S" charset="-122"/>
                <a:ea typeface="新愚公和谐宋-S" charset="-122"/>
                <a:cs typeface="新愚公和谐宋-S" charset="-122"/>
              </a:rPr>
              <a:t>，对其历史背景一无所知。</a:t>
            </a:r>
            <a:endParaRPr lang="zh-CN" altLang="en-US" sz="2200" u="none" strike="noStrike" kern="0" cap="none" spc="0" normalizeH="0">
              <a:solidFill>
                <a:srgbClr val="343435"/>
              </a:solidFill>
              <a:latin typeface="新愚公和谐宋-S" charset="-122"/>
              <a:ea typeface="新愚公和谐宋-S" charset="-122"/>
              <a:cs typeface="新愚公和谐宋-S"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20" name="文本框 19"/>
          <p:cNvSpPr txBox="1"/>
          <p:nvPr/>
        </p:nvSpPr>
        <p:spPr>
          <a:xfrm>
            <a:off x="5861050" y="4377690"/>
            <a:ext cx="8351520" cy="2553335"/>
          </a:xfrm>
          <a:prstGeom prst="rect">
            <a:avLst/>
          </a:prstGeom>
          <a:noFill/>
        </p:spPr>
        <p:txBody>
          <a:bodyPr wrap="square" rtlCol="0">
            <a:spAutoFit/>
          </a:bodyPr>
          <a:p>
            <a:r>
              <a:rPr lang="zh-CN" altLang="en-US" sz="16000">
                <a:solidFill>
                  <a:srgbClr val="343435"/>
                </a:solidFill>
                <a:latin typeface="字魂132号-江舟行客" panose="00000500000000000000" charset="-122"/>
                <a:ea typeface="字魂132号-江舟行客" panose="00000500000000000000" charset="-122"/>
              </a:rPr>
              <a:t>创意呈现</a:t>
            </a:r>
            <a:endParaRPr lang="zh-CN" altLang="en-US" sz="16000">
              <a:solidFill>
                <a:srgbClr val="343435"/>
              </a:solidFill>
              <a:latin typeface="字魂132号-江舟行客" panose="00000500000000000000" charset="-122"/>
              <a:ea typeface="字魂132号-江舟行客" panose="00000500000000000000" charset="-122"/>
            </a:endParaRPr>
          </a:p>
        </p:txBody>
      </p:sp>
      <p:sp>
        <p:nvSpPr>
          <p:cNvPr id="3"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14</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pic>
        <p:nvPicPr>
          <p:cNvPr id="2" name="图片 1" descr="image (28)"/>
          <p:cNvPicPr>
            <a:picLocks noChangeAspect="1"/>
          </p:cNvPicPr>
          <p:nvPr/>
        </p:nvPicPr>
        <p:blipFill>
          <a:blip r:embed="rId2"/>
          <a:stretch>
            <a:fillRect/>
          </a:stretch>
        </p:blipFill>
        <p:spPr>
          <a:xfrm>
            <a:off x="15463404" y="408761"/>
            <a:ext cx="3567431" cy="1470112"/>
          </a:xfrm>
          <a:prstGeom prst="rect">
            <a:avLst/>
          </a:prstGeom>
        </p:spPr>
      </p:pic>
      <p:pic>
        <p:nvPicPr>
          <p:cNvPr id="5" name="Picture 4" descr="image.png"/>
          <p:cNvPicPr>
            <a:picLocks noChangeAspect="1"/>
          </p:cNvPicPr>
          <p:nvPr>
            <p:custDataLst>
              <p:tags r:id="rId3"/>
            </p:custDataLst>
          </p:nvPr>
        </p:nvPicPr>
        <p:blipFill>
          <a:blip r:embed="rId4"/>
          <a:stretch>
            <a:fillRect/>
          </a:stretch>
        </p:blipFill>
        <p:spPr>
          <a:xfrm>
            <a:off x="6985000" y="5417185"/>
            <a:ext cx="5719445" cy="3180080"/>
          </a:xfrm>
          <a:prstGeom prst="rect">
            <a:avLst/>
          </a:prstGeom>
        </p:spPr>
      </p:pic>
      <p:pic>
        <p:nvPicPr>
          <p:cNvPr id="6" name="Picture 5" descr="image.png"/>
          <p:cNvPicPr>
            <a:picLocks noChangeAspect="1"/>
          </p:cNvPicPr>
          <p:nvPr>
            <p:custDataLst>
              <p:tags r:id="rId5"/>
            </p:custDataLst>
          </p:nvPr>
        </p:nvPicPr>
        <p:blipFill>
          <a:blip r:embed="rId6"/>
          <a:stretch>
            <a:fillRect/>
          </a:stretch>
        </p:blipFill>
        <p:spPr>
          <a:xfrm>
            <a:off x="1090295" y="6772910"/>
            <a:ext cx="5655310" cy="3166745"/>
          </a:xfrm>
          <a:prstGeom prst="rect">
            <a:avLst/>
          </a:prstGeom>
        </p:spPr>
      </p:pic>
      <p:pic>
        <p:nvPicPr>
          <p:cNvPr id="7" name="Picture 6" descr="image.png"/>
          <p:cNvPicPr>
            <a:picLocks noChangeAspect="1"/>
          </p:cNvPicPr>
          <p:nvPr>
            <p:custDataLst>
              <p:tags r:id="rId7"/>
            </p:custDataLst>
          </p:nvPr>
        </p:nvPicPr>
        <p:blipFill>
          <a:blip r:embed="rId8"/>
          <a:stretch>
            <a:fillRect/>
          </a:stretch>
        </p:blipFill>
        <p:spPr>
          <a:xfrm>
            <a:off x="12943840" y="6772910"/>
            <a:ext cx="5632450" cy="3166745"/>
          </a:xfrm>
          <a:prstGeom prst="rect">
            <a:avLst/>
          </a:prstGeom>
        </p:spPr>
      </p:pic>
      <p:pic>
        <p:nvPicPr>
          <p:cNvPr id="22" name="Picture 11" descr="image.png"/>
          <p:cNvPicPr>
            <a:picLocks noChangeAspect="1"/>
          </p:cNvPicPr>
          <p:nvPr/>
        </p:nvPicPr>
        <p:blipFill>
          <a:blip r:embed="rId9"/>
          <a:stretch>
            <a:fillRect/>
          </a:stretch>
        </p:blipFill>
        <p:spPr>
          <a:xfrm>
            <a:off x="17291210" y="2987970"/>
            <a:ext cx="1505608" cy="1513449"/>
          </a:xfrm>
          <a:prstGeom prst="rect">
            <a:avLst/>
          </a:prstGeom>
        </p:spPr>
      </p:pic>
      <p:sp>
        <p:nvSpPr>
          <p:cNvPr id="38" name="TextBox 23"/>
          <p:cNvSpPr txBox="1"/>
          <p:nvPr/>
        </p:nvSpPr>
        <p:spPr>
          <a:xfrm>
            <a:off x="5213350" y="1616075"/>
            <a:ext cx="8886825" cy="742315"/>
          </a:xfrm>
          <a:prstGeom prst="rect">
            <a:avLst/>
          </a:prstGeom>
          <a:noFill/>
        </p:spPr>
        <p:txBody>
          <a:bodyPr wrap="none" lIns="0" tIns="0" rIns="0" bIns="0"/>
          <a:lstStyle/>
          <a:p>
            <a:pPr algn="just">
              <a:lnSpc>
                <a:spcPct val="135000"/>
              </a:lnSpc>
              <a:spcBef>
                <a:spcPts val="0"/>
              </a:spcBef>
              <a:spcAft>
                <a:spcPts val="0"/>
              </a:spcAft>
            </a:pPr>
            <a:r>
              <a:rPr lang="zh-CN" sz="4200" b="0" i="0">
                <a:solidFill>
                  <a:srgbClr val="343435"/>
                </a:solidFill>
                <a:latin typeface="新愚公和谐宋-S" charset="-122"/>
                <a:ea typeface="新愚公和谐宋-S" charset="-122"/>
                <a:cs typeface="新愚公和谐宋-S" charset="-122"/>
              </a:rPr>
              <a:t>创意来源：</a:t>
            </a:r>
            <a:r>
              <a:rPr lang="zh-CN" altLang="en-US" sz="4200" b="0">
                <a:solidFill>
                  <a:srgbClr val="B30100"/>
                </a:solidFill>
                <a:latin typeface="新愚公和谐宋-S" charset="-122"/>
                <a:ea typeface="新愚公和谐宋-S" charset="-122"/>
                <a:cs typeface="新愚公和谐宋-S" charset="-122"/>
                <a:sym typeface="+mn-ea"/>
              </a:rPr>
              <a:t>联通的品牌核心是“连接”</a:t>
            </a:r>
            <a:endParaRPr lang="zh-CN" altLang="en-US" sz="4200" b="0" i="0">
              <a:solidFill>
                <a:srgbClr val="B30100"/>
              </a:solidFill>
              <a:latin typeface="新愚公和谐宋-S" charset="-122"/>
              <a:ea typeface="新愚公和谐宋-S" charset="-122"/>
              <a:cs typeface="新愚公和谐宋-S" charset="-122"/>
            </a:endParaRPr>
          </a:p>
          <a:p>
            <a:pPr algn="just">
              <a:lnSpc>
                <a:spcPct val="135000"/>
              </a:lnSpc>
              <a:spcBef>
                <a:spcPts val="0"/>
              </a:spcBef>
              <a:spcAft>
                <a:spcPts val="0"/>
              </a:spcAft>
            </a:pPr>
            <a:endParaRPr lang="zh-CN" sz="4200" b="0" i="0">
              <a:solidFill>
                <a:srgbClr val="002060"/>
              </a:solidFill>
              <a:latin typeface="新愚公和谐宋-S" charset="-122"/>
              <a:ea typeface="新愚公和谐宋-S" charset="-122"/>
              <a:cs typeface="新愚公和谐宋-S" charset="-122"/>
            </a:endParaRPr>
          </a:p>
        </p:txBody>
      </p:sp>
      <p:sp>
        <p:nvSpPr>
          <p:cNvPr id="40" name="TextBox 25"/>
          <p:cNvSpPr txBox="1"/>
          <p:nvPr/>
        </p:nvSpPr>
        <p:spPr>
          <a:xfrm>
            <a:off x="5000260" y="2835144"/>
            <a:ext cx="10070898" cy="2598874"/>
          </a:xfrm>
          <a:prstGeom prst="rect">
            <a:avLst/>
          </a:prstGeom>
          <a:noFill/>
        </p:spPr>
        <p:txBody>
          <a:bodyPr wrap="none" lIns="0" tIns="0" rIns="0" bIns="0"/>
          <a:lstStyle/>
          <a:p>
            <a:pPr marL="0" indent="0" algn="ctr" eaLnBrk="1" fontAlgn="auto" latinLnBrk="0" hangingPunct="1">
              <a:lnSpc>
                <a:spcPct val="150000"/>
              </a:lnSpc>
              <a:spcBef>
                <a:spcPts val="0"/>
              </a:spcBef>
              <a:spcAft>
                <a:spcPts val="0"/>
              </a:spcAft>
            </a:pPr>
            <a:r>
              <a:rPr sz="2200" b="0" i="0">
                <a:solidFill>
                  <a:srgbClr val="96783A"/>
                </a:solidFill>
                <a:latin typeface="新愚公和谐宋-S" charset="-122"/>
                <a:ea typeface="新愚公和谐宋-S" charset="-122"/>
                <a:cs typeface="新愚公和谐宋-S" charset="-122"/>
              </a:rPr>
              <a:t>用"</a:t>
            </a:r>
            <a:r>
              <a:rPr lang="zh-CN" altLang="en-US" sz="2200" b="0" i="0">
                <a:solidFill>
                  <a:srgbClr val="96783A"/>
                </a:solidFill>
                <a:latin typeface="新愚公和谐宋-S" charset="-122"/>
                <a:ea typeface="新愚公和谐宋-S" charset="-122"/>
                <a:cs typeface="新愚公和谐宋-S" charset="-122"/>
              </a:rPr>
              <a:t>联通的品牌核心是“连接”。当连接跨越时间，会发生什么？</a:t>
            </a:r>
            <a:endParaRPr lang="zh-CN" altLang="en-US" sz="2200" b="0" i="0">
              <a:solidFill>
                <a:srgbClr val="96783A"/>
              </a:solidFill>
              <a:latin typeface="新愚公和谐宋-S" charset="-122"/>
              <a:ea typeface="新愚公和谐宋-S" charset="-122"/>
              <a:cs typeface="新愚公和谐宋-S" charset="-122"/>
            </a:endParaRPr>
          </a:p>
          <a:p>
            <a:pPr marL="0" indent="0" algn="ctr" eaLnBrk="1" fontAlgn="auto" latinLnBrk="0" hangingPunct="1">
              <a:lnSpc>
                <a:spcPct val="150000"/>
              </a:lnSpc>
              <a:spcBef>
                <a:spcPts val="0"/>
              </a:spcBef>
              <a:spcAft>
                <a:spcPts val="0"/>
              </a:spcAft>
            </a:pPr>
            <a:r>
              <a:rPr lang="zh-CN" altLang="en-US" sz="2200" b="0" i="0">
                <a:solidFill>
                  <a:srgbClr val="96783A"/>
                </a:solidFill>
                <a:latin typeface="新愚公和谐宋-S" charset="-122"/>
                <a:ea typeface="新愚公和谐宋-S" charset="-122"/>
                <a:cs typeface="新愚公和谐宋-S" charset="-122"/>
              </a:rPr>
              <a:t>我们将联通的“信号连接”与河南博物院《唐宫夜宴》</a:t>
            </a:r>
            <a:r>
              <a:rPr lang="en-US" altLang="zh-CN" sz="2200" b="0" i="0">
                <a:solidFill>
                  <a:srgbClr val="96783A"/>
                </a:solidFill>
                <a:latin typeface="Arial" panose="020B0604020202020204" pitchFamily="34" charset="0"/>
                <a:ea typeface="新愚公和谐宋-S" charset="-122"/>
                <a:cs typeface="Arial" panose="020B0604020202020204" pitchFamily="34" charset="0"/>
              </a:rPr>
              <a:t>IP</a:t>
            </a:r>
            <a:r>
              <a:rPr lang="zh-CN" altLang="en-US" sz="2200" b="0" i="0">
                <a:solidFill>
                  <a:srgbClr val="96783A"/>
                </a:solidFill>
                <a:latin typeface="新愚公和谐宋-S" charset="-122"/>
                <a:ea typeface="新愚公和谐宋-S" charset="-122"/>
                <a:cs typeface="新愚公和谐宋-S" charset="-122"/>
              </a:rPr>
              <a:t>结合，构建一个“大唐信号失联”的故事世界。</a:t>
            </a:r>
            <a:endParaRPr lang="zh-CN" altLang="en-US" sz="2200" b="0" i="0">
              <a:solidFill>
                <a:srgbClr val="96783A"/>
              </a:solidFill>
              <a:latin typeface="新愚公和谐宋-S" charset="-122"/>
              <a:ea typeface="新愚公和谐宋-S" charset="-122"/>
              <a:cs typeface="新愚公和谐宋-S" charset="-122"/>
            </a:endParaRPr>
          </a:p>
          <a:p>
            <a:pPr marL="0" indent="0" algn="ctr" eaLnBrk="1" fontAlgn="auto" latinLnBrk="0" hangingPunct="1">
              <a:lnSpc>
                <a:spcPct val="150000"/>
              </a:lnSpc>
              <a:spcBef>
                <a:spcPts val="0"/>
              </a:spcBef>
              <a:spcAft>
                <a:spcPts val="0"/>
              </a:spcAft>
            </a:pPr>
            <a:r>
              <a:rPr lang="zh-CN" altLang="en-US" sz="2200" b="0" i="0" u="sng">
                <a:solidFill>
                  <a:srgbClr val="96783A"/>
                </a:solidFill>
                <a:latin typeface="新愚公和谐宋-S" charset="-122"/>
                <a:ea typeface="新愚公和谐宋-S" charset="-122"/>
                <a:cs typeface="新愚公和谐宋-S" charset="-122"/>
              </a:rPr>
              <a:t>唐宫姐妹花</a:t>
            </a:r>
            <a:r>
              <a:rPr lang="zh-CN" altLang="en-US" sz="2200" b="0" i="0">
                <a:solidFill>
                  <a:srgbClr val="96783A"/>
                </a:solidFill>
                <a:latin typeface="新愚公和谐宋-S" charset="-122"/>
                <a:ea typeface="新愚公和谐宋-S" charset="-122"/>
                <a:cs typeface="新愚公和谐宋-S" charset="-122"/>
              </a:rPr>
              <a:t>意外穿越现代，与大唐失去联系。</a:t>
            </a:r>
            <a:endParaRPr lang="zh-CN" altLang="en-US" sz="2200" b="0" i="0">
              <a:solidFill>
                <a:srgbClr val="96783A"/>
              </a:solidFill>
              <a:latin typeface="新愚公和谐宋-S" charset="-122"/>
              <a:ea typeface="新愚公和谐宋-S" charset="-122"/>
              <a:cs typeface="新愚公和谐宋-S" charset="-122"/>
            </a:endParaRPr>
          </a:p>
          <a:p>
            <a:pPr marL="0" indent="0" algn="ctr" eaLnBrk="1" fontAlgn="auto" latinLnBrk="0" hangingPunct="1">
              <a:lnSpc>
                <a:spcPct val="150000"/>
              </a:lnSpc>
              <a:spcBef>
                <a:spcPts val="0"/>
              </a:spcBef>
              <a:spcAft>
                <a:spcPts val="0"/>
              </a:spcAft>
            </a:pPr>
            <a:r>
              <a:rPr lang="zh-CN" altLang="en-US" sz="2200" b="0" i="0">
                <a:solidFill>
                  <a:srgbClr val="96783A"/>
                </a:solidFill>
                <a:latin typeface="新愚公和谐宋-S" charset="-122"/>
                <a:ea typeface="新愚公和谐宋-S" charset="-122"/>
                <a:cs typeface="新愚公和谐宋-S" charset="-122"/>
              </a:rPr>
              <a:t>用户需要帮助她们寻找散落在现代世界的信号碎片，恢复跨越千年的连接。</a:t>
            </a:r>
            <a:endParaRPr lang="zh-CN" altLang="en-US" sz="2200" b="0" i="0">
              <a:solidFill>
                <a:srgbClr val="96783A"/>
              </a:solidFill>
              <a:latin typeface="新愚公和谐宋-S" charset="-122"/>
              <a:ea typeface="新愚公和谐宋-S" charset="-122"/>
              <a:cs typeface="新愚公和谐宋-S" charset="-122"/>
            </a:endParaRPr>
          </a:p>
        </p:txBody>
      </p:sp>
      <p:pic>
        <p:nvPicPr>
          <p:cNvPr id="53" name="Picture 2" descr="image.png"/>
          <p:cNvPicPr>
            <a:picLocks noChangeAspect="1"/>
          </p:cNvPicPr>
          <p:nvPr/>
        </p:nvPicPr>
        <p:blipFill>
          <a:blip r:embed="rId10"/>
          <a:srcRect t="6434"/>
          <a:stretch>
            <a:fillRect/>
          </a:stretch>
        </p:blipFill>
        <p:spPr>
          <a:xfrm>
            <a:off x="18187928" y="1334388"/>
            <a:ext cx="1915125" cy="8283517"/>
          </a:xfrm>
          <a:prstGeom prst="rect">
            <a:avLst/>
          </a:prstGeom>
        </p:spPr>
      </p:pic>
      <p:pic>
        <p:nvPicPr>
          <p:cNvPr id="54" name="Picture 3" descr="image.png"/>
          <p:cNvPicPr>
            <a:picLocks noChangeAspect="1"/>
          </p:cNvPicPr>
          <p:nvPr/>
        </p:nvPicPr>
        <p:blipFill>
          <a:blip r:embed="rId11"/>
          <a:stretch>
            <a:fillRect/>
          </a:stretch>
        </p:blipFill>
        <p:spPr>
          <a:xfrm>
            <a:off x="0" y="1333962"/>
            <a:ext cx="1883503" cy="8303107"/>
          </a:xfrm>
          <a:prstGeom prst="rect">
            <a:avLst/>
          </a:prstGeom>
        </p:spPr>
      </p:pic>
      <p:sp>
        <p:nvSpPr>
          <p:cNvPr id="9" name="矩形 8"/>
          <p:cNvSpPr/>
          <p:nvPr/>
        </p:nvSpPr>
        <p:spPr>
          <a:xfrm>
            <a:off x="0" y="1082039"/>
            <a:ext cx="15463404"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10" name="矩形 9"/>
          <p:cNvSpPr/>
          <p:nvPr/>
        </p:nvSpPr>
        <p:spPr>
          <a:xfrm>
            <a:off x="19102036" y="1082039"/>
            <a:ext cx="1001017"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12" name="文本框 11"/>
          <p:cNvSpPr txBox="1"/>
          <p:nvPr>
            <p:custDataLst>
              <p:tags r:id="rId12"/>
            </p:custDataLst>
          </p:nvPr>
        </p:nvSpPr>
        <p:spPr>
          <a:xfrm>
            <a:off x="1640788" y="7735002"/>
            <a:ext cx="4661638" cy="1614805"/>
          </a:xfrm>
          <a:prstGeom prst="rect">
            <a:avLst/>
          </a:prstGeom>
          <a:noFill/>
        </p:spPr>
        <p:txBody>
          <a:bodyPr wrap="square" rtlCol="0">
            <a:spAutoFit/>
          </a:bodyPr>
          <a:p>
            <a:pPr indent="0" fontAlgn="auto">
              <a:lnSpc>
                <a:spcPct val="150000"/>
              </a:lnSpc>
            </a:pPr>
            <a:r>
              <a:rPr lang="zh-CN" altLang="en-US" sz="2200">
                <a:solidFill>
                  <a:srgbClr val="343435"/>
                </a:solidFill>
                <a:latin typeface="新愚公和谐宋-S" charset="-122"/>
                <a:ea typeface="新愚公和谐宋-S" charset="-122"/>
                <a:cs typeface="新愚公和谐宋-S" charset="-122"/>
              </a:rPr>
              <a:t>1300年前的唐宫姐妹花在赴宴途中，意外踏入时空裂缝，穿越至2026年的现代都市。</a:t>
            </a:r>
            <a:endParaRPr lang="zh-CN" altLang="en-US" sz="2200">
              <a:solidFill>
                <a:srgbClr val="343435"/>
              </a:solidFill>
              <a:latin typeface="新愚公和谐宋-S" charset="-122"/>
              <a:ea typeface="新愚公和谐宋-S" charset="-122"/>
              <a:cs typeface="新愚公和谐宋-S" charset="-122"/>
            </a:endParaRPr>
          </a:p>
        </p:txBody>
      </p:sp>
      <p:sp>
        <p:nvSpPr>
          <p:cNvPr id="15" name="文本框 14"/>
          <p:cNvSpPr txBox="1"/>
          <p:nvPr>
            <p:custDataLst>
              <p:tags r:id="rId13"/>
            </p:custDataLst>
          </p:nvPr>
        </p:nvSpPr>
        <p:spPr>
          <a:xfrm>
            <a:off x="7513907" y="6410673"/>
            <a:ext cx="4661638" cy="1614805"/>
          </a:xfrm>
          <a:prstGeom prst="rect">
            <a:avLst/>
          </a:prstGeom>
          <a:noFill/>
        </p:spPr>
        <p:txBody>
          <a:bodyPr wrap="square" rtlCol="0">
            <a:spAutoFit/>
          </a:bodyPr>
          <a:p>
            <a:pPr indent="0" fontAlgn="auto">
              <a:lnSpc>
                <a:spcPct val="150000"/>
              </a:lnSpc>
            </a:pPr>
            <a:r>
              <a:rPr lang="zh-CN" altLang="en-US" sz="2200">
                <a:solidFill>
                  <a:srgbClr val="343435"/>
                </a:solidFill>
                <a:latin typeface="新愚公和谐宋-S" charset="-122"/>
                <a:ea typeface="新愚公和谐宋-S" charset="-122"/>
                <a:cs typeface="新愚公和谐宋-S" charset="-122"/>
              </a:rPr>
              <a:t>由于时空电磁干扰，她们与大唐母体彻底失去联系，陷入“无信号”的绝境。</a:t>
            </a:r>
            <a:endParaRPr lang="zh-CN" altLang="en-US" sz="2200">
              <a:solidFill>
                <a:srgbClr val="343435"/>
              </a:solidFill>
              <a:latin typeface="新愚公和谐宋-S" charset="-122"/>
              <a:ea typeface="新愚公和谐宋-S" charset="-122"/>
              <a:cs typeface="新愚公和谐宋-S" charset="-122"/>
            </a:endParaRPr>
          </a:p>
        </p:txBody>
      </p:sp>
      <p:sp>
        <p:nvSpPr>
          <p:cNvPr id="16" name="文本框 15"/>
          <p:cNvSpPr txBox="1"/>
          <p:nvPr>
            <p:custDataLst>
              <p:tags r:id="rId14"/>
            </p:custDataLst>
          </p:nvPr>
        </p:nvSpPr>
        <p:spPr>
          <a:xfrm>
            <a:off x="13422628" y="7734872"/>
            <a:ext cx="4661638" cy="1614805"/>
          </a:xfrm>
          <a:prstGeom prst="rect">
            <a:avLst/>
          </a:prstGeom>
          <a:noFill/>
        </p:spPr>
        <p:txBody>
          <a:bodyPr wrap="square" rtlCol="0">
            <a:spAutoFit/>
          </a:bodyPr>
          <a:p>
            <a:pPr indent="0" fontAlgn="auto">
              <a:lnSpc>
                <a:spcPct val="150000"/>
              </a:lnSpc>
            </a:pPr>
            <a:r>
              <a:rPr lang="zh-CN" altLang="en-US" sz="2200">
                <a:solidFill>
                  <a:srgbClr val="343435"/>
                </a:solidFill>
                <a:latin typeface="新愚公和谐宋-S" charset="-122"/>
                <a:ea typeface="新愚公和谐宋-S" charset="-122"/>
                <a:cs typeface="新愚公和谐宋-S" charset="-122"/>
              </a:rPr>
              <a:t>用户将化身“时空通信修复官”，寻找散落在现代世界的信号碎片，帮她们恢复跨越千年的连接。</a:t>
            </a:r>
            <a:endParaRPr lang="zh-CN" altLang="en-US" sz="2200">
              <a:solidFill>
                <a:srgbClr val="343435"/>
              </a:solidFill>
              <a:latin typeface="新愚公和谐宋-S" charset="-122"/>
              <a:ea typeface="新愚公和谐宋-S" charset="-122"/>
              <a:cs typeface="新愚公和谐宋-S" charset="-122"/>
            </a:endParaRPr>
          </a:p>
        </p:txBody>
      </p:sp>
      <p:sp>
        <p:nvSpPr>
          <p:cNvPr id="4" name="TextBox 23"/>
          <p:cNvSpPr txBox="1"/>
          <p:nvPr>
            <p:custDataLst>
              <p:tags r:id="rId15"/>
            </p:custDataLst>
          </p:nvPr>
        </p:nvSpPr>
        <p:spPr>
          <a:xfrm>
            <a:off x="3194050" y="7102475"/>
            <a:ext cx="1250315" cy="450215"/>
          </a:xfrm>
          <a:prstGeom prst="rect">
            <a:avLst/>
          </a:prstGeom>
          <a:noFill/>
        </p:spPr>
        <p:txBody>
          <a:bodyPr wrap="none" lIns="0" tIns="0" rIns="0" bIns="0"/>
          <a:lstStyle/>
          <a:p>
            <a:pPr algn="just">
              <a:lnSpc>
                <a:spcPct val="135000"/>
              </a:lnSpc>
              <a:spcBef>
                <a:spcPts val="0"/>
              </a:spcBef>
              <a:spcAft>
                <a:spcPts val="0"/>
              </a:spcAft>
            </a:pPr>
            <a:r>
              <a:rPr lang="zh-CN" sz="2400" b="1" i="0">
                <a:solidFill>
                  <a:srgbClr val="343435"/>
                </a:solidFill>
                <a:latin typeface="新愚公和谐宋-S" charset="-122"/>
                <a:ea typeface="新愚公和谐宋-S" charset="-122"/>
              </a:rPr>
              <a:t>故事引子</a:t>
            </a:r>
            <a:endParaRPr lang="zh-CN" sz="2400" b="1" i="0">
              <a:solidFill>
                <a:srgbClr val="343435"/>
              </a:solidFill>
              <a:latin typeface="新愚公和谐宋-S" charset="-122"/>
              <a:ea typeface="新愚公和谐宋-S" charset="-122"/>
            </a:endParaRPr>
          </a:p>
        </p:txBody>
      </p:sp>
      <p:sp>
        <p:nvSpPr>
          <p:cNvPr id="8" name="TextBox 23"/>
          <p:cNvSpPr txBox="1"/>
          <p:nvPr>
            <p:custDataLst>
              <p:tags r:id="rId16"/>
            </p:custDataLst>
          </p:nvPr>
        </p:nvSpPr>
        <p:spPr>
          <a:xfrm>
            <a:off x="9302750" y="5753735"/>
            <a:ext cx="1012825" cy="450215"/>
          </a:xfrm>
          <a:prstGeom prst="rect">
            <a:avLst/>
          </a:prstGeom>
          <a:noFill/>
        </p:spPr>
        <p:txBody>
          <a:bodyPr wrap="none" lIns="0" tIns="0" rIns="0" bIns="0"/>
          <a:lstStyle/>
          <a:p>
            <a:pPr algn="just">
              <a:lnSpc>
                <a:spcPct val="135000"/>
              </a:lnSpc>
              <a:spcBef>
                <a:spcPts val="0"/>
              </a:spcBef>
              <a:spcAft>
                <a:spcPts val="0"/>
              </a:spcAft>
            </a:pPr>
            <a:r>
              <a:rPr lang="zh-CN" altLang="en-US" sz="2400" b="1" i="0">
                <a:solidFill>
                  <a:srgbClr val="343435"/>
                </a:solidFill>
                <a:latin typeface="新愚公和谐宋-S" charset="-122"/>
                <a:ea typeface="新愚公和谐宋-S" charset="-122"/>
              </a:rPr>
              <a:t>核心冲突</a:t>
            </a:r>
            <a:endParaRPr lang="zh-CN" altLang="en-US" sz="2400" b="1" i="0">
              <a:solidFill>
                <a:srgbClr val="343435"/>
              </a:solidFill>
              <a:latin typeface="新愚公和谐宋-S" charset="-122"/>
              <a:ea typeface="新愚公和谐宋-S" charset="-122"/>
            </a:endParaRPr>
          </a:p>
        </p:txBody>
      </p:sp>
      <p:sp>
        <p:nvSpPr>
          <p:cNvPr id="14" name="TextBox 23"/>
          <p:cNvSpPr txBox="1"/>
          <p:nvPr>
            <p:custDataLst>
              <p:tags r:id="rId17"/>
            </p:custDataLst>
          </p:nvPr>
        </p:nvSpPr>
        <p:spPr>
          <a:xfrm>
            <a:off x="15233650" y="7102475"/>
            <a:ext cx="1012825" cy="450215"/>
          </a:xfrm>
          <a:prstGeom prst="rect">
            <a:avLst/>
          </a:prstGeom>
          <a:noFill/>
        </p:spPr>
        <p:txBody>
          <a:bodyPr wrap="none" lIns="0" tIns="0" rIns="0" bIns="0"/>
          <a:lstStyle/>
          <a:p>
            <a:pPr algn="just">
              <a:lnSpc>
                <a:spcPct val="135000"/>
              </a:lnSpc>
              <a:spcBef>
                <a:spcPts val="0"/>
              </a:spcBef>
              <a:spcAft>
                <a:spcPts val="0"/>
              </a:spcAft>
            </a:pPr>
            <a:r>
              <a:rPr lang="zh-CN" altLang="en-US" sz="2400" b="1" i="0">
                <a:solidFill>
                  <a:srgbClr val="343435"/>
                </a:solidFill>
                <a:latin typeface="新愚公和谐宋-S" charset="-122"/>
                <a:ea typeface="新愚公和谐宋-S" charset="-122"/>
              </a:rPr>
              <a:t>用户使命</a:t>
            </a:r>
            <a:endParaRPr lang="zh-CN" altLang="en-US" sz="2400" b="1" i="0">
              <a:solidFill>
                <a:srgbClr val="343435"/>
              </a:solidFill>
              <a:latin typeface="新愚公和谐宋-S" charset="-122"/>
              <a:ea typeface="新愚公和谐宋-S" charset="-122"/>
            </a:endParaRPr>
          </a:p>
        </p:txBody>
      </p:sp>
      <p:sp>
        <p:nvSpPr>
          <p:cNvPr id="23"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24"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5"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26"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3"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15</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sp>
        <p:nvSpPr>
          <p:cNvPr id="4" name="圆角矩形 3"/>
          <p:cNvSpPr/>
          <p:nvPr/>
        </p:nvSpPr>
        <p:spPr>
          <a:xfrm>
            <a:off x="13862050" y="777875"/>
            <a:ext cx="5178425" cy="1003173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6" name="圆角矩形 35"/>
          <p:cNvSpPr/>
          <p:nvPr/>
        </p:nvSpPr>
        <p:spPr>
          <a:xfrm>
            <a:off x="8132445" y="1251585"/>
            <a:ext cx="4620895" cy="9044940"/>
          </a:xfrm>
          <a:prstGeom prst="roundRect">
            <a:avLst/>
          </a:prstGeom>
          <a:solidFill>
            <a:srgbClr val="C0504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latin typeface="Arial" panose="020B0604020202020204" pitchFamily="34" charset="0"/>
              <a:ea typeface="Arial" panose="020B0604020202020204" pitchFamily="34" charset="0"/>
              <a:cs typeface="+mn-ea"/>
            </a:endParaRPr>
          </a:p>
        </p:txBody>
      </p:sp>
      <p:sp>
        <p:nvSpPr>
          <p:cNvPr id="35" name="圆角矩形 34"/>
          <p:cNvSpPr/>
          <p:nvPr/>
        </p:nvSpPr>
        <p:spPr>
          <a:xfrm>
            <a:off x="908050" y="1251585"/>
            <a:ext cx="4620895" cy="9044940"/>
          </a:xfrm>
          <a:prstGeom prst="roundRect">
            <a:avLst/>
          </a:prstGeom>
          <a:solidFill>
            <a:srgbClr val="C0504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latin typeface="Arial" panose="020B0604020202020204" pitchFamily="34" charset="0"/>
              <a:ea typeface="Arial" panose="020B0604020202020204" pitchFamily="34" charset="0"/>
              <a:cs typeface="+mn-ea"/>
            </a:endParaRPr>
          </a:p>
        </p:txBody>
      </p:sp>
      <p:sp>
        <p:nvSpPr>
          <p:cNvPr id="38" name="TextBox 23"/>
          <p:cNvSpPr txBox="1"/>
          <p:nvPr/>
        </p:nvSpPr>
        <p:spPr>
          <a:xfrm>
            <a:off x="6089650" y="1251585"/>
            <a:ext cx="1764030" cy="3241040"/>
          </a:xfrm>
          <a:prstGeom prst="rect">
            <a:avLst/>
          </a:prstGeom>
          <a:noFill/>
        </p:spPr>
        <p:txBody>
          <a:bodyPr wrap="none" lIns="0" tIns="0" rIns="0" bIns="0"/>
          <a:lstStyle/>
          <a:p>
            <a:pPr marL="0" indent="0" algn="l" eaLnBrk="1" fontAlgn="auto" latinLnBrk="0" hangingPunct="1">
              <a:lnSpc>
                <a:spcPct val="100000"/>
              </a:lnSpc>
              <a:spcBef>
                <a:spcPts val="0"/>
              </a:spcBef>
              <a:spcAft>
                <a:spcPts val="0"/>
              </a:spcAft>
            </a:pPr>
            <a:r>
              <a:rPr lang="zh-CN" altLang="en-US" sz="4200" b="0" i="0">
                <a:solidFill>
                  <a:srgbClr val="343435"/>
                </a:solidFill>
                <a:latin typeface="新愚公和谐宋-S" charset="-122"/>
                <a:ea typeface="新愚公和谐宋-S" charset="-122"/>
                <a:cs typeface="新愚公和谐宋-S" charset="-122"/>
                <a:sym typeface="+mn-ea"/>
              </a:rPr>
              <a:t>核</a:t>
            </a:r>
            <a:endParaRPr lang="zh-CN" altLang="en-US" sz="4200" b="0"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i="0">
                <a:solidFill>
                  <a:srgbClr val="343435"/>
                </a:solidFill>
                <a:latin typeface="新愚公和谐宋-S" charset="-122"/>
                <a:ea typeface="新愚公和谐宋-S" charset="-122"/>
                <a:cs typeface="新愚公和谐宋-S" charset="-122"/>
                <a:sym typeface="+mn-ea"/>
              </a:rPr>
              <a:t>心</a:t>
            </a:r>
            <a:endParaRPr lang="zh-CN" altLang="en-US" sz="4200" b="0"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i="0">
                <a:solidFill>
                  <a:srgbClr val="343435"/>
                </a:solidFill>
                <a:latin typeface="新愚公和谐宋-S" charset="-122"/>
                <a:ea typeface="新愚公和谐宋-S" charset="-122"/>
                <a:cs typeface="Arial" panose="020B0604020202020204" pitchFamily="34" charset="0"/>
                <a:sym typeface="+mn-ea"/>
              </a:rPr>
              <a:t>标</a:t>
            </a:r>
            <a:endParaRPr lang="zh-CN" altLang="en-US" sz="4200" b="0" i="0">
              <a:solidFill>
                <a:srgbClr val="343435"/>
              </a:solidFill>
              <a:latin typeface="新愚公和谐宋-S" charset="-122"/>
              <a:ea typeface="新愚公和谐宋-S" charset="-122"/>
              <a:cs typeface="Arial" panose="020B0604020202020204" pitchFamily="34" charset="0"/>
              <a:sym typeface="+mn-ea"/>
            </a:endParaRPr>
          </a:p>
          <a:p>
            <a:pPr marL="0" indent="0" algn="l" eaLnBrk="1" fontAlgn="auto" latinLnBrk="0" hangingPunct="1">
              <a:lnSpc>
                <a:spcPct val="100000"/>
              </a:lnSpc>
              <a:spcBef>
                <a:spcPts val="0"/>
              </a:spcBef>
              <a:spcAft>
                <a:spcPts val="0"/>
              </a:spcAft>
            </a:pPr>
            <a:r>
              <a:rPr lang="zh-CN" altLang="en-US" sz="4200" b="0" i="0">
                <a:solidFill>
                  <a:srgbClr val="343435"/>
                </a:solidFill>
                <a:latin typeface="新愚公和谐宋-S" charset="-122"/>
                <a:ea typeface="新愚公和谐宋-S" charset="-122"/>
                <a:cs typeface="Arial" panose="020B0604020202020204" pitchFamily="34" charset="0"/>
                <a:sym typeface="+mn-ea"/>
              </a:rPr>
              <a:t>语</a:t>
            </a:r>
            <a:endParaRPr lang="en-US" altLang="zh-CN" sz="4200" b="0"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i="0">
                <a:solidFill>
                  <a:srgbClr val="343435"/>
                </a:solidFill>
                <a:latin typeface="新愚公和谐宋-S" charset="-122"/>
                <a:ea typeface="新愚公和谐宋-S" charset="-122"/>
                <a:cs typeface="新愚公和谐宋-S" charset="-122"/>
                <a:sym typeface="+mn-ea"/>
              </a:rPr>
              <a:t>：</a:t>
            </a:r>
            <a:endParaRPr lang="zh-CN" altLang="en-US" sz="4200" b="0" i="0">
              <a:solidFill>
                <a:srgbClr val="B30100"/>
              </a:solidFill>
              <a:latin typeface="新愚公和谐宋-S" charset="-122"/>
              <a:ea typeface="新愚公和谐宋-S" charset="-122"/>
              <a:cs typeface="新愚公和谐宋-S" charset="-122"/>
            </a:endParaRPr>
          </a:p>
        </p:txBody>
      </p:sp>
      <p:sp>
        <p:nvSpPr>
          <p:cNvPr id="8" name="文本框 7"/>
          <p:cNvSpPr txBox="1"/>
          <p:nvPr/>
        </p:nvSpPr>
        <p:spPr>
          <a:xfrm>
            <a:off x="1345565" y="3597275"/>
            <a:ext cx="3763645" cy="5339715"/>
          </a:xfrm>
          <a:prstGeom prst="rect">
            <a:avLst/>
          </a:prstGeom>
          <a:noFill/>
        </p:spPr>
        <p:txBody>
          <a:bodyPr wrap="square" rtlCol="0">
            <a:noAutofit/>
          </a:bodyPr>
          <a:p>
            <a:pPr marL="0" indent="0" eaLnBrk="1" fontAlgn="auto" latinLnBrk="0" hangingPunct="1">
              <a:lnSpc>
                <a:spcPct val="150000"/>
              </a:lnSpc>
            </a:pPr>
            <a:r>
              <a:rPr lang="zh-CN" altLang="en-US" sz="2200" u="sng">
                <a:solidFill>
                  <a:schemeClr val="bg1"/>
                </a:solidFill>
                <a:latin typeface="新愚公和谐宋-S" charset="-122"/>
                <a:ea typeface="新愚公和谐宋-S" charset="-122"/>
                <a:cs typeface="新愚公和谐宋-S" charset="-122"/>
              </a:rPr>
              <a:t>线上</a:t>
            </a:r>
            <a:r>
              <a:rPr lang="zh-CN" altLang="en-US" sz="2200">
                <a:solidFill>
                  <a:schemeClr val="bg1"/>
                </a:solidFill>
                <a:latin typeface="新愚公和谐宋-S" charset="-122"/>
                <a:ea typeface="新愚公和谐宋-S" charset="-122"/>
                <a:cs typeface="新愚公和谐宋-S" charset="-122"/>
              </a:rPr>
              <a:t>：官号“发疯”寻人：河南博物院突发加急启事：“唐宫姐妹花昨夜赴宴途中信号异常，全网失联！”</a:t>
            </a:r>
            <a:endParaRPr lang="zh-CN" altLang="en-US" sz="2200">
              <a:solidFill>
                <a:schemeClr val="bg1"/>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zh-CN" altLang="en-US" sz="2200">
              <a:solidFill>
                <a:schemeClr val="bg1"/>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chemeClr val="bg1"/>
                </a:solidFill>
                <a:latin typeface="新愚公和谐宋-S" charset="-122"/>
                <a:ea typeface="新愚公和谐宋-S" charset="-122"/>
                <a:cs typeface="新愚公和谐宋-S" charset="-122"/>
              </a:rPr>
              <a:t>中国联通秒转回应：“监测到公元826年时空磁场干扰，‘大唐信号恢复计划’紧急启动！”</a:t>
            </a:r>
            <a:endParaRPr lang="zh-CN" altLang="en-US" sz="2200">
              <a:solidFill>
                <a:schemeClr val="bg1"/>
              </a:solidFill>
              <a:latin typeface="新愚公和谐宋-S" charset="-122"/>
              <a:ea typeface="新愚公和谐宋-S" charset="-122"/>
              <a:cs typeface="新愚公和谐宋-S" charset="-122"/>
            </a:endParaRPr>
          </a:p>
        </p:txBody>
      </p:sp>
      <p:sp>
        <p:nvSpPr>
          <p:cNvPr id="18"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22"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8"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29"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31" name="TextBox 23"/>
          <p:cNvSpPr txBox="1"/>
          <p:nvPr/>
        </p:nvSpPr>
        <p:spPr>
          <a:xfrm>
            <a:off x="6937375" y="2712085"/>
            <a:ext cx="883285" cy="7881620"/>
          </a:xfrm>
          <a:prstGeom prst="rect">
            <a:avLst/>
          </a:prstGeom>
          <a:noFill/>
        </p:spPr>
        <p:txBody>
          <a:bodyPr wrap="none" lIns="0" tIns="0" rIns="0" bIns="0"/>
          <a:lstStyle/>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你</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的</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信</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号</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已</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连</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接</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千</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年</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之</a:t>
            </a:r>
            <a:endParaRPr lang="zh-CN" altLang="en-US" sz="4200" b="0">
              <a:solidFill>
                <a:srgbClr val="B30100"/>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4200" b="0">
                <a:solidFill>
                  <a:srgbClr val="B30100"/>
                </a:solidFill>
                <a:latin typeface="新愚公和谐宋-S" charset="-122"/>
                <a:ea typeface="新愚公和谐宋-S" charset="-122"/>
                <a:cs typeface="新愚公和谐宋-S" charset="-122"/>
                <a:sym typeface="+mn-ea"/>
              </a:rPr>
              <a:t>前</a:t>
            </a:r>
            <a:endParaRPr lang="zh-CN" altLang="en-US" sz="4200" b="0" i="0">
              <a:solidFill>
                <a:srgbClr val="B30100"/>
              </a:solidFill>
              <a:latin typeface="新愚公和谐宋-S" charset="-122"/>
              <a:ea typeface="新愚公和谐宋-S" charset="-122"/>
              <a:cs typeface="新愚公和谐宋-S" charset="-122"/>
            </a:endParaRPr>
          </a:p>
        </p:txBody>
      </p:sp>
      <p:sp>
        <p:nvSpPr>
          <p:cNvPr id="32" name="TextBox 13"/>
          <p:cNvSpPr txBox="1"/>
          <p:nvPr/>
        </p:nvSpPr>
        <p:spPr>
          <a:xfrm>
            <a:off x="1193165" y="1844675"/>
            <a:ext cx="4051300" cy="1517650"/>
          </a:xfrm>
          <a:prstGeom prst="rect">
            <a:avLst/>
          </a:prstGeom>
          <a:noFill/>
        </p:spPr>
        <p:txBody>
          <a:bodyPr wrap="none" lIns="0" tIns="0" rIns="0" bIns="0"/>
          <a:lstStyle/>
          <a:p>
            <a:pPr algn="just">
              <a:lnSpc>
                <a:spcPct val="121000"/>
              </a:lnSpc>
              <a:spcBef>
                <a:spcPts val="0"/>
              </a:spcBef>
              <a:spcAft>
                <a:spcPts val="0"/>
              </a:spcAft>
            </a:pPr>
            <a:r>
              <a:rPr lang="en-US" altLang="zh-CN" sz="4200" b="0" i="0" u="none">
                <a:solidFill>
                  <a:schemeClr val="bg1"/>
                </a:solidFill>
                <a:latin typeface="方正榜书行简体" panose="02000000000000000000" charset="-122"/>
                <a:ea typeface="方正榜书行简体" panose="02000000000000000000" charset="-122"/>
                <a:cs typeface="方正榜书行简体" panose="02000000000000000000" charset="-122"/>
              </a:rPr>
              <a:t>STEP 1：</a:t>
            </a:r>
            <a:r>
              <a:rPr lang="zh-CN" altLang="en-US" sz="4200" b="0" i="0" u="none">
                <a:solidFill>
                  <a:schemeClr val="bg1"/>
                </a:solidFill>
                <a:latin typeface="方正榜书行简体" panose="02000000000000000000" charset="-122"/>
                <a:ea typeface="方正榜书行简体" panose="02000000000000000000" charset="-122"/>
                <a:cs typeface="方正榜书行简体" panose="02000000000000000000" charset="-122"/>
              </a:rPr>
              <a:t>信号异常</a:t>
            </a:r>
            <a:endParaRPr lang="zh-CN" altLang="en-US" sz="4200" b="0" i="0" u="none">
              <a:solidFill>
                <a:schemeClr val="bg1"/>
              </a:solidFill>
              <a:latin typeface="方正榜书行简体" panose="02000000000000000000" charset="-122"/>
              <a:ea typeface="方正榜书行简体" panose="02000000000000000000" charset="-122"/>
              <a:cs typeface="方正榜书行简体" panose="02000000000000000000" charset="-122"/>
            </a:endParaRPr>
          </a:p>
          <a:p>
            <a:pPr algn="ctr">
              <a:lnSpc>
                <a:spcPct val="121000"/>
              </a:lnSpc>
              <a:spcBef>
                <a:spcPts val="0"/>
              </a:spcBef>
              <a:spcAft>
                <a:spcPts val="0"/>
              </a:spcAft>
            </a:pPr>
            <a:r>
              <a:rPr lang="en-US" altLang="en-US" sz="4200" b="1" i="0">
                <a:solidFill>
                  <a:schemeClr val="bg1"/>
                </a:solidFill>
                <a:latin typeface="微软雅黑" panose="020B0503020204020204" charset="-122"/>
                <a:ea typeface="微软雅黑" panose="020B0503020204020204" charset="-122"/>
                <a:sym typeface="+mn-ea"/>
              </a:rPr>
              <a:t>6.7-6.14</a:t>
            </a:r>
            <a:endParaRPr lang="en-US" altLang="en-US" sz="4200" b="1" i="0">
              <a:solidFill>
                <a:schemeClr val="bg1"/>
              </a:solidFill>
              <a:latin typeface="微软雅黑" panose="020B0503020204020204" charset="-122"/>
              <a:ea typeface="微软雅黑" panose="020B0503020204020204" charset="-122"/>
            </a:endParaRPr>
          </a:p>
          <a:p>
            <a:pPr algn="just">
              <a:lnSpc>
                <a:spcPct val="121000"/>
              </a:lnSpc>
              <a:spcBef>
                <a:spcPts val="0"/>
              </a:spcBef>
              <a:spcAft>
                <a:spcPts val="0"/>
              </a:spcAft>
            </a:pPr>
            <a:endParaRPr lang="en-US" altLang="en-US" sz="4200" b="1" i="0" u="none">
              <a:solidFill>
                <a:schemeClr val="bg1"/>
              </a:solidFill>
              <a:latin typeface="微软雅黑" panose="020B0503020204020204" charset="-122"/>
              <a:ea typeface="微软雅黑" panose="020B0503020204020204" charset="-122"/>
              <a:cs typeface="方正榜书行简体" panose="02000000000000000000" charset="-122"/>
            </a:endParaRPr>
          </a:p>
        </p:txBody>
      </p:sp>
      <p:sp>
        <p:nvSpPr>
          <p:cNvPr id="34" name="文本框 33"/>
          <p:cNvSpPr txBox="1"/>
          <p:nvPr/>
        </p:nvSpPr>
        <p:spPr>
          <a:xfrm>
            <a:off x="8665845" y="1997075"/>
            <a:ext cx="3654425" cy="7256780"/>
          </a:xfrm>
          <a:prstGeom prst="rect">
            <a:avLst/>
          </a:prstGeom>
          <a:noFill/>
        </p:spPr>
        <p:txBody>
          <a:bodyPr wrap="square" rtlCol="0">
            <a:noAutofit/>
          </a:bodyPr>
          <a:p>
            <a:pPr marL="0" indent="0" eaLnBrk="1" fontAlgn="auto" latinLnBrk="0" hangingPunct="1">
              <a:lnSpc>
                <a:spcPct val="150000"/>
              </a:lnSpc>
            </a:pPr>
            <a:r>
              <a:rPr lang="zh-CN" altLang="en-US" sz="2200" u="sng">
                <a:solidFill>
                  <a:schemeClr val="bg1"/>
                </a:solidFill>
                <a:latin typeface="新愚公和谐宋-S" charset="-122"/>
                <a:ea typeface="新愚公和谐宋-S" charset="-122"/>
                <a:cs typeface="新愚公和谐宋-S" charset="-122"/>
              </a:rPr>
              <a:t>线下</a:t>
            </a:r>
            <a:r>
              <a:rPr lang="zh-CN" altLang="en-US" sz="2200">
                <a:solidFill>
                  <a:schemeClr val="bg1"/>
                </a:solidFill>
                <a:latin typeface="新愚公和谐宋-S" charset="-122"/>
                <a:ea typeface="新愚公和谐宋-S" charset="-122"/>
                <a:cs typeface="新愚公和谐宋-S" charset="-122"/>
              </a:rPr>
              <a:t>：营业厅“时空故障”：核心城市联通营业厅大屏同步上线</a:t>
            </a:r>
            <a:r>
              <a:rPr lang="en-US" altLang="zh-CN" sz="2200">
                <a:solidFill>
                  <a:schemeClr val="bg1"/>
                </a:solidFill>
                <a:latin typeface="Arial" panose="020B0604020202020204" pitchFamily="34" charset="0"/>
                <a:ea typeface="新愚公和谐宋-S" charset="-122"/>
                <a:cs typeface="Arial" panose="020B0604020202020204" pitchFamily="34" charset="0"/>
              </a:rPr>
              <a:t>Glitc</a:t>
            </a:r>
            <a:r>
              <a:rPr lang="en-US" altLang="zh-CN" sz="2200">
                <a:solidFill>
                  <a:schemeClr val="bg1"/>
                </a:solidFill>
                <a:latin typeface="新愚公和谐宋-S" charset="-122"/>
                <a:ea typeface="新愚公和谐宋-S" charset="-122"/>
                <a:cs typeface="新愚公和谐宋-S" charset="-122"/>
              </a:rPr>
              <a:t>（</a:t>
            </a:r>
            <a:r>
              <a:rPr lang="zh-CN" altLang="en-US" sz="2200">
                <a:solidFill>
                  <a:schemeClr val="bg1"/>
                </a:solidFill>
                <a:latin typeface="新愚公和谐宋-S" charset="-122"/>
                <a:ea typeface="新愚公和谐宋-S" charset="-122"/>
                <a:cs typeface="新愚公和谐宋-S" charset="-122"/>
              </a:rPr>
              <a:t>故障艺术）特效。正常广告间歇性闪烁唐代仕女剪影与古代密文，视觉化呈现“来自大唐的微弱求救”。</a:t>
            </a:r>
            <a:endParaRPr lang="zh-CN" altLang="en-US" sz="2200">
              <a:solidFill>
                <a:schemeClr val="bg1"/>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zh-CN" altLang="en-US" sz="2200">
              <a:solidFill>
                <a:schemeClr val="bg1"/>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u="sng">
                <a:solidFill>
                  <a:schemeClr val="bg1"/>
                </a:solidFill>
                <a:latin typeface="新愚公和谐宋-S" charset="-122"/>
                <a:ea typeface="新愚公和谐宋-S" charset="-122"/>
                <a:cs typeface="新愚公和谐宋-S" charset="-122"/>
              </a:rPr>
              <a:t>社交引爆</a:t>
            </a:r>
            <a:r>
              <a:rPr lang="zh-CN" altLang="en-US" sz="2200">
                <a:solidFill>
                  <a:schemeClr val="bg1"/>
                </a:solidFill>
                <a:latin typeface="新愚公和谐宋-S" charset="-122"/>
                <a:ea typeface="新愚公和谐宋-S" charset="-122"/>
                <a:cs typeface="新愚公和谐宋-S" charset="-122"/>
              </a:rPr>
              <a:t>：悬念登榜：联动达人引爆话题 #唐宫夜宴失联了#。利用强烈悬念，吸引年轻国潮与科技爱好者自发参与破案讨论，为文创发售精准蓄水。</a:t>
            </a:r>
            <a:endParaRPr lang="zh-CN" altLang="en-US" sz="2200">
              <a:solidFill>
                <a:schemeClr val="bg1"/>
              </a:solidFill>
              <a:latin typeface="新愚公和谐宋-S" charset="-122"/>
              <a:ea typeface="新愚公和谐宋-S" charset="-122"/>
              <a:cs typeface="新愚公和谐宋-S" charset="-122"/>
            </a:endParaRPr>
          </a:p>
        </p:txBody>
      </p:sp>
      <p:pic>
        <p:nvPicPr>
          <p:cNvPr id="5" name="图片 4" descr="f7698719-3897-406f-84b8-4b114f96e147"/>
          <p:cNvPicPr>
            <a:picLocks noChangeAspect="1"/>
          </p:cNvPicPr>
          <p:nvPr/>
        </p:nvPicPr>
        <p:blipFill>
          <a:blip r:embed="rId2"/>
          <a:srcRect r="50195"/>
          <a:stretch>
            <a:fillRect/>
          </a:stretch>
        </p:blipFill>
        <p:spPr>
          <a:xfrm>
            <a:off x="14779625" y="1235075"/>
            <a:ext cx="3467735" cy="4644390"/>
          </a:xfrm>
          <a:prstGeom prst="rect">
            <a:avLst/>
          </a:prstGeom>
        </p:spPr>
      </p:pic>
      <p:pic>
        <p:nvPicPr>
          <p:cNvPr id="6" name="图片 5" descr="f7698719-3897-406f-84b8-4b114f96e147"/>
          <p:cNvPicPr>
            <a:picLocks noChangeAspect="1"/>
          </p:cNvPicPr>
          <p:nvPr/>
        </p:nvPicPr>
        <p:blipFill>
          <a:blip r:embed="rId2"/>
          <a:srcRect l="49805"/>
          <a:stretch>
            <a:fillRect/>
          </a:stretch>
        </p:blipFill>
        <p:spPr>
          <a:xfrm>
            <a:off x="14779625" y="5692140"/>
            <a:ext cx="3469005" cy="4609465"/>
          </a:xfrm>
          <a:prstGeom prst="rect">
            <a:avLst/>
          </a:prstGeom>
        </p:spPr>
      </p:pic>
      <p:sp>
        <p:nvSpPr>
          <p:cNvPr id="2"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16</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a:solidFill>
            <a:srgbClr val="FFFBF2"/>
          </a:solidFill>
        </p:spPr>
      </p:pic>
      <p:sp>
        <p:nvSpPr>
          <p:cNvPr id="31" name="圆角矩形 30"/>
          <p:cNvSpPr/>
          <p:nvPr/>
        </p:nvSpPr>
        <p:spPr>
          <a:xfrm>
            <a:off x="5632450" y="1454785"/>
            <a:ext cx="4094480" cy="313944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2" name="圆角矩形 31"/>
          <p:cNvSpPr/>
          <p:nvPr/>
        </p:nvSpPr>
        <p:spPr>
          <a:xfrm>
            <a:off x="10377805" y="1471930"/>
            <a:ext cx="4094480" cy="313944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4" name="圆角矩形 33"/>
          <p:cNvSpPr/>
          <p:nvPr/>
        </p:nvSpPr>
        <p:spPr>
          <a:xfrm>
            <a:off x="2058670" y="4900930"/>
            <a:ext cx="5040630" cy="3494405"/>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6" name="圆角矩形 35"/>
          <p:cNvSpPr/>
          <p:nvPr/>
        </p:nvSpPr>
        <p:spPr>
          <a:xfrm>
            <a:off x="8528050" y="4959350"/>
            <a:ext cx="4094480" cy="342773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0" name="圆角矩形 29"/>
          <p:cNvSpPr/>
          <p:nvPr/>
        </p:nvSpPr>
        <p:spPr>
          <a:xfrm>
            <a:off x="450850" y="1459865"/>
            <a:ext cx="4094480" cy="313944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5" name="矩形 4"/>
          <p:cNvSpPr/>
          <p:nvPr/>
        </p:nvSpPr>
        <p:spPr>
          <a:xfrm>
            <a:off x="0" y="1234440"/>
            <a:ext cx="20339685" cy="76200"/>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latin typeface="Arial" panose="020B0604020202020204" pitchFamily="34" charset="0"/>
              <a:ea typeface="Arial" panose="020B0604020202020204" pitchFamily="34" charset="0"/>
              <a:cs typeface="+mn-ea"/>
            </a:endParaRPr>
          </a:p>
        </p:txBody>
      </p:sp>
      <p:sp>
        <p:nvSpPr>
          <p:cNvPr id="10" name="文本框 9"/>
          <p:cNvSpPr txBox="1"/>
          <p:nvPr/>
        </p:nvSpPr>
        <p:spPr>
          <a:xfrm>
            <a:off x="603250" y="8693150"/>
            <a:ext cx="13869035" cy="1662430"/>
          </a:xfrm>
          <a:prstGeom prst="rect">
            <a:avLst/>
          </a:prstGeom>
          <a:noFill/>
        </p:spPr>
        <p:txBody>
          <a:bodyPr wrap="square" rtlCol="0">
            <a:noAutofit/>
          </a:bodyPr>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用户可通过参与所有阶段的“恢复信号”系列线上互动、或者是日常的移动通信消费积累“联通</a:t>
            </a:r>
            <a:r>
              <a:rPr lang="en-US" altLang="zh-CN" sz="2200">
                <a:solidFill>
                  <a:srgbClr val="343435"/>
                </a:solidFill>
                <a:latin typeface="Arial" panose="020B0604020202020204" pitchFamily="34" charset="0"/>
                <a:ea typeface="新愚公和谐宋-S" charset="-122"/>
                <a:cs typeface="Arial" panose="020B0604020202020204" pitchFamily="34" charset="0"/>
              </a:rPr>
              <a:t>WO</a:t>
            </a:r>
            <a:r>
              <a:rPr lang="zh-CN" altLang="en-US" sz="2200">
                <a:solidFill>
                  <a:srgbClr val="343435"/>
                </a:solidFill>
                <a:latin typeface="新愚公和谐宋-S" charset="-122"/>
                <a:ea typeface="新愚公和谐宋-S" charset="-122"/>
                <a:cs typeface="新愚公和谐宋-S" charset="-122"/>
              </a:rPr>
              <a:t>派积分”。针对本次推出的6款限定文创周边，统一采用「积分+极低现金」的兑换模式，“积分抵扣大半金额”的心理暗示，会让人产生“不换就是亏”的心理，用极其顺滑的方式吸引他们完成第一次兑换交互。</a:t>
            </a:r>
            <a:endParaRPr lang="zh-CN" altLang="en-US" sz="2200">
              <a:solidFill>
                <a:srgbClr val="343435"/>
              </a:solidFill>
              <a:latin typeface="新愚公和谐宋-S" charset="-122"/>
              <a:ea typeface="新愚公和谐宋-S" charset="-122"/>
              <a:cs typeface="新愚公和谐宋-S" charset="-122"/>
            </a:endParaRPr>
          </a:p>
        </p:txBody>
      </p:sp>
      <p:sp>
        <p:nvSpPr>
          <p:cNvPr id="4" name="TextBox 13"/>
          <p:cNvSpPr txBox="1"/>
          <p:nvPr/>
        </p:nvSpPr>
        <p:spPr>
          <a:xfrm>
            <a:off x="16452850" y="4892675"/>
            <a:ext cx="3905885" cy="1253490"/>
          </a:xfrm>
          <a:prstGeom prst="rect">
            <a:avLst/>
          </a:prstGeom>
          <a:noFill/>
        </p:spPr>
        <p:txBody>
          <a:bodyPr wrap="none" lIns="0" tIns="0" rIns="0" bIns="0"/>
          <a:lstStyle/>
          <a:p>
            <a:pPr algn="just">
              <a:lnSpc>
                <a:spcPct val="121000"/>
              </a:lnSpc>
              <a:spcBef>
                <a:spcPts val="0"/>
              </a:spcBef>
              <a:spcAft>
                <a:spcPts val="0"/>
              </a:spcAft>
            </a:pPr>
            <a:r>
              <a:rPr lang="en-US" altLang="zh-CN" sz="4200" b="0" i="0" u="none">
                <a:solidFill>
                  <a:srgbClr val="343435"/>
                </a:solidFill>
                <a:latin typeface="新愚公和谐宋-S" charset="-122"/>
                <a:ea typeface="新愚公和谐宋-S" charset="-122"/>
                <a:cs typeface="新愚公和谐宋-S" charset="-122"/>
              </a:rPr>
              <a:t>STEP 2：</a:t>
            </a:r>
            <a:endParaRPr lang="en-US" altLang="zh-CN" sz="4200" b="0" i="0" u="none">
              <a:solidFill>
                <a:srgbClr val="343435"/>
              </a:solidFill>
              <a:latin typeface="新愚公和谐宋-S" charset="-122"/>
              <a:ea typeface="新愚公和谐宋-S" charset="-122"/>
              <a:cs typeface="新愚公和谐宋-S" charset="-122"/>
            </a:endParaRPr>
          </a:p>
          <a:p>
            <a:pPr algn="just">
              <a:lnSpc>
                <a:spcPct val="121000"/>
              </a:lnSpc>
              <a:spcBef>
                <a:spcPts val="0"/>
              </a:spcBef>
              <a:spcAft>
                <a:spcPts val="0"/>
              </a:spcAft>
            </a:pPr>
            <a:r>
              <a:rPr lang="zh-CN" altLang="en-US" sz="4200" b="0" i="0" u="none">
                <a:solidFill>
                  <a:srgbClr val="343435"/>
                </a:solidFill>
                <a:latin typeface="新愚公和谐宋-S" charset="-122"/>
                <a:ea typeface="新愚公和谐宋-S" charset="-122"/>
                <a:cs typeface="新愚公和谐宋-S" charset="-122"/>
              </a:rPr>
              <a:t>收集信号碎片</a:t>
            </a:r>
            <a:endParaRPr lang="zh-CN" altLang="en-US" sz="4200" b="0" i="0" u="none">
              <a:solidFill>
                <a:srgbClr val="343435"/>
              </a:solidFill>
              <a:latin typeface="新愚公和谐宋-S" charset="-122"/>
              <a:ea typeface="新愚公和谐宋-S" charset="-122"/>
              <a:cs typeface="新愚公和谐宋-S" charset="-122"/>
            </a:endParaRPr>
          </a:p>
          <a:p>
            <a:pPr algn="just">
              <a:lnSpc>
                <a:spcPct val="121000"/>
              </a:lnSpc>
              <a:spcBef>
                <a:spcPts val="0"/>
              </a:spcBef>
              <a:spcAft>
                <a:spcPts val="0"/>
              </a:spcAft>
            </a:pPr>
            <a:r>
              <a:rPr sz="4200" b="1" i="0">
                <a:solidFill>
                  <a:srgbClr val="B30100"/>
                </a:solidFill>
                <a:latin typeface="微软雅黑" panose="020B0503020204020204" charset="-122"/>
                <a:ea typeface="微软雅黑" panose="020B0503020204020204" charset="-122"/>
                <a:sym typeface="+mn-ea"/>
              </a:rPr>
              <a:t>6</a:t>
            </a:r>
            <a:r>
              <a:rPr lang="en-US" altLang="en-US" sz="4200" b="1" i="0">
                <a:solidFill>
                  <a:srgbClr val="B30100"/>
                </a:solidFill>
                <a:latin typeface="微软雅黑" panose="020B0503020204020204" charset="-122"/>
                <a:ea typeface="微软雅黑" panose="020B0503020204020204" charset="-122"/>
                <a:sym typeface="+mn-ea"/>
              </a:rPr>
              <a:t>.15-6.29</a:t>
            </a:r>
            <a:endParaRPr lang="zh-CN" altLang="en-US" sz="4200" b="0" i="0" u="none">
              <a:solidFill>
                <a:srgbClr val="343435"/>
              </a:solidFill>
              <a:latin typeface="新愚公和谐宋-S" charset="-122"/>
              <a:ea typeface="新愚公和谐宋-S" charset="-122"/>
              <a:cs typeface="新愚公和谐宋-S" charset="-122"/>
            </a:endParaRPr>
          </a:p>
        </p:txBody>
      </p:sp>
      <p:sp>
        <p:nvSpPr>
          <p:cNvPr id="7" name="TextBox 12"/>
          <p:cNvSpPr txBox="1"/>
          <p:nvPr/>
        </p:nvSpPr>
        <p:spPr>
          <a:xfrm>
            <a:off x="2051050" y="4046220"/>
            <a:ext cx="1540510" cy="395605"/>
          </a:xfrm>
          <a:prstGeom prst="rect">
            <a:avLst/>
          </a:prstGeom>
          <a:noFill/>
        </p:spPr>
        <p:txBody>
          <a:bodyPr wrap="none" lIns="0" tIns="0" rIns="0" bIns="0"/>
          <a:lstStyle/>
          <a:p>
            <a:pPr algn="just">
              <a:lnSpc>
                <a:spcPct val="116000"/>
              </a:lnSpc>
              <a:spcBef>
                <a:spcPts val="0"/>
              </a:spcBef>
              <a:spcAft>
                <a:spcPts val="0"/>
              </a:spcAft>
            </a:pPr>
            <a:r>
              <a:rPr lang="en-US" altLang="zh-CN" sz="2200" b="1" i="0">
                <a:solidFill>
                  <a:srgbClr val="C0504D"/>
                </a:solidFill>
                <a:latin typeface="新愚公和谐宋-S" charset="-122"/>
                <a:ea typeface="新愚公和谐宋-S" charset="-122"/>
                <a:cs typeface="新愚公和谐宋-S" charset="-122"/>
              </a:rPr>
              <a:t>SIM</a:t>
            </a:r>
            <a:r>
              <a:rPr lang="zh-CN" altLang="en-US" sz="2200" b="1" i="0">
                <a:solidFill>
                  <a:srgbClr val="C0504D"/>
                </a:solidFill>
                <a:latin typeface="新愚公和谐宋-S" charset="-122"/>
                <a:ea typeface="新愚公和谐宋-S" charset="-122"/>
                <a:cs typeface="新愚公和谐宋-S" charset="-122"/>
              </a:rPr>
              <a:t>卡</a:t>
            </a:r>
            <a:r>
              <a:rPr lang="en-US" altLang="zh-CN" sz="2200" b="1" i="0">
                <a:solidFill>
                  <a:srgbClr val="C0504D"/>
                </a:solidFill>
                <a:latin typeface="新愚公和谐宋-S" charset="-122"/>
                <a:ea typeface="新愚公和谐宋-S" charset="-122"/>
                <a:cs typeface="新愚公和谐宋-S" charset="-122"/>
              </a:rPr>
              <a:t> </a:t>
            </a:r>
            <a:endParaRPr lang="en-US" altLang="zh-CN" sz="2200" b="1" i="0">
              <a:solidFill>
                <a:srgbClr val="C0504D"/>
              </a:solidFill>
              <a:latin typeface="新愚公和谐宋-S" charset="-122"/>
              <a:ea typeface="新愚公和谐宋-S" charset="-122"/>
              <a:cs typeface="新愚公和谐宋-S" charset="-122"/>
            </a:endParaRPr>
          </a:p>
        </p:txBody>
      </p:sp>
      <p:sp>
        <p:nvSpPr>
          <p:cNvPr id="9" name="TextBox 12"/>
          <p:cNvSpPr txBox="1"/>
          <p:nvPr/>
        </p:nvSpPr>
        <p:spPr>
          <a:xfrm>
            <a:off x="7308850" y="4105275"/>
            <a:ext cx="920115" cy="471805"/>
          </a:xfrm>
          <a:prstGeom prst="rect">
            <a:avLst/>
          </a:prstGeom>
          <a:noFill/>
        </p:spPr>
        <p:txBody>
          <a:bodyPr wrap="none" lIns="0" tIns="0" rIns="0" bIns="0"/>
          <a:lstStyle/>
          <a:p>
            <a:pPr algn="just">
              <a:lnSpc>
                <a:spcPct val="116000"/>
              </a:lnSpc>
              <a:spcBef>
                <a:spcPts val="0"/>
              </a:spcBef>
              <a:spcAft>
                <a:spcPts val="0"/>
              </a:spcAft>
            </a:pPr>
            <a:r>
              <a:rPr lang="zh-CN" altLang="en-US" sz="2200" b="1" i="0">
                <a:solidFill>
                  <a:srgbClr val="C0504D"/>
                </a:solidFill>
                <a:latin typeface="新愚公和谐宋-S" charset="-122"/>
                <a:ea typeface="新愚公和谐宋-S" charset="-122"/>
                <a:cs typeface="新愚公和谐宋-S" charset="-122"/>
              </a:rPr>
              <a:t>茶杯</a:t>
            </a:r>
            <a:endParaRPr lang="zh-CN" altLang="en-US" sz="2200" b="1" i="0">
              <a:solidFill>
                <a:srgbClr val="C0504D"/>
              </a:solidFill>
              <a:latin typeface="新愚公和谐宋-S" charset="-122"/>
              <a:ea typeface="新愚公和谐宋-S" charset="-122"/>
              <a:cs typeface="新愚公和谐宋-S" charset="-122"/>
            </a:endParaRPr>
          </a:p>
        </p:txBody>
      </p:sp>
      <p:sp>
        <p:nvSpPr>
          <p:cNvPr id="15" name="TextBox 12"/>
          <p:cNvSpPr txBox="1"/>
          <p:nvPr/>
        </p:nvSpPr>
        <p:spPr>
          <a:xfrm>
            <a:off x="4260850" y="7796530"/>
            <a:ext cx="1117600" cy="321310"/>
          </a:xfrm>
          <a:prstGeom prst="rect">
            <a:avLst/>
          </a:prstGeom>
          <a:noFill/>
        </p:spPr>
        <p:txBody>
          <a:bodyPr wrap="none" lIns="0" tIns="0" rIns="0" bIns="0"/>
          <a:lstStyle/>
          <a:p>
            <a:pPr algn="l">
              <a:lnSpc>
                <a:spcPct val="116000"/>
              </a:lnSpc>
              <a:spcBef>
                <a:spcPts val="0"/>
              </a:spcBef>
              <a:spcAft>
                <a:spcPts val="0"/>
              </a:spcAft>
            </a:pPr>
            <a:r>
              <a:rPr lang="zh-CN" altLang="en-US" sz="2200" b="1" i="0">
                <a:solidFill>
                  <a:srgbClr val="C0504D"/>
                </a:solidFill>
                <a:latin typeface="新愚公和谐宋-S" charset="-122"/>
                <a:ea typeface="新愚公和谐宋-S" charset="-122"/>
                <a:cs typeface="新愚公和谐宋-S" charset="-122"/>
                <a:sym typeface="+mn-ea"/>
              </a:rPr>
              <a:t>手机壳</a:t>
            </a:r>
            <a:endParaRPr lang="zh-CN" altLang="en-US" sz="2200" b="1" i="0">
              <a:solidFill>
                <a:srgbClr val="C0504D"/>
              </a:solidFill>
              <a:latin typeface="新愚公和谐宋-S" charset="-122"/>
              <a:ea typeface="新愚公和谐宋-S" charset="-122"/>
              <a:cs typeface="新愚公和谐宋-S" charset="-122"/>
              <a:sym typeface="+mn-ea"/>
            </a:endParaRPr>
          </a:p>
        </p:txBody>
      </p:sp>
      <p:sp>
        <p:nvSpPr>
          <p:cNvPr id="16" name="TextBox 12"/>
          <p:cNvSpPr txBox="1"/>
          <p:nvPr/>
        </p:nvSpPr>
        <p:spPr>
          <a:xfrm>
            <a:off x="10128250" y="7796530"/>
            <a:ext cx="810895" cy="321310"/>
          </a:xfrm>
          <a:prstGeom prst="rect">
            <a:avLst/>
          </a:prstGeom>
          <a:noFill/>
        </p:spPr>
        <p:txBody>
          <a:bodyPr wrap="none" lIns="0" tIns="0" rIns="0" bIns="0"/>
          <a:lstStyle/>
          <a:p>
            <a:pPr algn="just">
              <a:lnSpc>
                <a:spcPct val="116000"/>
              </a:lnSpc>
              <a:spcBef>
                <a:spcPts val="0"/>
              </a:spcBef>
              <a:spcAft>
                <a:spcPts val="0"/>
              </a:spcAft>
            </a:pPr>
            <a:r>
              <a:rPr lang="zh-CN" altLang="en-US" sz="2200" b="1" i="0">
                <a:solidFill>
                  <a:srgbClr val="C0504D"/>
                </a:solidFill>
                <a:latin typeface="新愚公和谐宋-S" charset="-122"/>
                <a:ea typeface="新愚公和谐宋-S" charset="-122"/>
                <a:cs typeface="新愚公和谐宋-S" charset="-122"/>
              </a:rPr>
              <a:t>充电宝</a:t>
            </a:r>
            <a:endParaRPr lang="zh-CN" altLang="en-US" sz="2200" b="1" i="0">
              <a:solidFill>
                <a:srgbClr val="C0504D"/>
              </a:solidFill>
              <a:latin typeface="新愚公和谐宋-S" charset="-122"/>
              <a:ea typeface="新愚公和谐宋-S" charset="-122"/>
              <a:cs typeface="新愚公和谐宋-S" charset="-122"/>
            </a:endParaRPr>
          </a:p>
        </p:txBody>
      </p:sp>
      <p:sp>
        <p:nvSpPr>
          <p:cNvPr id="17" name="TextBox 12"/>
          <p:cNvSpPr txBox="1"/>
          <p:nvPr/>
        </p:nvSpPr>
        <p:spPr>
          <a:xfrm>
            <a:off x="11830685" y="4062730"/>
            <a:ext cx="1492885" cy="548005"/>
          </a:xfrm>
          <a:prstGeom prst="rect">
            <a:avLst/>
          </a:prstGeom>
          <a:noFill/>
        </p:spPr>
        <p:txBody>
          <a:bodyPr wrap="none" lIns="0" tIns="0" rIns="0" bIns="0"/>
          <a:lstStyle/>
          <a:p>
            <a:pPr algn="just">
              <a:lnSpc>
                <a:spcPct val="116000"/>
              </a:lnSpc>
              <a:spcBef>
                <a:spcPts val="0"/>
              </a:spcBef>
              <a:spcAft>
                <a:spcPts val="0"/>
              </a:spcAft>
            </a:pPr>
            <a:r>
              <a:rPr lang="zh-CN" altLang="en-US" sz="2200" b="1" i="0">
                <a:solidFill>
                  <a:srgbClr val="C0504D"/>
                </a:solidFill>
                <a:latin typeface="新愚公和谐宋-S" charset="-122"/>
                <a:ea typeface="新愚公和谐宋-S" charset="-122"/>
                <a:cs typeface="新愚公和谐宋-S" charset="-122"/>
              </a:rPr>
              <a:t>收纳包</a:t>
            </a:r>
            <a:endParaRPr lang="zh-CN" altLang="en-US" sz="2200" b="1" i="0">
              <a:solidFill>
                <a:srgbClr val="C0504D"/>
              </a:solidFill>
              <a:latin typeface="新愚公和谐宋-S" charset="-122"/>
              <a:ea typeface="新愚公和谐宋-S" charset="-122"/>
              <a:cs typeface="新愚公和谐宋-S" charset="-122"/>
            </a:endParaRPr>
          </a:p>
        </p:txBody>
      </p:sp>
      <p:sp>
        <p:nvSpPr>
          <p:cNvPr id="18"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22"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8"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29"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3" name="矩形 12"/>
          <p:cNvSpPr/>
          <p:nvPr/>
        </p:nvSpPr>
        <p:spPr>
          <a:xfrm>
            <a:off x="0" y="10683875"/>
            <a:ext cx="20339685" cy="76200"/>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latin typeface="Arial" panose="020B0604020202020204" pitchFamily="34" charset="0"/>
              <a:ea typeface="Arial" panose="020B0604020202020204" pitchFamily="34" charset="0"/>
              <a:cs typeface="+mn-ea"/>
            </a:endParaRPr>
          </a:p>
        </p:txBody>
      </p:sp>
      <p:sp>
        <p:nvSpPr>
          <p:cNvPr id="35" name="圆角矩形 34"/>
          <p:cNvSpPr/>
          <p:nvPr/>
        </p:nvSpPr>
        <p:spPr>
          <a:xfrm>
            <a:off x="14928850" y="-593725"/>
            <a:ext cx="1056005" cy="12289155"/>
          </a:xfrm>
          <a:prstGeom prst="round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chemeClr val="bg1"/>
              </a:solidFill>
              <a:latin typeface="Arial" panose="020B0604020202020204" pitchFamily="34" charset="0"/>
              <a:ea typeface="Arial" panose="020B0604020202020204" pitchFamily="34" charset="0"/>
              <a:cs typeface="+mn-ea"/>
            </a:endParaRPr>
          </a:p>
        </p:txBody>
      </p:sp>
      <p:sp>
        <p:nvSpPr>
          <p:cNvPr id="38" name="TextBox 23"/>
          <p:cNvSpPr txBox="1"/>
          <p:nvPr/>
        </p:nvSpPr>
        <p:spPr>
          <a:xfrm>
            <a:off x="15298420" y="1997075"/>
            <a:ext cx="592455" cy="7453630"/>
          </a:xfrm>
          <a:prstGeom prst="rect">
            <a:avLst/>
          </a:prstGeom>
          <a:noFill/>
        </p:spPr>
        <p:txBody>
          <a:bodyPr wrap="none" lIns="0" tIns="0" rIns="0" bIns="0"/>
          <a:lstStyle/>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核</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心</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标</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语</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你</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的</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信</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号</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已</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连</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接</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千</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年</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之</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前</a:t>
            </a:r>
            <a:endParaRPr lang="zh-CN" altLang="en-US" sz="2800" b="1" i="0">
              <a:solidFill>
                <a:schemeClr val="bg1"/>
              </a:solidFill>
              <a:latin typeface="新愚公和谐宋-S" charset="-122"/>
              <a:ea typeface="新愚公和谐宋-S" charset="-122"/>
              <a:cs typeface="新愚公和谐宋-S" charset="-122"/>
              <a:sym typeface="+mn-ea"/>
            </a:endParaRPr>
          </a:p>
        </p:txBody>
      </p:sp>
      <p:pic>
        <p:nvPicPr>
          <p:cNvPr id="25" name="图片 24" descr="微信图片_20260604014832_1201_2"/>
          <p:cNvPicPr>
            <a:picLocks noChangeAspect="1"/>
          </p:cNvPicPr>
          <p:nvPr/>
        </p:nvPicPr>
        <p:blipFill>
          <a:blip r:embed="rId2"/>
          <a:stretch>
            <a:fillRect/>
          </a:stretch>
        </p:blipFill>
        <p:spPr>
          <a:xfrm>
            <a:off x="1289050" y="2108835"/>
            <a:ext cx="2371725" cy="1576705"/>
          </a:xfrm>
          <a:prstGeom prst="rect">
            <a:avLst/>
          </a:prstGeom>
        </p:spPr>
      </p:pic>
      <p:pic>
        <p:nvPicPr>
          <p:cNvPr id="39" name="图片 38" descr="微信图片_20260604024041_1209_2"/>
          <p:cNvPicPr>
            <a:picLocks noChangeAspect="1"/>
          </p:cNvPicPr>
          <p:nvPr/>
        </p:nvPicPr>
        <p:blipFill>
          <a:blip r:embed="rId3"/>
          <a:stretch>
            <a:fillRect/>
          </a:stretch>
        </p:blipFill>
        <p:spPr>
          <a:xfrm>
            <a:off x="16607790" y="7425690"/>
            <a:ext cx="2665730" cy="3334385"/>
          </a:xfrm>
          <a:prstGeom prst="rect">
            <a:avLst/>
          </a:prstGeom>
        </p:spPr>
      </p:pic>
      <p:pic>
        <p:nvPicPr>
          <p:cNvPr id="2" name="图片 1" descr="3ff5ca4933b0ae55f8a7279f3f41d74f"/>
          <p:cNvPicPr>
            <a:picLocks noChangeAspect="1"/>
          </p:cNvPicPr>
          <p:nvPr/>
        </p:nvPicPr>
        <p:blipFill>
          <a:blip r:embed="rId4"/>
          <a:stretch>
            <a:fillRect/>
          </a:stretch>
        </p:blipFill>
        <p:spPr>
          <a:xfrm>
            <a:off x="3125470" y="5182870"/>
            <a:ext cx="1405890" cy="2562225"/>
          </a:xfrm>
          <a:prstGeom prst="rect">
            <a:avLst/>
          </a:prstGeom>
        </p:spPr>
      </p:pic>
      <p:pic>
        <p:nvPicPr>
          <p:cNvPr id="3" name="图片 2" descr="微信图片_20260605003734_1230_2"/>
          <p:cNvPicPr>
            <a:picLocks noChangeAspect="1"/>
          </p:cNvPicPr>
          <p:nvPr/>
        </p:nvPicPr>
        <p:blipFill>
          <a:blip r:embed="rId5"/>
          <a:stretch>
            <a:fillRect/>
          </a:stretch>
        </p:blipFill>
        <p:spPr>
          <a:xfrm>
            <a:off x="9975850" y="4968875"/>
            <a:ext cx="1187450" cy="2734945"/>
          </a:xfrm>
          <a:prstGeom prst="rect">
            <a:avLst/>
          </a:prstGeom>
        </p:spPr>
      </p:pic>
      <p:pic>
        <p:nvPicPr>
          <p:cNvPr id="6" name="图片 5" descr="微信图片_20260605004036_1233_2"/>
          <p:cNvPicPr>
            <a:picLocks noChangeAspect="1"/>
          </p:cNvPicPr>
          <p:nvPr/>
        </p:nvPicPr>
        <p:blipFill>
          <a:blip r:embed="rId6"/>
          <a:stretch>
            <a:fillRect/>
          </a:stretch>
        </p:blipFill>
        <p:spPr>
          <a:xfrm>
            <a:off x="4718050" y="5153025"/>
            <a:ext cx="1410335" cy="2592070"/>
          </a:xfrm>
          <a:prstGeom prst="rect">
            <a:avLst/>
          </a:prstGeom>
        </p:spPr>
      </p:pic>
      <p:pic>
        <p:nvPicPr>
          <p:cNvPr id="8" name="图片 7" descr="微信图片_20260605004448_1235_2"/>
          <p:cNvPicPr>
            <a:picLocks noChangeAspect="1"/>
          </p:cNvPicPr>
          <p:nvPr/>
        </p:nvPicPr>
        <p:blipFill>
          <a:blip r:embed="rId7"/>
          <a:stretch>
            <a:fillRect/>
          </a:stretch>
        </p:blipFill>
        <p:spPr>
          <a:xfrm>
            <a:off x="6699250" y="1768475"/>
            <a:ext cx="2092960" cy="2193925"/>
          </a:xfrm>
          <a:prstGeom prst="rect">
            <a:avLst/>
          </a:prstGeom>
        </p:spPr>
      </p:pic>
      <p:pic>
        <p:nvPicPr>
          <p:cNvPr id="11" name="图片 10" descr="微信图片_20260605004819_1237_2"/>
          <p:cNvPicPr>
            <a:picLocks noChangeAspect="1"/>
          </p:cNvPicPr>
          <p:nvPr/>
        </p:nvPicPr>
        <p:blipFill>
          <a:blip r:embed="rId8"/>
          <a:stretch>
            <a:fillRect/>
          </a:stretch>
        </p:blipFill>
        <p:spPr>
          <a:xfrm>
            <a:off x="11054715" y="1760220"/>
            <a:ext cx="2546350" cy="2131695"/>
          </a:xfrm>
          <a:prstGeom prst="rect">
            <a:avLst/>
          </a:prstGeom>
        </p:spPr>
      </p:pic>
      <p:sp>
        <p:nvSpPr>
          <p:cNvPr id="12"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17</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a:solidFill>
            <a:srgbClr val="FFFBF2"/>
          </a:solidFill>
        </p:spPr>
      </p:pic>
      <p:sp>
        <p:nvSpPr>
          <p:cNvPr id="5" name="矩形 4"/>
          <p:cNvSpPr/>
          <p:nvPr/>
        </p:nvSpPr>
        <p:spPr>
          <a:xfrm>
            <a:off x="0" y="1234440"/>
            <a:ext cx="20339685" cy="76200"/>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latin typeface="Arial" panose="020B0604020202020204" pitchFamily="34" charset="0"/>
              <a:ea typeface="Arial" panose="020B0604020202020204" pitchFamily="34" charset="0"/>
              <a:cs typeface="+mn-ea"/>
            </a:endParaRPr>
          </a:p>
        </p:txBody>
      </p:sp>
      <p:sp>
        <p:nvSpPr>
          <p:cNvPr id="4" name="TextBox 13"/>
          <p:cNvSpPr txBox="1"/>
          <p:nvPr/>
        </p:nvSpPr>
        <p:spPr>
          <a:xfrm>
            <a:off x="16452850" y="4892675"/>
            <a:ext cx="3905885" cy="1253490"/>
          </a:xfrm>
          <a:prstGeom prst="rect">
            <a:avLst/>
          </a:prstGeom>
          <a:noFill/>
        </p:spPr>
        <p:txBody>
          <a:bodyPr wrap="none" lIns="0" tIns="0" rIns="0" bIns="0"/>
          <a:lstStyle/>
          <a:p>
            <a:pPr algn="just">
              <a:lnSpc>
                <a:spcPct val="121000"/>
              </a:lnSpc>
              <a:spcBef>
                <a:spcPts val="0"/>
              </a:spcBef>
              <a:spcAft>
                <a:spcPts val="0"/>
              </a:spcAft>
            </a:pPr>
            <a:r>
              <a:rPr lang="en-US" altLang="zh-CN" sz="4200" b="0" i="0" u="none">
                <a:solidFill>
                  <a:srgbClr val="343435"/>
                </a:solidFill>
                <a:latin typeface="新愚公和谐宋-S" charset="-122"/>
                <a:ea typeface="新愚公和谐宋-S" charset="-122"/>
                <a:cs typeface="新愚公和谐宋-S" charset="-122"/>
              </a:rPr>
              <a:t>STEP 2：</a:t>
            </a:r>
            <a:endParaRPr lang="en-US" altLang="zh-CN" sz="4200" b="0" i="0" u="none">
              <a:solidFill>
                <a:srgbClr val="343435"/>
              </a:solidFill>
              <a:latin typeface="新愚公和谐宋-S" charset="-122"/>
              <a:ea typeface="新愚公和谐宋-S" charset="-122"/>
              <a:cs typeface="新愚公和谐宋-S" charset="-122"/>
            </a:endParaRPr>
          </a:p>
          <a:p>
            <a:pPr algn="just">
              <a:lnSpc>
                <a:spcPct val="121000"/>
              </a:lnSpc>
              <a:spcBef>
                <a:spcPts val="0"/>
              </a:spcBef>
              <a:spcAft>
                <a:spcPts val="0"/>
              </a:spcAft>
            </a:pPr>
            <a:r>
              <a:rPr lang="zh-CN" altLang="en-US" sz="4200" b="0" i="0" u="none">
                <a:solidFill>
                  <a:srgbClr val="343435"/>
                </a:solidFill>
                <a:latin typeface="新愚公和谐宋-S" charset="-122"/>
                <a:ea typeface="新愚公和谐宋-S" charset="-122"/>
                <a:cs typeface="新愚公和谐宋-S" charset="-122"/>
              </a:rPr>
              <a:t>收集信号碎片</a:t>
            </a:r>
            <a:endParaRPr lang="zh-CN" altLang="en-US" sz="4200" b="0" i="0" u="none">
              <a:solidFill>
                <a:srgbClr val="343435"/>
              </a:solidFill>
              <a:latin typeface="新愚公和谐宋-S" charset="-122"/>
              <a:ea typeface="新愚公和谐宋-S" charset="-122"/>
              <a:cs typeface="新愚公和谐宋-S" charset="-122"/>
            </a:endParaRPr>
          </a:p>
          <a:p>
            <a:pPr algn="just">
              <a:lnSpc>
                <a:spcPct val="121000"/>
              </a:lnSpc>
              <a:spcBef>
                <a:spcPts val="0"/>
              </a:spcBef>
              <a:spcAft>
                <a:spcPts val="0"/>
              </a:spcAft>
            </a:pPr>
            <a:r>
              <a:rPr sz="4200" b="1" i="0">
                <a:solidFill>
                  <a:srgbClr val="B30100"/>
                </a:solidFill>
                <a:latin typeface="微软雅黑" panose="020B0503020204020204" charset="-122"/>
                <a:ea typeface="微软雅黑" panose="020B0503020204020204" charset="-122"/>
                <a:sym typeface="+mn-ea"/>
              </a:rPr>
              <a:t>6</a:t>
            </a:r>
            <a:r>
              <a:rPr lang="en-US" altLang="en-US" sz="4200" b="1" i="0">
                <a:solidFill>
                  <a:srgbClr val="B30100"/>
                </a:solidFill>
                <a:latin typeface="微软雅黑" panose="020B0503020204020204" charset="-122"/>
                <a:ea typeface="微软雅黑" panose="020B0503020204020204" charset="-122"/>
                <a:sym typeface="+mn-ea"/>
              </a:rPr>
              <a:t>.15-6.29</a:t>
            </a:r>
            <a:endParaRPr lang="zh-CN" altLang="en-US" sz="4200" b="0" i="0" u="none">
              <a:solidFill>
                <a:srgbClr val="343435"/>
              </a:solidFill>
              <a:latin typeface="新愚公和谐宋-S" charset="-122"/>
              <a:ea typeface="新愚公和谐宋-S" charset="-122"/>
              <a:cs typeface="新愚公和谐宋-S" charset="-122"/>
            </a:endParaRPr>
          </a:p>
        </p:txBody>
      </p:sp>
      <p:sp>
        <p:nvSpPr>
          <p:cNvPr id="18"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22"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8"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29"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13" name="矩形 12"/>
          <p:cNvSpPr/>
          <p:nvPr/>
        </p:nvSpPr>
        <p:spPr>
          <a:xfrm>
            <a:off x="0" y="10683875"/>
            <a:ext cx="20339685" cy="76200"/>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latin typeface="Arial" panose="020B0604020202020204" pitchFamily="34" charset="0"/>
              <a:ea typeface="Arial" panose="020B0604020202020204" pitchFamily="34" charset="0"/>
              <a:cs typeface="+mn-ea"/>
            </a:endParaRPr>
          </a:p>
        </p:txBody>
      </p:sp>
      <p:sp>
        <p:nvSpPr>
          <p:cNvPr id="35" name="圆角矩形 34"/>
          <p:cNvSpPr/>
          <p:nvPr/>
        </p:nvSpPr>
        <p:spPr>
          <a:xfrm>
            <a:off x="14928850" y="-593725"/>
            <a:ext cx="1056005" cy="12289155"/>
          </a:xfrm>
          <a:prstGeom prst="round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chemeClr val="bg1"/>
              </a:solidFill>
              <a:latin typeface="Arial" panose="020B0604020202020204" pitchFamily="34" charset="0"/>
              <a:ea typeface="Arial" panose="020B0604020202020204" pitchFamily="34" charset="0"/>
              <a:cs typeface="+mn-ea"/>
            </a:endParaRPr>
          </a:p>
        </p:txBody>
      </p:sp>
      <p:sp>
        <p:nvSpPr>
          <p:cNvPr id="38" name="TextBox 23"/>
          <p:cNvSpPr txBox="1"/>
          <p:nvPr/>
        </p:nvSpPr>
        <p:spPr>
          <a:xfrm>
            <a:off x="15298420" y="1997075"/>
            <a:ext cx="592455" cy="7453630"/>
          </a:xfrm>
          <a:prstGeom prst="rect">
            <a:avLst/>
          </a:prstGeom>
          <a:noFill/>
        </p:spPr>
        <p:txBody>
          <a:bodyPr wrap="none" lIns="0" tIns="0" rIns="0" bIns="0"/>
          <a:lstStyle/>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核</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心</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标</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语</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i="0">
                <a:solidFill>
                  <a:srgbClr val="343435"/>
                </a:solidFill>
                <a:latin typeface="新愚公和谐宋-S" charset="-122"/>
                <a:ea typeface="新愚公和谐宋-S" charset="-122"/>
                <a:cs typeface="新愚公和谐宋-S" charset="-122"/>
                <a:sym typeface="+mn-ea"/>
              </a:rPr>
              <a:t>：</a:t>
            </a:r>
            <a:endParaRPr lang="zh-CN" altLang="en-US" sz="2800" b="1" i="0">
              <a:solidFill>
                <a:srgbClr val="343435"/>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你</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的</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信</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号</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已</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连</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接</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千</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年</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之</a:t>
            </a:r>
            <a:endParaRPr lang="zh-CN" altLang="en-US" sz="2800" b="1">
              <a:solidFill>
                <a:schemeClr val="bg1"/>
              </a:solidFill>
              <a:latin typeface="新愚公和谐宋-S" charset="-122"/>
              <a:ea typeface="新愚公和谐宋-S" charset="-122"/>
              <a:cs typeface="新愚公和谐宋-S" charset="-122"/>
              <a:sym typeface="+mn-ea"/>
            </a:endParaRPr>
          </a:p>
          <a:p>
            <a:pPr marL="0" indent="0" algn="l" eaLnBrk="1" fontAlgn="auto" latinLnBrk="0" hangingPunct="1">
              <a:lnSpc>
                <a:spcPct val="100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前</a:t>
            </a:r>
            <a:endParaRPr lang="zh-CN" altLang="en-US" sz="2800" b="1" i="0">
              <a:solidFill>
                <a:schemeClr val="bg1"/>
              </a:solidFill>
              <a:latin typeface="新愚公和谐宋-S" charset="-122"/>
              <a:ea typeface="新愚公和谐宋-S" charset="-122"/>
              <a:cs typeface="新愚公和谐宋-S" charset="-122"/>
              <a:sym typeface="+mn-ea"/>
            </a:endParaRPr>
          </a:p>
        </p:txBody>
      </p:sp>
      <p:pic>
        <p:nvPicPr>
          <p:cNvPr id="2" name="图片 1" descr="联通"/>
          <p:cNvPicPr>
            <a:picLocks noChangeAspect="1"/>
          </p:cNvPicPr>
          <p:nvPr/>
        </p:nvPicPr>
        <p:blipFill>
          <a:blip r:embed="rId2"/>
          <a:stretch>
            <a:fillRect/>
          </a:stretch>
        </p:blipFill>
        <p:spPr>
          <a:xfrm>
            <a:off x="755650" y="1463675"/>
            <a:ext cx="4045585" cy="8772525"/>
          </a:xfrm>
          <a:prstGeom prst="rect">
            <a:avLst/>
          </a:prstGeom>
        </p:spPr>
      </p:pic>
      <p:sp>
        <p:nvSpPr>
          <p:cNvPr id="6" name="文本框 5"/>
          <p:cNvSpPr txBox="1"/>
          <p:nvPr/>
        </p:nvSpPr>
        <p:spPr>
          <a:xfrm>
            <a:off x="9372600" y="2261870"/>
            <a:ext cx="5088255" cy="8422005"/>
          </a:xfrm>
          <a:prstGeom prst="rect">
            <a:avLst/>
          </a:prstGeom>
          <a:noFill/>
        </p:spPr>
        <p:txBody>
          <a:bodyPr wrap="square" rtlCol="0">
            <a:noAutofit/>
          </a:bodyPr>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通过“服务提醒”与“新人专享”模块，直接将流量与业务（如王卡）挂钩，证明我们不仅是在讲文化，更是在高效促活。</a:t>
            </a:r>
            <a:endParaRPr lang="zh-CN" altLang="en-US"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en-US" altLang="zh-CN"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强调“原生感”</a:t>
            </a:r>
            <a:r>
              <a:rPr lang="en-US" altLang="zh-CN" sz="2200">
                <a:solidFill>
                  <a:srgbClr val="343435"/>
                </a:solidFill>
                <a:latin typeface="新愚公和谐宋-S" charset="-122"/>
                <a:ea typeface="新愚公和谐宋-S" charset="-122"/>
                <a:cs typeface="新愚公和谐宋-S" charset="-122"/>
              </a:rPr>
              <a:t>,</a:t>
            </a:r>
            <a:r>
              <a:rPr lang="zh-CN" altLang="en-US" sz="2200">
                <a:solidFill>
                  <a:srgbClr val="343435"/>
                </a:solidFill>
                <a:latin typeface="新愚公和谐宋-S" charset="-122"/>
                <a:ea typeface="新愚公和谐宋-S" charset="-122"/>
                <a:cs typeface="新愚公和谐宋-S" charset="-122"/>
              </a:rPr>
              <a:t>我们对联通 </a:t>
            </a:r>
            <a:r>
              <a:rPr lang="en-US" altLang="zh-CN" sz="2200">
                <a:solidFill>
                  <a:srgbClr val="343435"/>
                </a:solidFill>
                <a:latin typeface="Arial" panose="020B0604020202020204" pitchFamily="34" charset="0"/>
                <a:ea typeface="新愚公和谐宋-S" charset="-122"/>
                <a:cs typeface="Arial" panose="020B0604020202020204" pitchFamily="34" charset="0"/>
              </a:rPr>
              <a:t>APP</a:t>
            </a:r>
            <a:r>
              <a:rPr lang="zh-CN" altLang="en-US" sz="2200">
                <a:solidFill>
                  <a:srgbClr val="343435"/>
                </a:solidFill>
                <a:latin typeface="新愚公和谐宋-S" charset="-122"/>
                <a:ea typeface="新愚公和谐宋-S" charset="-122"/>
                <a:cs typeface="新愚公和谐宋-S" charset="-122"/>
              </a:rPr>
              <a:t>的改动是基于原有</a:t>
            </a:r>
            <a:r>
              <a:rPr lang="en-US" altLang="zh-CN" sz="2200">
                <a:solidFill>
                  <a:srgbClr val="343435"/>
                </a:solidFill>
                <a:latin typeface="Arial" panose="020B0604020202020204" pitchFamily="34" charset="0"/>
                <a:ea typeface="新愚公和谐宋-S" charset="-122"/>
                <a:cs typeface="Arial" panose="020B0604020202020204" pitchFamily="34" charset="0"/>
              </a:rPr>
              <a:t>UI</a:t>
            </a:r>
            <a:r>
              <a:rPr lang="zh-CN" altLang="en-US" sz="2200">
                <a:solidFill>
                  <a:srgbClr val="343435"/>
                </a:solidFill>
                <a:latin typeface="新愚公和谐宋-S" charset="-122"/>
                <a:ea typeface="新愚公和谐宋-S" charset="-122"/>
                <a:cs typeface="新愚公和谐宋-S" charset="-122"/>
              </a:rPr>
              <a:t>架构进行的，极具现实落地性，没有任何违和感。</a:t>
            </a:r>
            <a:endParaRPr lang="zh-CN" altLang="en-US"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zh-CN" altLang="en-US"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我们设计了联通</a:t>
            </a:r>
            <a:r>
              <a:rPr lang="en-US" altLang="en-US" sz="2200">
                <a:solidFill>
                  <a:srgbClr val="343435"/>
                </a:solidFill>
                <a:latin typeface="Arial" panose="020B0604020202020204" pitchFamily="34" charset="0"/>
                <a:ea typeface="新愚公和谐宋-S" charset="-122"/>
                <a:cs typeface="Arial" panose="020B0604020202020204" pitchFamily="34" charset="0"/>
              </a:rPr>
              <a:t>APP</a:t>
            </a:r>
            <a:r>
              <a:rPr lang="zh-CN" altLang="en-US" sz="2200">
                <a:solidFill>
                  <a:srgbClr val="343435"/>
                </a:solidFill>
                <a:latin typeface="新愚公和谐宋-S" charset="-122"/>
                <a:ea typeface="新愚公和谐宋-S" charset="-122"/>
                <a:cs typeface="新愚公和谐宋-S" charset="-122"/>
              </a:rPr>
              <a:t>的流量闭环</a:t>
            </a:r>
            <a:r>
              <a:rPr lang="en-US" altLang="zh-CN" sz="2200">
                <a:solidFill>
                  <a:srgbClr val="343435"/>
                </a:solidFill>
                <a:latin typeface="新愚公和谐宋-S" charset="-122"/>
                <a:ea typeface="新愚公和谐宋-S" charset="-122"/>
                <a:cs typeface="新愚公和谐宋-S" charset="-122"/>
              </a:rPr>
              <a:t>:</a:t>
            </a:r>
            <a:r>
              <a:rPr lang="zh-CN" altLang="en-US" sz="2200">
                <a:solidFill>
                  <a:srgbClr val="343435"/>
                </a:solidFill>
                <a:latin typeface="新愚公和谐宋-S" charset="-122"/>
                <a:ea typeface="新愚公和谐宋-S" charset="-122"/>
                <a:cs typeface="新愚公和谐宋-S" charset="-122"/>
              </a:rPr>
              <a:t>通过首页专属入口引导用户进入联名专题页，利用高颜值</a:t>
            </a:r>
            <a:r>
              <a:rPr lang="en-US" altLang="en-US" sz="2200">
                <a:solidFill>
                  <a:srgbClr val="343435"/>
                </a:solidFill>
                <a:latin typeface="Arial" panose="020B0604020202020204" pitchFamily="34" charset="0"/>
                <a:ea typeface="新愚公和谐宋-S" charset="-122"/>
                <a:cs typeface="Arial" panose="020B0604020202020204" pitchFamily="34" charset="0"/>
              </a:rPr>
              <a:t>IP</a:t>
            </a:r>
            <a:r>
              <a:rPr lang="zh-CN" altLang="en-US" sz="2200">
                <a:solidFill>
                  <a:srgbClr val="343435"/>
                </a:solidFill>
                <a:latin typeface="新愚公和谐宋-S" charset="-122"/>
                <a:ea typeface="新愚公和谐宋-S" charset="-122"/>
                <a:cs typeface="新愚公和谐宋-S" charset="-122"/>
              </a:rPr>
              <a:t>视觉吸引用户驻留，最终通过文创产品+流量权益的组合拳，实现从文化感知到业务转化的高效漏斗。</a:t>
            </a:r>
            <a:endParaRPr lang="zh-CN" altLang="en-US" sz="2200">
              <a:solidFill>
                <a:srgbClr val="343435"/>
              </a:solidFill>
              <a:latin typeface="新愚公和谐宋-S" charset="-122"/>
              <a:ea typeface="新愚公和谐宋-S" charset="-122"/>
              <a:cs typeface="新愚公和谐宋-S" charset="-122"/>
            </a:endParaRPr>
          </a:p>
        </p:txBody>
      </p:sp>
      <p:pic>
        <p:nvPicPr>
          <p:cNvPr id="39" name="图片 38" descr="微信图片_20260604024041_1209_2"/>
          <p:cNvPicPr>
            <a:picLocks noChangeAspect="1"/>
          </p:cNvPicPr>
          <p:nvPr/>
        </p:nvPicPr>
        <p:blipFill>
          <a:blip r:embed="rId3"/>
          <a:stretch>
            <a:fillRect/>
          </a:stretch>
        </p:blipFill>
        <p:spPr>
          <a:xfrm>
            <a:off x="16607790" y="7425690"/>
            <a:ext cx="2665730" cy="3334385"/>
          </a:xfrm>
          <a:prstGeom prst="rect">
            <a:avLst/>
          </a:prstGeom>
        </p:spPr>
      </p:pic>
      <p:pic>
        <p:nvPicPr>
          <p:cNvPr id="7" name="图片 6" descr="f314b80e-d454-4876-b996-1fa0dcf3b3de"/>
          <p:cNvPicPr>
            <a:picLocks noChangeAspect="1"/>
          </p:cNvPicPr>
          <p:nvPr/>
        </p:nvPicPr>
        <p:blipFill>
          <a:blip r:embed="rId4"/>
          <a:stretch>
            <a:fillRect/>
          </a:stretch>
        </p:blipFill>
        <p:spPr>
          <a:xfrm>
            <a:off x="4785360" y="1461770"/>
            <a:ext cx="4046855" cy="8779510"/>
          </a:xfrm>
          <a:prstGeom prst="rect">
            <a:avLst/>
          </a:prstGeom>
        </p:spPr>
      </p:pic>
      <p:pic>
        <p:nvPicPr>
          <p:cNvPr id="8" name="图片 7" descr="微信图片_20260604235618_1224_2"/>
          <p:cNvPicPr>
            <a:picLocks noChangeAspect="1"/>
          </p:cNvPicPr>
          <p:nvPr/>
        </p:nvPicPr>
        <p:blipFill>
          <a:blip r:embed="rId5"/>
          <a:stretch>
            <a:fillRect/>
          </a:stretch>
        </p:blipFill>
        <p:spPr>
          <a:xfrm>
            <a:off x="3422650" y="3978275"/>
            <a:ext cx="1252855" cy="1088390"/>
          </a:xfrm>
          <a:prstGeom prst="rect">
            <a:avLst/>
          </a:prstGeom>
        </p:spPr>
      </p:pic>
      <p:sp>
        <p:nvSpPr>
          <p:cNvPr id="9" name="文本框 8"/>
          <p:cNvSpPr txBox="1"/>
          <p:nvPr/>
        </p:nvSpPr>
        <p:spPr>
          <a:xfrm>
            <a:off x="3194050" y="5066665"/>
            <a:ext cx="1755775" cy="306705"/>
          </a:xfrm>
          <a:prstGeom prst="rect">
            <a:avLst/>
          </a:prstGeom>
          <a:noFill/>
        </p:spPr>
        <p:txBody>
          <a:bodyPr wrap="square" rtlCol="0">
            <a:spAutoFit/>
          </a:bodyPr>
          <a:p>
            <a:pPr algn="ctr"/>
            <a:r>
              <a:rPr lang="zh-CN" altLang="en-US" sz="700" b="1">
                <a:solidFill>
                  <a:srgbClr val="5C9897"/>
                </a:solidFill>
                <a:latin typeface="微软雅黑" panose="020B0503020204020204" charset="-122"/>
                <a:ea typeface="微软雅黑" panose="020B0503020204020204" charset="-122"/>
                <a:cs typeface="微软雅黑" panose="020B0503020204020204" charset="-122"/>
              </a:rPr>
              <a:t>河南博物馆</a:t>
            </a:r>
            <a:r>
              <a:rPr lang="en-US" altLang="zh-CN" sz="700" b="1">
                <a:solidFill>
                  <a:schemeClr val="tx1"/>
                </a:solidFill>
                <a:latin typeface="微软雅黑" panose="020B0503020204020204" charset="-122"/>
                <a:ea typeface="微软雅黑" panose="020B0503020204020204" charset="-122"/>
                <a:cs typeface="微软雅黑" panose="020B0503020204020204" charset="-122"/>
              </a:rPr>
              <a:t>X</a:t>
            </a:r>
            <a:r>
              <a:rPr lang="zh-CN" altLang="en-US" sz="700" b="1">
                <a:solidFill>
                  <a:srgbClr val="5C9897"/>
                </a:solidFill>
                <a:latin typeface="微软雅黑" panose="020B0503020204020204" charset="-122"/>
                <a:ea typeface="微软雅黑" panose="020B0503020204020204" charset="-122"/>
                <a:cs typeface="微软雅黑" panose="020B0503020204020204" charset="-122"/>
              </a:rPr>
              <a:t>中国联通文创</a:t>
            </a:r>
            <a:endParaRPr lang="zh-CN" altLang="en-US" sz="700" b="1">
              <a:solidFill>
                <a:srgbClr val="5C9897"/>
              </a:solidFill>
              <a:latin typeface="微软雅黑" panose="020B0503020204020204" charset="-122"/>
              <a:ea typeface="微软雅黑" panose="020B0503020204020204" charset="-122"/>
              <a:cs typeface="微软雅黑" panose="020B0503020204020204" charset="-122"/>
            </a:endParaRPr>
          </a:p>
          <a:p>
            <a:pPr algn="ctr"/>
            <a:r>
              <a:rPr lang="zh-CN" altLang="en-US" sz="700" b="1">
                <a:solidFill>
                  <a:srgbClr val="5C9897"/>
                </a:solidFill>
                <a:latin typeface="微软雅黑" panose="020B0503020204020204" charset="-122"/>
                <a:ea typeface="微软雅黑" panose="020B0503020204020204" charset="-122"/>
                <a:cs typeface="微软雅黑" panose="020B0503020204020204" charset="-122"/>
              </a:rPr>
              <a:t>点此进入</a:t>
            </a:r>
            <a:endParaRPr lang="zh-CN" altLang="en-US" sz="700" b="1">
              <a:solidFill>
                <a:srgbClr val="5C9897"/>
              </a:solidFill>
              <a:latin typeface="微软雅黑" panose="020B0503020204020204" charset="-122"/>
              <a:ea typeface="微软雅黑" panose="020B0503020204020204" charset="-122"/>
              <a:cs typeface="微软雅黑" panose="020B0503020204020204" charset="-122"/>
            </a:endParaRPr>
          </a:p>
        </p:txBody>
      </p:sp>
      <p:sp>
        <p:nvSpPr>
          <p:cNvPr id="3"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18</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pic>
        <p:nvPicPr>
          <p:cNvPr id="33" name="图片 32" descr="招手正背2024-07-23 16.36.29"/>
          <p:cNvPicPr>
            <a:picLocks noChangeAspect="1"/>
          </p:cNvPicPr>
          <p:nvPr/>
        </p:nvPicPr>
        <p:blipFill>
          <a:blip r:embed="rId2"/>
          <a:srcRect r="52750"/>
          <a:stretch>
            <a:fillRect/>
          </a:stretch>
        </p:blipFill>
        <p:spPr>
          <a:xfrm flipH="1">
            <a:off x="15385803" y="5349921"/>
            <a:ext cx="7032247" cy="8685599"/>
          </a:xfrm>
          <a:prstGeom prst="rect">
            <a:avLst/>
          </a:prstGeom>
        </p:spPr>
      </p:pic>
      <p:sp>
        <p:nvSpPr>
          <p:cNvPr id="18" name="流程图: 数据 17"/>
          <p:cNvSpPr/>
          <p:nvPr/>
        </p:nvSpPr>
        <p:spPr>
          <a:xfrm rot="7140000">
            <a:off x="-2421255" y="4801235"/>
            <a:ext cx="21516340" cy="2272665"/>
          </a:xfrm>
          <a:prstGeom prst="flowChartInputOutpu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TextBox 23"/>
          <p:cNvSpPr txBox="1"/>
          <p:nvPr/>
        </p:nvSpPr>
        <p:spPr>
          <a:xfrm rot="17940000">
            <a:off x="5891530" y="4714875"/>
            <a:ext cx="5800725" cy="1071880"/>
          </a:xfrm>
          <a:prstGeom prst="rect">
            <a:avLst/>
          </a:prstGeom>
          <a:noFill/>
        </p:spPr>
        <p:txBody>
          <a:bodyPr wrap="none" lIns="0" tIns="0" rIns="0" bIns="0"/>
          <a:lstStyle/>
          <a:p>
            <a:pPr algn="l">
              <a:lnSpc>
                <a:spcPct val="135000"/>
              </a:lnSpc>
              <a:spcBef>
                <a:spcPts val="0"/>
              </a:spcBef>
              <a:spcAft>
                <a:spcPts val="0"/>
              </a:spcAft>
            </a:pPr>
            <a:r>
              <a:rPr lang="zh-CN" altLang="en-US" sz="2800" b="1">
                <a:solidFill>
                  <a:schemeClr val="bg1"/>
                </a:solidFill>
                <a:latin typeface="新愚公和谐宋-S" charset="-122"/>
                <a:ea typeface="新愚公和谐宋-S" charset="-122"/>
                <a:cs typeface="新愚公和谐宋-S" charset="-122"/>
                <a:sym typeface="+mn-ea"/>
              </a:rPr>
              <a:t>你的信号，已连接千年之前</a:t>
            </a:r>
            <a:endParaRPr lang="zh-CN" altLang="en-US" sz="2800" b="1" i="0">
              <a:solidFill>
                <a:schemeClr val="bg1"/>
              </a:solidFill>
              <a:latin typeface="新愚公和谐宋-S" charset="-122"/>
              <a:ea typeface="新愚公和谐宋-S" charset="-122"/>
              <a:cs typeface="新愚公和谐宋-S" charset="-122"/>
              <a:sym typeface="+mn-ea"/>
            </a:endParaRPr>
          </a:p>
        </p:txBody>
      </p:sp>
      <p:sp>
        <p:nvSpPr>
          <p:cNvPr id="23" name="文本框 22"/>
          <p:cNvSpPr txBox="1"/>
          <p:nvPr/>
        </p:nvSpPr>
        <p:spPr>
          <a:xfrm>
            <a:off x="933450" y="3597275"/>
            <a:ext cx="6350000" cy="1915795"/>
          </a:xfrm>
          <a:prstGeom prst="rect">
            <a:avLst/>
          </a:prstGeom>
          <a:noFill/>
        </p:spPr>
        <p:txBody>
          <a:bodyPr wrap="square" rtlCol="0">
            <a:noAutofit/>
          </a:bodyPr>
          <a:p>
            <a:pPr marL="0" indent="0" eaLnBrk="1" fontAlgn="auto" latinLnBrk="0" hangingPunct="1">
              <a:lnSpc>
                <a:spcPct val="150000"/>
              </a:lnSpc>
            </a:pPr>
            <a:r>
              <a:rPr lang="zh-CN" altLang="en-US" sz="2400">
                <a:solidFill>
                  <a:srgbClr val="C0504D"/>
                </a:solidFill>
                <a:latin typeface="新愚公和谐宋-S" charset="-122"/>
                <a:ea typeface="新愚公和谐宋-S" charset="-122"/>
                <a:cs typeface="新愚公和谐宋-S" charset="-122"/>
              </a:rPr>
              <a:t>核心目的</a:t>
            </a:r>
            <a:r>
              <a:rPr lang="zh-CN" altLang="en-US" sz="2400">
                <a:solidFill>
                  <a:srgbClr val="343435"/>
                </a:solidFill>
                <a:latin typeface="新愚公和谐宋-S" charset="-122"/>
                <a:ea typeface="新愚公和谐宋-S" charset="-122"/>
                <a:cs typeface="新愚公和谐宋-S" charset="-122"/>
              </a:rPr>
              <a:t>：利用数字技术将“文创购买者”转化为“剧情第一视角参与者”，通过</a:t>
            </a:r>
            <a:r>
              <a:rPr lang="en-US" altLang="zh-CN" sz="2400">
                <a:solidFill>
                  <a:srgbClr val="343435"/>
                </a:solidFill>
                <a:latin typeface="新愚公和谐宋-S" charset="-122"/>
                <a:ea typeface="新愚公和谐宋-S" charset="-122"/>
                <a:cs typeface="新愚公和谐宋-S" charset="-122"/>
              </a:rPr>
              <a:t>AI</a:t>
            </a:r>
            <a:r>
              <a:rPr lang="zh-CN" altLang="en-US" sz="2400">
                <a:solidFill>
                  <a:srgbClr val="343435"/>
                </a:solidFill>
                <a:latin typeface="新愚公和谐宋-S" charset="-122"/>
                <a:ea typeface="新愚公和谐宋-S" charset="-122"/>
                <a:cs typeface="新愚公和谐宋-S" charset="-122"/>
              </a:rPr>
              <a:t>与</a:t>
            </a:r>
            <a:r>
              <a:rPr lang="en-US" altLang="zh-CN" sz="2400">
                <a:solidFill>
                  <a:srgbClr val="343435"/>
                </a:solidFill>
                <a:latin typeface="新愚公和谐宋-S" charset="-122"/>
                <a:ea typeface="新愚公和谐宋-S" charset="-122"/>
                <a:cs typeface="新愚公和谐宋-S" charset="-122"/>
              </a:rPr>
              <a:t>AR</a:t>
            </a:r>
            <a:r>
              <a:rPr lang="zh-CN" altLang="en-US" sz="2400">
                <a:solidFill>
                  <a:srgbClr val="343435"/>
                </a:solidFill>
                <a:latin typeface="新愚公和谐宋-S" charset="-122"/>
                <a:ea typeface="新愚公和谐宋-S" charset="-122"/>
                <a:cs typeface="新愚公和谐宋-S" charset="-122"/>
              </a:rPr>
              <a:t>手段，给用户提供极强的情绪价值与“赛博大唐”沉浸感。</a:t>
            </a:r>
            <a:endParaRPr lang="zh-CN" altLang="en-US" sz="2400">
              <a:solidFill>
                <a:srgbClr val="343435"/>
              </a:solidFill>
              <a:latin typeface="新愚公和谐宋-S" charset="-122"/>
              <a:ea typeface="新愚公和谐宋-S" charset="-122"/>
              <a:cs typeface="新愚公和谐宋-S" charset="-122"/>
            </a:endParaRPr>
          </a:p>
        </p:txBody>
      </p:sp>
      <p:sp>
        <p:nvSpPr>
          <p:cNvPr id="24" name="TextBox 13"/>
          <p:cNvSpPr txBox="1"/>
          <p:nvPr/>
        </p:nvSpPr>
        <p:spPr>
          <a:xfrm>
            <a:off x="617855" y="1920875"/>
            <a:ext cx="5604510" cy="580390"/>
          </a:xfrm>
          <a:prstGeom prst="rect">
            <a:avLst/>
          </a:prstGeom>
          <a:noFill/>
        </p:spPr>
        <p:txBody>
          <a:bodyPr wrap="none" lIns="0" tIns="0" rIns="0" bIns="0"/>
          <a:lstStyle/>
          <a:p>
            <a:pPr algn="just">
              <a:lnSpc>
                <a:spcPct val="121000"/>
              </a:lnSpc>
              <a:spcBef>
                <a:spcPts val="0"/>
              </a:spcBef>
              <a:spcAft>
                <a:spcPts val="0"/>
              </a:spcAft>
            </a:pPr>
            <a:r>
              <a:rPr lang="en-US" altLang="zh-CN" sz="4200" b="0" i="0" u="none">
                <a:solidFill>
                  <a:srgbClr val="343435"/>
                </a:solidFill>
                <a:latin typeface="新愚公和谐宋-S" charset="-122"/>
                <a:ea typeface="新愚公和谐宋-S" charset="-122"/>
                <a:cs typeface="新愚公和谐宋-S" charset="-122"/>
              </a:rPr>
              <a:t>STEP 3：</a:t>
            </a:r>
            <a:r>
              <a:rPr lang="zh-CN" altLang="en-US" sz="4200" b="0" i="0" u="none">
                <a:solidFill>
                  <a:srgbClr val="343435"/>
                </a:solidFill>
                <a:latin typeface="新愚公和谐宋-S" charset="-122"/>
                <a:ea typeface="新愚公和谐宋-S" charset="-122"/>
                <a:cs typeface="新愚公和谐宋-S" charset="-122"/>
              </a:rPr>
              <a:t>恢复信号：</a:t>
            </a:r>
            <a:r>
              <a:rPr sz="4200" b="1" i="0">
                <a:solidFill>
                  <a:srgbClr val="B30100"/>
                </a:solidFill>
                <a:latin typeface="微软雅黑" panose="020B0503020204020204" charset="-122"/>
                <a:ea typeface="微软雅黑" panose="020B0503020204020204" charset="-122"/>
                <a:sym typeface="+mn-ea"/>
              </a:rPr>
              <a:t>6</a:t>
            </a:r>
            <a:r>
              <a:rPr lang="en-US" altLang="en-US" sz="4200" b="1" i="0">
                <a:solidFill>
                  <a:srgbClr val="B30100"/>
                </a:solidFill>
                <a:latin typeface="微软雅黑" panose="020B0503020204020204" charset="-122"/>
                <a:ea typeface="微软雅黑" panose="020B0503020204020204" charset="-122"/>
                <a:sym typeface="+mn-ea"/>
              </a:rPr>
              <a:t>.15-6.29</a:t>
            </a:r>
            <a:endParaRPr lang="zh-CN" altLang="en-US" sz="4200" b="0" i="0" u="none">
              <a:solidFill>
                <a:srgbClr val="343435"/>
              </a:solidFill>
              <a:latin typeface="新愚公和谐宋-S" charset="-122"/>
              <a:ea typeface="新愚公和谐宋-S" charset="-122"/>
              <a:cs typeface="新愚公和谐宋-S" charset="-122"/>
            </a:endParaRPr>
          </a:p>
        </p:txBody>
      </p:sp>
      <p:sp>
        <p:nvSpPr>
          <p:cNvPr id="25" name="文本框 24"/>
          <p:cNvSpPr txBox="1"/>
          <p:nvPr/>
        </p:nvSpPr>
        <p:spPr>
          <a:xfrm>
            <a:off x="984250" y="5959475"/>
            <a:ext cx="5281930" cy="2152015"/>
          </a:xfrm>
          <a:prstGeom prst="rect">
            <a:avLst/>
          </a:prstGeom>
          <a:noFill/>
        </p:spPr>
        <p:txBody>
          <a:bodyPr wrap="square" rtlCol="0">
            <a:noAutofit/>
          </a:bodyPr>
          <a:p>
            <a:pPr marL="0" indent="0" eaLnBrk="1" fontAlgn="auto" latinLnBrk="0" hangingPunct="1">
              <a:lnSpc>
                <a:spcPct val="150000"/>
              </a:lnSpc>
            </a:pPr>
            <a:r>
              <a:rPr lang="zh-CN" altLang="en-US" sz="2400" u="sng">
                <a:solidFill>
                  <a:srgbClr val="343435"/>
                </a:solidFill>
                <a:latin typeface="新愚公和谐宋-S" charset="-122"/>
                <a:ea typeface="新愚公和谐宋-S" charset="-122"/>
                <a:cs typeface="新愚公和谐宋-S" charset="-122"/>
              </a:rPr>
              <a:t>时空跨次元来电</a:t>
            </a:r>
            <a:r>
              <a:rPr lang="zh-CN" altLang="en-US" sz="2400">
                <a:solidFill>
                  <a:srgbClr val="343435"/>
                </a:solidFill>
                <a:latin typeface="新愚公和谐宋-S" charset="-122"/>
                <a:ea typeface="新愚公和谐宋-S" charset="-122"/>
                <a:cs typeface="新愚公和谐宋-S" charset="-122"/>
              </a:rPr>
              <a:t>：用户手机将随机触发大唐名人的“神秘来电”，接通即</a:t>
            </a:r>
            <a:endParaRPr lang="zh-CN" altLang="en-US" sz="2400">
              <a:solidFill>
                <a:srgbClr val="343435"/>
              </a:solidFill>
              <a:latin typeface="新愚公和谐宋-S" charset="-122"/>
              <a:ea typeface="新愚公和谐宋-S" charset="-122"/>
              <a:cs typeface="新愚公和谐宋-S" charset="-122"/>
            </a:endParaRPr>
          </a:p>
        </p:txBody>
      </p:sp>
      <p:pic>
        <p:nvPicPr>
          <p:cNvPr id="34" name="图片 33" descr="来电"/>
          <p:cNvPicPr>
            <a:picLocks noChangeAspect="1"/>
          </p:cNvPicPr>
          <p:nvPr/>
        </p:nvPicPr>
        <p:blipFill>
          <a:blip r:embed="rId3"/>
          <a:stretch>
            <a:fillRect/>
          </a:stretch>
        </p:blipFill>
        <p:spPr>
          <a:xfrm>
            <a:off x="11784965" y="1920875"/>
            <a:ext cx="4124325" cy="8952230"/>
          </a:xfrm>
          <a:prstGeom prst="rect">
            <a:avLst/>
          </a:prstGeom>
        </p:spPr>
      </p:pic>
      <p:sp>
        <p:nvSpPr>
          <p:cNvPr id="41" name="椭圆形标注 40"/>
          <p:cNvSpPr/>
          <p:nvPr/>
        </p:nvSpPr>
        <p:spPr>
          <a:xfrm>
            <a:off x="13000990" y="130175"/>
            <a:ext cx="6860540" cy="4187190"/>
          </a:xfrm>
          <a:prstGeom prst="wedgeEllipseCallout">
            <a:avLst/>
          </a:prstGeom>
          <a:solidFill>
            <a:schemeClr val="bg1"/>
          </a:solidFill>
          <a:ln>
            <a:solidFill>
              <a:srgbClr val="34343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文本框 41"/>
          <p:cNvSpPr txBox="1"/>
          <p:nvPr/>
        </p:nvSpPr>
        <p:spPr>
          <a:xfrm>
            <a:off x="13862050" y="777875"/>
            <a:ext cx="5639435" cy="4273550"/>
          </a:xfrm>
          <a:prstGeom prst="rect">
            <a:avLst/>
          </a:prstGeom>
          <a:noFill/>
        </p:spPr>
        <p:txBody>
          <a:bodyPr wrap="square" rtlCol="0">
            <a:noAutofit/>
          </a:bodyPr>
          <a:p>
            <a:pPr marL="0" indent="0" eaLnBrk="1" fontAlgn="auto" latinLnBrk="0" hangingPunct="1">
              <a:lnSpc>
                <a:spcPct val="150000"/>
              </a:lnSpc>
            </a:pPr>
            <a:r>
              <a:rPr lang="zh-CN" altLang="en-US" sz="2400">
                <a:solidFill>
                  <a:srgbClr val="96783A"/>
                </a:solidFill>
                <a:latin typeface="新愚公和谐宋-S" charset="-122"/>
                <a:ea typeface="新愚公和谐宋-S" charset="-122"/>
                <a:cs typeface="新愚公和谐宋-S" charset="-122"/>
              </a:rPr>
              <a:t>喂？听得到吗？吾乃江州司马白居易。今夜本欲抱琵琶听一曲，奈何天降雷电，信号全无！</a:t>
            </a:r>
            <a:r>
              <a:rPr lang="zh-CN" altLang="en-US" sz="2400">
                <a:solidFill>
                  <a:srgbClr val="96783A"/>
                </a:solidFill>
                <a:latin typeface="新愚公和谐宋-S" charset="-122"/>
                <a:ea typeface="新愚公和谐宋-S" charset="-122"/>
                <a:cs typeface="新愚公和谐宋-S" charset="-122"/>
                <a:sym typeface="+mn-ea"/>
              </a:rPr>
              <a:t>听闻</a:t>
            </a:r>
            <a:r>
              <a:rPr lang="zh-CN" altLang="en-US" sz="2400">
                <a:solidFill>
                  <a:srgbClr val="96783A"/>
                </a:solidFill>
                <a:latin typeface="新愚公和谐宋-S" charset="-122"/>
                <a:ea typeface="新愚公和谐宋-S" charset="-122"/>
                <a:cs typeface="新愚公和谐宋-S" charset="-122"/>
              </a:rPr>
              <a:t>“中国联通”之异宝闪烁跨越千年的‘5</a:t>
            </a:r>
            <a:r>
              <a:rPr lang="en-US" altLang="zh-CN" sz="2400">
                <a:solidFill>
                  <a:srgbClr val="96783A"/>
                </a:solidFill>
                <a:latin typeface="Arial" panose="020B0604020202020204" pitchFamily="34" charset="0"/>
                <a:ea typeface="新愚公和谐宋-S" charset="-122"/>
                <a:cs typeface="Arial" panose="020B0604020202020204" pitchFamily="34" charset="0"/>
              </a:rPr>
              <a:t>G</a:t>
            </a:r>
            <a:r>
              <a:rPr lang="zh-CN" altLang="en-US" sz="2400">
                <a:solidFill>
                  <a:srgbClr val="96783A"/>
                </a:solidFill>
                <a:latin typeface="新愚公和谐宋-S" charset="-122"/>
                <a:ea typeface="新愚公和谐宋-S" charset="-122"/>
                <a:cs typeface="新愚公和谐宋-S" charset="-122"/>
              </a:rPr>
              <a:t>神速’？快快助我恢复大唐信号，邀天下文豪共赏啊！</a:t>
            </a:r>
            <a:endParaRPr lang="zh-CN" altLang="en-US" sz="2400">
              <a:solidFill>
                <a:srgbClr val="96783A"/>
              </a:solidFill>
              <a:latin typeface="新愚公和谐宋-S" charset="-122"/>
              <a:ea typeface="新愚公和谐宋-S" charset="-122"/>
              <a:cs typeface="新愚公和谐宋-S" charset="-122"/>
            </a:endParaRPr>
          </a:p>
        </p:txBody>
      </p:sp>
      <p:sp>
        <p:nvSpPr>
          <p:cNvPr id="44"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45"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46"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47"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2" name="文本框 1"/>
          <p:cNvSpPr txBox="1"/>
          <p:nvPr/>
        </p:nvSpPr>
        <p:spPr>
          <a:xfrm>
            <a:off x="984250" y="7178675"/>
            <a:ext cx="3676650" cy="2152015"/>
          </a:xfrm>
          <a:prstGeom prst="rect">
            <a:avLst/>
          </a:prstGeom>
          <a:noFill/>
        </p:spPr>
        <p:txBody>
          <a:bodyPr wrap="square" rtlCol="0">
            <a:noAutofit/>
          </a:bodyPr>
          <a:p>
            <a:pPr marL="0" indent="0" eaLnBrk="1" fontAlgn="auto" latinLnBrk="0" hangingPunct="1">
              <a:lnSpc>
                <a:spcPct val="150000"/>
              </a:lnSpc>
            </a:pPr>
            <a:r>
              <a:rPr lang="zh-CN" altLang="en-US" sz="2400">
                <a:solidFill>
                  <a:srgbClr val="343435"/>
                </a:solidFill>
                <a:latin typeface="新愚公和谐宋-S" charset="-122"/>
                <a:ea typeface="新愚公和谐宋-S" charset="-122"/>
                <a:cs typeface="新愚公和谐宋-S" charset="-122"/>
              </a:rPr>
              <a:t>播定制古风语音剧情，制造“大唐正与你通话”的沉浸初体验。</a:t>
            </a:r>
            <a:endParaRPr lang="zh-CN" altLang="en-US" sz="2400">
              <a:solidFill>
                <a:srgbClr val="343435"/>
              </a:solidFill>
              <a:latin typeface="新愚公和谐宋-S" charset="-122"/>
              <a:ea typeface="新愚公和谐宋-S" charset="-122"/>
              <a:cs typeface="新愚公和谐宋-S" charset="-122"/>
            </a:endParaRPr>
          </a:p>
        </p:txBody>
      </p:sp>
      <p:sp>
        <p:nvSpPr>
          <p:cNvPr id="3"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19</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sp>
        <p:nvSpPr>
          <p:cNvPr id="24" name="TextBox 13"/>
          <p:cNvSpPr txBox="1"/>
          <p:nvPr/>
        </p:nvSpPr>
        <p:spPr>
          <a:xfrm>
            <a:off x="3417570" y="1264285"/>
            <a:ext cx="5212715" cy="580390"/>
          </a:xfrm>
          <a:prstGeom prst="rect">
            <a:avLst/>
          </a:prstGeom>
          <a:noFill/>
        </p:spPr>
        <p:txBody>
          <a:bodyPr wrap="none" lIns="0" tIns="0" rIns="0" bIns="0"/>
          <a:lstStyle/>
          <a:p>
            <a:pPr algn="just">
              <a:lnSpc>
                <a:spcPct val="121000"/>
              </a:lnSpc>
              <a:spcBef>
                <a:spcPts val="0"/>
              </a:spcBef>
              <a:spcAft>
                <a:spcPts val="0"/>
              </a:spcAft>
            </a:pPr>
            <a:r>
              <a:rPr lang="en-US" altLang="zh-CN" sz="4200" b="0" i="0" u="none">
                <a:solidFill>
                  <a:srgbClr val="343435"/>
                </a:solidFill>
                <a:latin typeface="新愚公和谐宋-S" charset="-122"/>
                <a:ea typeface="新愚公和谐宋-S" charset="-122"/>
                <a:cs typeface="新愚公和谐宋-S" charset="-122"/>
              </a:rPr>
              <a:t>STEP 3：</a:t>
            </a:r>
            <a:r>
              <a:rPr lang="zh-CN" altLang="en-US" sz="4200" b="0" i="0" u="none">
                <a:solidFill>
                  <a:srgbClr val="343435"/>
                </a:solidFill>
                <a:latin typeface="新愚公和谐宋-S" charset="-122"/>
                <a:ea typeface="新愚公和谐宋-S" charset="-122"/>
                <a:cs typeface="新愚公和谐宋-S" charset="-122"/>
              </a:rPr>
              <a:t>恢复信号：</a:t>
            </a:r>
            <a:r>
              <a:rPr sz="4200" b="1" i="0">
                <a:solidFill>
                  <a:srgbClr val="B30100"/>
                </a:solidFill>
                <a:latin typeface="微软雅黑" panose="020B0503020204020204" charset="-122"/>
                <a:ea typeface="微软雅黑" panose="020B0503020204020204" charset="-122"/>
                <a:sym typeface="+mn-ea"/>
              </a:rPr>
              <a:t>6</a:t>
            </a:r>
            <a:r>
              <a:rPr lang="en-US" altLang="en-US" sz="4200" b="1" i="0">
                <a:solidFill>
                  <a:srgbClr val="B30100"/>
                </a:solidFill>
                <a:latin typeface="微软雅黑" panose="020B0503020204020204" charset="-122"/>
                <a:ea typeface="微软雅黑" panose="020B0503020204020204" charset="-122"/>
                <a:sym typeface="+mn-ea"/>
              </a:rPr>
              <a:t>.15-6.29</a:t>
            </a:r>
            <a:endParaRPr lang="zh-CN" altLang="en-US" sz="4200" b="0" i="0" u="none">
              <a:solidFill>
                <a:srgbClr val="343435"/>
              </a:solidFill>
              <a:latin typeface="新愚公和谐宋-S" charset="-122"/>
              <a:ea typeface="新愚公和谐宋-S" charset="-122"/>
              <a:cs typeface="新愚公和谐宋-S" charset="-122"/>
            </a:endParaRPr>
          </a:p>
        </p:txBody>
      </p:sp>
      <p:sp>
        <p:nvSpPr>
          <p:cNvPr id="44"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45"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46"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47"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pic>
        <p:nvPicPr>
          <p:cNvPr id="2" name="图片 1" descr="ChatGPT_Image_2026年6月3日_22_39_12"/>
          <p:cNvPicPr>
            <a:picLocks noChangeAspect="1"/>
          </p:cNvPicPr>
          <p:nvPr/>
        </p:nvPicPr>
        <p:blipFill>
          <a:blip r:embed="rId2"/>
          <a:stretch>
            <a:fillRect/>
          </a:stretch>
        </p:blipFill>
        <p:spPr>
          <a:xfrm>
            <a:off x="14395450" y="396875"/>
            <a:ext cx="4794885" cy="10333355"/>
          </a:xfrm>
          <a:prstGeom prst="rect">
            <a:avLst/>
          </a:prstGeom>
        </p:spPr>
      </p:pic>
      <p:sp>
        <p:nvSpPr>
          <p:cNvPr id="6" name="椭圆 5"/>
          <p:cNvSpPr/>
          <p:nvPr/>
        </p:nvSpPr>
        <p:spPr>
          <a:xfrm>
            <a:off x="368935" y="4206875"/>
            <a:ext cx="4272915" cy="3561080"/>
          </a:xfrm>
          <a:prstGeom prst="ellipse">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908050" y="4740275"/>
            <a:ext cx="3267075" cy="2150745"/>
          </a:xfrm>
          <a:prstGeom prst="rect">
            <a:avLst/>
          </a:prstGeom>
          <a:noFill/>
        </p:spPr>
        <p:txBody>
          <a:bodyPr wrap="square" rtlCol="0">
            <a:noAutofit/>
          </a:bodyPr>
          <a:p>
            <a:pPr marL="0" indent="0" eaLnBrk="1" fontAlgn="auto" latinLnBrk="0" hangingPunct="1">
              <a:lnSpc>
                <a:spcPct val="150000"/>
              </a:lnSpc>
            </a:pPr>
            <a:r>
              <a:rPr lang="zh-CN" altLang="en-US" sz="2200" b="1" u="sng">
                <a:solidFill>
                  <a:srgbClr val="96783A"/>
                </a:solidFill>
                <a:latin typeface="新愚公和谐宋-S" charset="-122"/>
                <a:ea typeface="新愚公和谐宋-S" charset="-122"/>
                <a:cs typeface="新愚公和谐宋-S" charset="-122"/>
              </a:rPr>
              <a:t>武则天</a:t>
            </a:r>
            <a:r>
              <a:rPr lang="zh-CN" altLang="en-US" sz="2200">
                <a:solidFill>
                  <a:srgbClr val="96783A"/>
                </a:solidFill>
                <a:latin typeface="新愚公和谐宋-S" charset="-122"/>
                <a:ea typeface="新愚公和谐宋-S" charset="-122"/>
                <a:cs typeface="新愚公和谐宋-S" charset="-122"/>
              </a:rPr>
              <a:t>：</a:t>
            </a:r>
            <a:endParaRPr lang="zh-CN" altLang="en-US" sz="2200">
              <a:solidFill>
                <a:srgbClr val="96783A"/>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96783A"/>
                </a:solidFill>
                <a:latin typeface="新愚公和谐宋-S" charset="-122"/>
                <a:ea typeface="新愚公和谐宋-S" charset="-122"/>
                <a:cs typeface="新愚公和谐宋-S" charset="-122"/>
              </a:rPr>
              <a:t>“又是早朝的一天，百官们可长点心吧，朕的</a:t>
            </a:r>
            <a:r>
              <a:rPr lang="en-US" altLang="zh-CN" sz="2200">
                <a:solidFill>
                  <a:srgbClr val="96783A"/>
                </a:solidFill>
                <a:latin typeface="Arial" panose="020B0604020202020204" pitchFamily="34" charset="0"/>
                <a:ea typeface="新愚公和谐宋-S" charset="-122"/>
                <a:cs typeface="Arial" panose="020B0604020202020204" pitchFamily="34" charset="0"/>
              </a:rPr>
              <a:t>KPI</a:t>
            </a:r>
            <a:r>
              <a:rPr lang="zh-CN" altLang="en-US" sz="2200">
                <a:solidFill>
                  <a:srgbClr val="96783A"/>
                </a:solidFill>
                <a:latin typeface="新愚公和谐宋-S" charset="-122"/>
                <a:ea typeface="新愚公和谐宋-S" charset="-122"/>
                <a:cs typeface="新愚公和谐宋-S" charset="-122"/>
              </a:rPr>
              <a:t>还没达成呢！</a:t>
            </a:r>
            <a:r>
              <a:rPr lang="en-US" altLang="zh-CN" sz="2200">
                <a:solidFill>
                  <a:srgbClr val="96783A"/>
                </a:solidFill>
                <a:latin typeface="新愚公和谐宋-S" charset="-122"/>
                <a:ea typeface="新愚公和谐宋-S" charset="-122"/>
                <a:cs typeface="新愚公和谐宋-S" charset="-122"/>
              </a:rPr>
              <a:t>”</a:t>
            </a:r>
            <a:endParaRPr lang="en-US" altLang="zh-CN" sz="2200">
              <a:solidFill>
                <a:srgbClr val="96783A"/>
              </a:solidFill>
              <a:latin typeface="新愚公和谐宋-S" charset="-122"/>
              <a:ea typeface="新愚公和谐宋-S" charset="-122"/>
              <a:cs typeface="新愚公和谐宋-S" charset="-122"/>
            </a:endParaRPr>
          </a:p>
          <a:p>
            <a:pPr marL="0" indent="0" eaLnBrk="1" fontAlgn="auto" latinLnBrk="0" hangingPunct="1">
              <a:lnSpc>
                <a:spcPct val="200000"/>
              </a:lnSpc>
            </a:pPr>
            <a:endParaRPr lang="en-US" altLang="zh-CN" sz="2200">
              <a:solidFill>
                <a:srgbClr val="96783A"/>
              </a:solidFill>
              <a:latin typeface="新愚公和谐宋-S" charset="-122"/>
              <a:ea typeface="新愚公和谐宋-S" charset="-122"/>
              <a:cs typeface="新愚公和谐宋-S" charset="-122"/>
            </a:endParaRPr>
          </a:p>
        </p:txBody>
      </p:sp>
      <p:sp>
        <p:nvSpPr>
          <p:cNvPr id="8" name="文本框 7"/>
          <p:cNvSpPr txBox="1"/>
          <p:nvPr/>
        </p:nvSpPr>
        <p:spPr>
          <a:xfrm>
            <a:off x="617220" y="2276475"/>
            <a:ext cx="13222605" cy="1343025"/>
          </a:xfrm>
          <a:prstGeom prst="rect">
            <a:avLst/>
          </a:prstGeom>
          <a:noFill/>
        </p:spPr>
        <p:txBody>
          <a:bodyPr wrap="square" rtlCol="0">
            <a:noAutofit/>
          </a:bodyPr>
          <a:p>
            <a:pPr marL="0" indent="0" eaLnBrk="1" fontAlgn="auto" latinLnBrk="0" hangingPunct="1">
              <a:lnSpc>
                <a:spcPct val="150000"/>
              </a:lnSpc>
            </a:pPr>
            <a:r>
              <a:rPr lang="zh-CN" altLang="en-US" sz="2200" u="sng">
                <a:solidFill>
                  <a:srgbClr val="343435"/>
                </a:solidFill>
                <a:latin typeface="新愚公和谐宋-S" charset="-122"/>
                <a:ea typeface="新愚公和谐宋-S" charset="-122"/>
                <a:cs typeface="新愚公和谐宋-S" charset="-122"/>
                <a:sym typeface="+mn-ea"/>
              </a:rPr>
              <a:t>大唐万事通朋友圈</a:t>
            </a:r>
            <a:r>
              <a:rPr lang="zh-CN" altLang="en-US" sz="2200">
                <a:solidFill>
                  <a:srgbClr val="343435"/>
                </a:solidFill>
                <a:latin typeface="新愚公和谐宋-S" charset="-122"/>
                <a:ea typeface="新愚公和谐宋-S" charset="-122"/>
                <a:cs typeface="新愚公和谐宋-S" charset="-122"/>
                <a:sym typeface="+mn-ea"/>
              </a:rPr>
              <a:t>：</a:t>
            </a:r>
            <a:r>
              <a:rPr lang="en-US" altLang="zh-CN" sz="2200">
                <a:solidFill>
                  <a:srgbClr val="343435"/>
                </a:solidFill>
                <a:latin typeface="Arial" panose="020B0604020202020204" pitchFamily="34" charset="0"/>
                <a:ea typeface="新愚公和谐宋-S" charset="-122"/>
                <a:cs typeface="Arial" panose="020B0604020202020204" pitchFamily="34" charset="0"/>
                <a:sym typeface="+mn-ea"/>
              </a:rPr>
              <a:t>H</a:t>
            </a:r>
            <a:r>
              <a:rPr lang="en-US" altLang="zh-CN" sz="2200">
                <a:solidFill>
                  <a:srgbClr val="343435"/>
                </a:solidFill>
                <a:latin typeface="新愚公和谐宋-S" charset="-122"/>
                <a:ea typeface="新愚公和谐宋-S" charset="-122"/>
                <a:cs typeface="新愚公和谐宋-S" charset="-122"/>
                <a:sym typeface="+mn-ea"/>
              </a:rPr>
              <a:t>5</a:t>
            </a:r>
            <a:r>
              <a:rPr lang="zh-CN" altLang="en-US" sz="2200">
                <a:solidFill>
                  <a:srgbClr val="343435"/>
                </a:solidFill>
                <a:latin typeface="新愚公和谐宋-S" charset="-122"/>
                <a:ea typeface="新愚公和谐宋-S" charset="-122"/>
                <a:cs typeface="新愚公和谐宋-S" charset="-122"/>
                <a:sym typeface="+mn-ea"/>
              </a:rPr>
              <a:t>内嵌“大唐朋友圈”模块。每日同步名人动态（如武则天吐槽上朝、唐宫姐妹花在线求现代蹦迪攻略等），打造趣味历史反差感。</a:t>
            </a:r>
            <a:endParaRPr lang="zh-CN" altLang="en-US" sz="2200">
              <a:solidFill>
                <a:srgbClr val="343435"/>
              </a:solidFill>
              <a:latin typeface="新愚公和谐宋-S" charset="-122"/>
              <a:ea typeface="新愚公和谐宋-S" charset="-122"/>
              <a:cs typeface="新愚公和谐宋-S" charset="-122"/>
              <a:sym typeface="+mn-ea"/>
            </a:endParaRPr>
          </a:p>
          <a:p>
            <a:pPr marL="0" indent="0" eaLnBrk="1" fontAlgn="auto" latinLnBrk="0" hangingPunct="1">
              <a:lnSpc>
                <a:spcPct val="150000"/>
              </a:lnSpc>
            </a:pPr>
            <a:endParaRPr lang="en-US" altLang="zh-CN" sz="2200">
              <a:solidFill>
                <a:srgbClr val="343435"/>
              </a:solidFill>
              <a:latin typeface="新愚公和谐宋-S" charset="-122"/>
              <a:ea typeface="新愚公和谐宋-S" charset="-122"/>
              <a:cs typeface="新愚公和谐宋-S" charset="-122"/>
            </a:endParaRPr>
          </a:p>
        </p:txBody>
      </p:sp>
      <p:sp>
        <p:nvSpPr>
          <p:cNvPr id="10" name="椭圆 9"/>
          <p:cNvSpPr/>
          <p:nvPr/>
        </p:nvSpPr>
        <p:spPr>
          <a:xfrm>
            <a:off x="5708650" y="5959475"/>
            <a:ext cx="3461385" cy="4290695"/>
          </a:xfrm>
          <a:prstGeom prst="ellipse">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6466205" y="6721475"/>
            <a:ext cx="2087880" cy="2941955"/>
          </a:xfrm>
          <a:prstGeom prst="rect">
            <a:avLst/>
          </a:prstGeom>
          <a:noFill/>
        </p:spPr>
        <p:txBody>
          <a:bodyPr wrap="square" rtlCol="0">
            <a:noAutofit/>
          </a:bodyPr>
          <a:p>
            <a:pPr marL="0" indent="0" eaLnBrk="1" fontAlgn="auto" latinLnBrk="0" hangingPunct="1">
              <a:lnSpc>
                <a:spcPct val="150000"/>
              </a:lnSpc>
            </a:pPr>
            <a:r>
              <a:rPr lang="zh-CN" altLang="en-US" sz="2200" b="1" u="sng">
                <a:solidFill>
                  <a:srgbClr val="96783A"/>
                </a:solidFill>
                <a:latin typeface="新愚公和谐宋-S" charset="-122"/>
                <a:ea typeface="新愚公和谐宋-S" charset="-122"/>
                <a:cs typeface="新愚公和谐宋-S" charset="-122"/>
              </a:rPr>
              <a:t>唐宫姐妹花</a:t>
            </a:r>
            <a:r>
              <a:rPr lang="zh-CN" altLang="en-US" sz="2200">
                <a:solidFill>
                  <a:srgbClr val="96783A"/>
                </a:solidFill>
                <a:latin typeface="新愚公和谐宋-S" charset="-122"/>
                <a:ea typeface="新愚公和谐宋-S" charset="-122"/>
                <a:cs typeface="新愚公和谐宋-S" charset="-122"/>
              </a:rPr>
              <a:t>：“听说现代人超</a:t>
            </a:r>
            <a:r>
              <a:rPr lang="en-US" altLang="zh-CN" sz="2200">
                <a:solidFill>
                  <a:srgbClr val="96783A"/>
                </a:solidFill>
                <a:latin typeface="Arial" panose="020B0604020202020204" pitchFamily="34" charset="0"/>
                <a:ea typeface="新愚公和谐宋-S" charset="-122"/>
                <a:cs typeface="Arial" panose="020B0604020202020204" pitchFamily="34" charset="0"/>
              </a:rPr>
              <a:t>high</a:t>
            </a:r>
            <a:r>
              <a:rPr lang="zh-CN" altLang="en-US" sz="2200">
                <a:solidFill>
                  <a:srgbClr val="96783A"/>
                </a:solidFill>
                <a:latin typeface="新愚公和谐宋-S" charset="-122"/>
                <a:ea typeface="新愚公和谐宋-S" charset="-122"/>
                <a:cs typeface="新愚公和谐宋-S" charset="-122"/>
              </a:rPr>
              <a:t>的！求攻略</a:t>
            </a:r>
            <a:r>
              <a:rPr lang="en-US" altLang="zh-CN" sz="2200">
                <a:solidFill>
                  <a:srgbClr val="96783A"/>
                </a:solidFill>
                <a:latin typeface="新愚公和谐宋-S" charset="-122"/>
                <a:ea typeface="新愚公和谐宋-S" charset="-122"/>
                <a:cs typeface="新愚公和谐宋-S" charset="-122"/>
              </a:rPr>
              <a:t>......</a:t>
            </a:r>
            <a:r>
              <a:rPr lang="zh-CN" altLang="en-US" sz="2200">
                <a:solidFill>
                  <a:srgbClr val="96783A"/>
                </a:solidFill>
                <a:latin typeface="新愚公和谐宋-S" charset="-122"/>
                <a:ea typeface="新愚公和谐宋-S" charset="-122"/>
                <a:cs typeface="新愚公和谐宋-S" charset="-122"/>
              </a:rPr>
              <a:t>[配图.</a:t>
            </a:r>
            <a:r>
              <a:rPr lang="en-US" altLang="zh-CN" sz="2200">
                <a:solidFill>
                  <a:srgbClr val="96783A"/>
                </a:solidFill>
                <a:latin typeface="Arial" panose="020B0604020202020204" pitchFamily="34" charset="0"/>
                <a:ea typeface="新愚公和谐宋-S" charset="-122"/>
                <a:cs typeface="Arial" panose="020B0604020202020204" pitchFamily="34" charset="0"/>
              </a:rPr>
              <a:t>jpg</a:t>
            </a:r>
            <a:r>
              <a:rPr lang="en-US" altLang="zh-CN" sz="2200">
                <a:solidFill>
                  <a:srgbClr val="96783A"/>
                </a:solidFill>
                <a:latin typeface="新愚公和谐宋-S" charset="-122"/>
                <a:ea typeface="新愚公和谐宋-S" charset="-122"/>
                <a:cs typeface="新愚公和谐宋-S" charset="-122"/>
              </a:rPr>
              <a:t>]”</a:t>
            </a:r>
            <a:endParaRPr lang="en-US" altLang="zh-CN" sz="2200">
              <a:solidFill>
                <a:srgbClr val="96783A"/>
              </a:solidFill>
              <a:latin typeface="新愚公和谐宋-S" charset="-122"/>
              <a:ea typeface="新愚公和谐宋-S" charset="-122"/>
              <a:cs typeface="新愚公和谐宋-S" charset="-122"/>
            </a:endParaRPr>
          </a:p>
        </p:txBody>
      </p:sp>
      <p:sp>
        <p:nvSpPr>
          <p:cNvPr id="11" name="椭圆 10"/>
          <p:cNvSpPr/>
          <p:nvPr/>
        </p:nvSpPr>
        <p:spPr>
          <a:xfrm>
            <a:off x="10128250" y="3063875"/>
            <a:ext cx="3783965" cy="3106420"/>
          </a:xfrm>
          <a:prstGeom prst="ellipse">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10737850" y="3444875"/>
            <a:ext cx="2830830" cy="2058035"/>
          </a:xfrm>
          <a:prstGeom prst="rect">
            <a:avLst/>
          </a:prstGeom>
          <a:noFill/>
        </p:spPr>
        <p:txBody>
          <a:bodyPr wrap="square" rtlCol="0">
            <a:noAutofit/>
          </a:bodyPr>
          <a:p>
            <a:pPr marL="0" indent="0" eaLnBrk="1" fontAlgn="auto" latinLnBrk="0" hangingPunct="1">
              <a:lnSpc>
                <a:spcPct val="150000"/>
              </a:lnSpc>
            </a:pPr>
            <a:r>
              <a:rPr lang="zh-CN" altLang="en-US" sz="2200" b="1" u="sng">
                <a:solidFill>
                  <a:srgbClr val="96783A"/>
                </a:solidFill>
                <a:latin typeface="新愚公和谐宋-S" charset="-122"/>
                <a:ea typeface="新愚公和谐宋-S" charset="-122"/>
                <a:cs typeface="新愚公和谐宋-S" charset="-122"/>
              </a:rPr>
              <a:t>白居易</a:t>
            </a:r>
            <a:r>
              <a:rPr lang="zh-CN" altLang="en-US" sz="2200">
                <a:solidFill>
                  <a:srgbClr val="96783A"/>
                </a:solidFill>
                <a:latin typeface="新愚公和谐宋-S" charset="-122"/>
                <a:ea typeface="新愚公和谐宋-S" charset="-122"/>
                <a:cs typeface="新愚公和谐宋-S" charset="-122"/>
              </a:rPr>
              <a:t>：</a:t>
            </a:r>
            <a:endParaRPr lang="zh-CN" altLang="en-US" sz="2200">
              <a:solidFill>
                <a:srgbClr val="96783A"/>
              </a:solidFill>
              <a:latin typeface="新愚公和谐宋-S" charset="-122"/>
              <a:ea typeface="新愚公和谐宋-S" charset="-122"/>
              <a:cs typeface="新愚公和谐宋-S" charset="-122"/>
            </a:endParaRPr>
          </a:p>
          <a:p>
            <a:pPr marL="0" indent="0" eaLnBrk="1" fontAlgn="auto" latinLnBrk="0" hangingPunct="1">
              <a:lnSpc>
                <a:spcPct val="150000"/>
              </a:lnSpc>
            </a:pPr>
            <a:r>
              <a:rPr lang="en-US" altLang="zh-CN" sz="2200">
                <a:solidFill>
                  <a:srgbClr val="96783A"/>
                </a:solidFill>
                <a:latin typeface="新愚公和谐宋-S" charset="-122"/>
                <a:ea typeface="新愚公和谐宋-S" charset="-122"/>
                <a:cs typeface="新愚公和谐宋-S" charset="-122"/>
              </a:rPr>
              <a:t>“</a:t>
            </a:r>
            <a:r>
              <a:rPr lang="zh-CN" altLang="en-US" sz="2200">
                <a:solidFill>
                  <a:srgbClr val="96783A"/>
                </a:solidFill>
                <a:latin typeface="新愚公和谐宋-S" charset="-122"/>
                <a:ea typeface="新愚公和谐宋-S" charset="-122"/>
                <a:cs typeface="新愚公和谐宋-S" charset="-122"/>
              </a:rPr>
              <a:t>江州夜雨，琵琶声声</a:t>
            </a:r>
            <a:r>
              <a:rPr lang="en-US" altLang="zh-CN" sz="2200">
                <a:solidFill>
                  <a:srgbClr val="96783A"/>
                </a:solidFill>
                <a:latin typeface="新愚公和谐宋-S" charset="-122"/>
                <a:ea typeface="新愚公和谐宋-S" charset="-122"/>
                <a:cs typeface="新愚公和谐宋-S" charset="-122"/>
              </a:rPr>
              <a:t>......</a:t>
            </a:r>
            <a:r>
              <a:rPr lang="zh-CN" altLang="en-US" sz="2200">
                <a:solidFill>
                  <a:srgbClr val="96783A"/>
                </a:solidFill>
                <a:latin typeface="新愚公和谐宋-S" charset="-122"/>
                <a:ea typeface="新愚公和谐宋-S" charset="-122"/>
                <a:cs typeface="新愚公和谐宋-S" charset="-122"/>
              </a:rPr>
              <a:t>写了一首新诗，求雅评！</a:t>
            </a:r>
            <a:r>
              <a:rPr lang="en-US" altLang="zh-CN" sz="2200">
                <a:solidFill>
                  <a:srgbClr val="96783A"/>
                </a:solidFill>
                <a:latin typeface="新愚公和谐宋-S" charset="-122"/>
                <a:ea typeface="新愚公和谐宋-S" charset="-122"/>
                <a:cs typeface="新愚公和谐宋-S" charset="-122"/>
              </a:rPr>
              <a:t>”</a:t>
            </a:r>
            <a:endParaRPr lang="en-US" altLang="zh-CN" sz="2200">
              <a:solidFill>
                <a:srgbClr val="96783A"/>
              </a:solidFill>
              <a:latin typeface="新愚公和谐宋-S" charset="-122"/>
              <a:ea typeface="新愚公和谐宋-S" charset="-122"/>
              <a:cs typeface="新愚公和谐宋-S" charset="-122"/>
            </a:endParaRPr>
          </a:p>
        </p:txBody>
      </p:sp>
      <p:cxnSp>
        <p:nvCxnSpPr>
          <p:cNvPr id="12" name="直接连接符 11"/>
          <p:cNvCxnSpPr/>
          <p:nvPr/>
        </p:nvCxnSpPr>
        <p:spPr>
          <a:xfrm>
            <a:off x="4260850" y="6111875"/>
            <a:ext cx="1828800" cy="990600"/>
          </a:xfrm>
          <a:prstGeom prst="line">
            <a:avLst/>
          </a:prstGeom>
          <a:ln w="127000">
            <a:solidFill>
              <a:srgbClr val="FBF4D7"/>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flipV="1">
            <a:off x="8756650" y="5197475"/>
            <a:ext cx="1981200" cy="3429000"/>
          </a:xfrm>
          <a:prstGeom prst="line">
            <a:avLst/>
          </a:prstGeom>
          <a:ln w="127000">
            <a:solidFill>
              <a:srgbClr val="FBF4D7"/>
            </a:solidFill>
          </a:ln>
        </p:spPr>
        <p:style>
          <a:lnRef idx="2">
            <a:schemeClr val="accent1"/>
          </a:lnRef>
          <a:fillRef idx="0">
            <a:srgbClr val="FFFFFF"/>
          </a:fillRef>
          <a:effectRef idx="0">
            <a:srgbClr val="FFFFFF"/>
          </a:effectRef>
          <a:fontRef idx="minor">
            <a:schemeClr val="tx1"/>
          </a:fontRef>
        </p:style>
      </p:cxnSp>
      <p:sp>
        <p:nvSpPr>
          <p:cNvPr id="3"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20</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pic>
        <p:nvPicPr>
          <p:cNvPr id="2" name="图片 1" descr="J8BZ6v"/>
          <p:cNvPicPr>
            <a:picLocks noChangeAspect="1"/>
          </p:cNvPicPr>
          <p:nvPr/>
        </p:nvPicPr>
        <p:blipFill>
          <a:blip r:embed="rId2"/>
          <a:stretch>
            <a:fillRect/>
          </a:stretch>
        </p:blipFill>
        <p:spPr>
          <a:xfrm>
            <a:off x="2736850" y="3140075"/>
            <a:ext cx="3923030" cy="5071745"/>
          </a:xfrm>
          <a:prstGeom prst="rect">
            <a:avLst/>
          </a:prstGeom>
        </p:spPr>
      </p:pic>
      <p:sp>
        <p:nvSpPr>
          <p:cNvPr id="25" name="文本框 24"/>
          <p:cNvSpPr txBox="1"/>
          <p:nvPr/>
        </p:nvSpPr>
        <p:spPr>
          <a:xfrm>
            <a:off x="8909050" y="2682875"/>
            <a:ext cx="10159365" cy="2152015"/>
          </a:xfrm>
          <a:prstGeom prst="rect">
            <a:avLst/>
          </a:prstGeom>
          <a:noFill/>
        </p:spPr>
        <p:txBody>
          <a:bodyPr wrap="square" rtlCol="0">
            <a:noAutofit/>
          </a:bodyPr>
          <a:p>
            <a:pPr eaLnBrk="1" fontAlgn="auto" latinLnBrk="0" hangingPunct="1">
              <a:lnSpc>
                <a:spcPct val="150000"/>
              </a:lnSpc>
            </a:pPr>
            <a:r>
              <a:rPr lang="en-US" altLang="zh-CN" sz="2200" u="sng">
                <a:solidFill>
                  <a:srgbClr val="343435"/>
                </a:solidFill>
                <a:latin typeface="Arial" panose="020B0604020202020204" pitchFamily="34" charset="0"/>
                <a:ea typeface="新愚公和谐宋-S" charset="-122"/>
                <a:cs typeface="Arial" panose="020B0604020202020204" pitchFamily="34" charset="0"/>
                <a:sym typeface="+mn-ea"/>
              </a:rPr>
              <a:t>AI</a:t>
            </a:r>
            <a:r>
              <a:rPr lang="zh-CN" altLang="en-US" sz="2200" u="sng">
                <a:solidFill>
                  <a:srgbClr val="343435"/>
                </a:solidFill>
                <a:latin typeface="新愚公和谐宋-S" charset="-122"/>
                <a:ea typeface="新愚公和谐宋-S" charset="-122"/>
                <a:cs typeface="新愚公和谐宋-S" charset="-122"/>
                <a:sym typeface="+mn-ea"/>
              </a:rPr>
              <a:t>千人千面神回复</a:t>
            </a:r>
            <a:r>
              <a:rPr lang="zh-CN" altLang="en-US" sz="2200">
                <a:solidFill>
                  <a:srgbClr val="343435"/>
                </a:solidFill>
                <a:latin typeface="新愚公和谐宋-S" charset="-122"/>
                <a:ea typeface="新愚公和谐宋-S" charset="-122"/>
                <a:cs typeface="新愚公和谐宋-S" charset="-122"/>
                <a:sym typeface="+mn-ea"/>
              </a:rPr>
              <a:t>：</a:t>
            </a:r>
            <a:r>
              <a:rPr lang="zh-CN" altLang="en-US" sz="2200">
                <a:solidFill>
                  <a:srgbClr val="343435"/>
                </a:solidFill>
                <a:latin typeface="新愚公和谐宋-S" charset="-122"/>
                <a:ea typeface="新愚公和谐宋-S" charset="-122"/>
                <a:cs typeface="新愚公和谐宋-S" charset="-122"/>
              </a:rPr>
              <a:t>用户可在这些古人的朋友圈下自由撰写评论、疯狂吐槽或在线催更。</a:t>
            </a:r>
            <a:r>
              <a:rPr lang="en-US" altLang="zh-CN" sz="2200">
                <a:solidFill>
                  <a:srgbClr val="343435"/>
                </a:solidFill>
                <a:latin typeface="Arial" panose="020B0604020202020204" pitchFamily="34" charset="0"/>
                <a:ea typeface="新愚公和谐宋-S" charset="-122"/>
                <a:cs typeface="Arial" panose="020B0604020202020204" pitchFamily="34" charset="0"/>
              </a:rPr>
              <a:t>H</a:t>
            </a:r>
            <a:r>
              <a:rPr lang="en-US" altLang="zh-CN" sz="2200">
                <a:solidFill>
                  <a:srgbClr val="343435"/>
                </a:solidFill>
                <a:latin typeface="新愚公和谐宋-S" charset="-122"/>
                <a:ea typeface="新愚公和谐宋-S" charset="-122"/>
                <a:cs typeface="新愚公和谐宋-S" charset="-122"/>
              </a:rPr>
              <a:t>5</a:t>
            </a:r>
            <a:r>
              <a:rPr lang="zh-CN" altLang="en-US" sz="2200">
                <a:solidFill>
                  <a:srgbClr val="343435"/>
                </a:solidFill>
                <a:latin typeface="新愚公和谐宋-S" charset="-122"/>
                <a:ea typeface="新愚公和谐宋-S" charset="-122"/>
                <a:cs typeface="新愚公和谐宋-S" charset="-122"/>
              </a:rPr>
              <a:t>系统接入</a:t>
            </a:r>
            <a:r>
              <a:rPr lang="en-US" altLang="zh-CN" sz="2200">
                <a:solidFill>
                  <a:srgbClr val="343435"/>
                </a:solidFill>
                <a:latin typeface="新愚公和谐宋-S" charset="-122"/>
                <a:ea typeface="新愚公和谐宋-S" charset="-122"/>
                <a:cs typeface="新愚公和谐宋-S" charset="-122"/>
              </a:rPr>
              <a:t>AI</a:t>
            </a:r>
            <a:r>
              <a:rPr lang="zh-CN" altLang="en-US" sz="2200">
                <a:solidFill>
                  <a:srgbClr val="343435"/>
                </a:solidFill>
                <a:latin typeface="新愚公和谐宋-S" charset="-122"/>
                <a:ea typeface="新愚公和谐宋-S" charset="-122"/>
                <a:cs typeface="新愚公和谐宋-S" charset="-122"/>
              </a:rPr>
              <a:t>大语言模型，</a:t>
            </a:r>
            <a:r>
              <a:rPr lang="en-US" altLang="zh-CN" sz="2200">
                <a:solidFill>
                  <a:srgbClr val="343435"/>
                </a:solidFill>
                <a:latin typeface="Arial" panose="020B0604020202020204" pitchFamily="34" charset="0"/>
                <a:ea typeface="新愚公和谐宋-S" charset="-122"/>
                <a:cs typeface="Arial" panose="020B0604020202020204" pitchFamily="34" charset="0"/>
              </a:rPr>
              <a:t>AI</a:t>
            </a:r>
            <a:r>
              <a:rPr lang="zh-CN" altLang="en-US" sz="2200">
                <a:solidFill>
                  <a:srgbClr val="343435"/>
                </a:solidFill>
                <a:latin typeface="新愚公和谐宋-S" charset="-122"/>
                <a:ea typeface="新愚公和谐宋-S" charset="-122"/>
                <a:cs typeface="新愚公和谐宋-S" charset="-122"/>
              </a:rPr>
              <a:t>将根据历史人物的性格特征、语气语调进行实时、个性的神回复（如用户评论武则天“女皇陛下</a:t>
            </a:r>
            <a:r>
              <a:rPr lang="en-US" altLang="zh-CN" sz="2200">
                <a:solidFill>
                  <a:srgbClr val="343435"/>
                </a:solidFill>
                <a:latin typeface="Arial" panose="020B0604020202020204" pitchFamily="34" charset="0"/>
                <a:ea typeface="新愚公和谐宋-S" charset="-122"/>
                <a:cs typeface="Arial" panose="020B0604020202020204" pitchFamily="34" charset="0"/>
              </a:rPr>
              <a:t>YYDS</a:t>
            </a:r>
            <a:r>
              <a:rPr lang="en-US" altLang="zh-CN" sz="2200">
                <a:solidFill>
                  <a:srgbClr val="343435"/>
                </a:solidFill>
                <a:latin typeface="新愚公和谐宋-S" charset="-122"/>
                <a:ea typeface="新愚公和谐宋-S" charset="-122"/>
                <a:cs typeface="新愚公和谐宋-S" charset="-122"/>
              </a:rPr>
              <a:t>！”，AI</a:t>
            </a:r>
            <a:r>
              <a:rPr lang="zh-CN" altLang="en-US" sz="2200">
                <a:solidFill>
                  <a:srgbClr val="343435"/>
                </a:solidFill>
                <a:latin typeface="新愚公和谐宋-S" charset="-122"/>
                <a:ea typeface="新愚公和谐宋-S" charset="-122"/>
                <a:cs typeface="新愚公和谐宋-S" charset="-122"/>
              </a:rPr>
              <a:t>武则天会回复“</a:t>
            </a:r>
            <a:r>
              <a:rPr lang="en-US" altLang="zh-CN" sz="2200">
                <a:solidFill>
                  <a:srgbClr val="343435"/>
                </a:solidFill>
                <a:latin typeface="Arial" panose="020B0604020202020204" pitchFamily="34" charset="0"/>
                <a:ea typeface="新愚公和谐宋-S" charset="-122"/>
                <a:cs typeface="Arial" panose="020B0604020202020204" pitchFamily="34" charset="0"/>
              </a:rPr>
              <a:t>YYDS</a:t>
            </a:r>
            <a:r>
              <a:rPr lang="zh-CN" altLang="en-US" sz="2200">
                <a:solidFill>
                  <a:srgbClr val="343435"/>
                </a:solidFill>
                <a:latin typeface="新愚公和谐宋-S" charset="-122"/>
                <a:ea typeface="新愚公和谐宋-S" charset="-122"/>
                <a:cs typeface="新愚公和谐宋-S" charset="-122"/>
              </a:rPr>
              <a:t>为何物？莫非是某种新的祥瑞之兆？”），通过极具网感的操作，拉满趣味性与用户粘性。</a:t>
            </a:r>
            <a:endParaRPr lang="zh-CN" altLang="en-US" sz="2200">
              <a:solidFill>
                <a:srgbClr val="343435"/>
              </a:solidFill>
              <a:latin typeface="新愚公和谐宋-S" charset="-122"/>
              <a:ea typeface="新愚公和谐宋-S" charset="-122"/>
              <a:cs typeface="新愚公和谐宋-S" charset="-122"/>
            </a:endParaRPr>
          </a:p>
        </p:txBody>
      </p:sp>
      <p:sp>
        <p:nvSpPr>
          <p:cNvPr id="4" name="TextBox 13"/>
          <p:cNvSpPr txBox="1"/>
          <p:nvPr/>
        </p:nvSpPr>
        <p:spPr>
          <a:xfrm>
            <a:off x="941070" y="1539875"/>
            <a:ext cx="5631815" cy="580390"/>
          </a:xfrm>
          <a:prstGeom prst="rect">
            <a:avLst/>
          </a:prstGeom>
          <a:noFill/>
        </p:spPr>
        <p:txBody>
          <a:bodyPr wrap="none" lIns="0" tIns="0" rIns="0" bIns="0"/>
          <a:lstStyle/>
          <a:p>
            <a:pPr algn="just">
              <a:lnSpc>
                <a:spcPct val="121000"/>
              </a:lnSpc>
              <a:spcBef>
                <a:spcPts val="0"/>
              </a:spcBef>
              <a:spcAft>
                <a:spcPts val="0"/>
              </a:spcAft>
            </a:pPr>
            <a:r>
              <a:rPr lang="en-US" altLang="zh-CN" sz="4200" b="0" i="0" u="none">
                <a:solidFill>
                  <a:srgbClr val="343435"/>
                </a:solidFill>
                <a:latin typeface="新愚公和谐宋-S" charset="-122"/>
                <a:ea typeface="新愚公和谐宋-S" charset="-122"/>
                <a:cs typeface="新愚公和谐宋-S" charset="-122"/>
              </a:rPr>
              <a:t>STEP 3：</a:t>
            </a:r>
            <a:r>
              <a:rPr lang="zh-CN" altLang="en-US" sz="4200" b="0" i="0" u="none">
                <a:solidFill>
                  <a:srgbClr val="343435"/>
                </a:solidFill>
                <a:latin typeface="新愚公和谐宋-S" charset="-122"/>
                <a:ea typeface="新愚公和谐宋-S" charset="-122"/>
                <a:cs typeface="新愚公和谐宋-S" charset="-122"/>
              </a:rPr>
              <a:t>恢复信号：</a:t>
            </a:r>
            <a:r>
              <a:rPr sz="4200" b="1" i="0">
                <a:solidFill>
                  <a:srgbClr val="B30100"/>
                </a:solidFill>
                <a:latin typeface="微软雅黑" panose="020B0503020204020204" charset="-122"/>
                <a:ea typeface="微软雅黑" panose="020B0503020204020204" charset="-122"/>
                <a:sym typeface="+mn-ea"/>
              </a:rPr>
              <a:t>6</a:t>
            </a:r>
            <a:r>
              <a:rPr lang="en-US" altLang="en-US" sz="4200" b="1" i="0">
                <a:solidFill>
                  <a:srgbClr val="B30100"/>
                </a:solidFill>
                <a:latin typeface="微软雅黑" panose="020B0503020204020204" charset="-122"/>
                <a:ea typeface="微软雅黑" panose="020B0503020204020204" charset="-122"/>
                <a:sym typeface="+mn-ea"/>
              </a:rPr>
              <a:t>.15-6.29</a:t>
            </a:r>
            <a:endParaRPr lang="zh-CN" altLang="en-US" sz="4200" b="0" i="0" u="none">
              <a:solidFill>
                <a:srgbClr val="343435"/>
              </a:solidFill>
              <a:latin typeface="新愚公和谐宋-S" charset="-122"/>
              <a:ea typeface="新愚公和谐宋-S" charset="-122"/>
              <a:cs typeface="新愚公和谐宋-S" charset="-122"/>
            </a:endParaRPr>
          </a:p>
        </p:txBody>
      </p:sp>
      <p:sp>
        <p:nvSpPr>
          <p:cNvPr id="5" name="文本框 4"/>
          <p:cNvSpPr txBox="1"/>
          <p:nvPr/>
        </p:nvSpPr>
        <p:spPr>
          <a:xfrm>
            <a:off x="8985250" y="6398895"/>
            <a:ext cx="10083165" cy="2152015"/>
          </a:xfrm>
          <a:prstGeom prst="rect">
            <a:avLst/>
          </a:prstGeom>
          <a:noFill/>
        </p:spPr>
        <p:txBody>
          <a:bodyPr wrap="square" rtlCol="0">
            <a:noAutofit/>
          </a:bodyPr>
          <a:p>
            <a:pPr eaLnBrk="1" fontAlgn="auto" latinLnBrk="0" hangingPunct="1">
              <a:lnSpc>
                <a:spcPct val="150000"/>
              </a:lnSpc>
            </a:pPr>
            <a:r>
              <a:rPr lang="zh-CN" altLang="en-US" sz="4200" u="sng">
                <a:solidFill>
                  <a:srgbClr val="343435"/>
                </a:solidFill>
                <a:latin typeface="Arial" panose="020B0604020202020204" pitchFamily="34" charset="0"/>
                <a:ea typeface="新愚公和谐宋-S" charset="-122"/>
                <a:cs typeface="Arial" panose="020B0604020202020204" pitchFamily="34" charset="0"/>
                <a:sym typeface="+mn-ea"/>
              </a:rPr>
              <a:t>这个</a:t>
            </a:r>
            <a:r>
              <a:rPr lang="zh-CN" altLang="en-US" sz="4200" u="sng">
                <a:solidFill>
                  <a:srgbClr val="343435"/>
                </a:solidFill>
                <a:latin typeface="Arial" panose="020B0604020202020204" pitchFamily="34" charset="0"/>
                <a:ea typeface="新愚公和谐宋-S" charset="-122"/>
                <a:cs typeface="Arial" panose="020B0604020202020204" pitchFamily="34" charset="0"/>
                <a:sym typeface="+mn-ea"/>
              </a:rPr>
              <a:t>里面真的可以评论，</a:t>
            </a:r>
            <a:r>
              <a:rPr lang="zh-CN" altLang="en-US" sz="4200" u="sng">
                <a:solidFill>
                  <a:srgbClr val="343435"/>
                </a:solidFill>
                <a:latin typeface="Arial" panose="020B0604020202020204" pitchFamily="34" charset="0"/>
                <a:ea typeface="新愚公和谐宋-S" charset="-122"/>
                <a:cs typeface="Arial" panose="020B0604020202020204" pitchFamily="34" charset="0"/>
                <a:sym typeface="+mn-ea"/>
              </a:rPr>
              <a:t>老师扫不出来可以点</a:t>
            </a:r>
            <a:r>
              <a:rPr lang="zh-CN" altLang="en-US" sz="4200" u="sng">
                <a:solidFill>
                  <a:srgbClr val="343435"/>
                </a:solidFill>
                <a:latin typeface="Arial" panose="020B0604020202020204" pitchFamily="34" charset="0"/>
                <a:ea typeface="新愚公和谐宋-S" charset="-122"/>
                <a:cs typeface="Arial" panose="020B0604020202020204" pitchFamily="34" charset="0"/>
                <a:sym typeface="+mn-ea"/>
              </a:rPr>
              <a:t>链接）</a:t>
            </a:r>
            <a:endParaRPr lang="zh-CN" altLang="en-US" sz="4200" u="sng">
              <a:solidFill>
                <a:srgbClr val="343435"/>
              </a:solidFill>
              <a:latin typeface="Arial" panose="020B0604020202020204" pitchFamily="34" charset="0"/>
              <a:ea typeface="新愚公和谐宋-S" charset="-122"/>
              <a:cs typeface="Arial" panose="020B0604020202020204" pitchFamily="34" charset="0"/>
              <a:sym typeface="+mn-ea"/>
            </a:endParaRPr>
          </a:p>
        </p:txBody>
      </p:sp>
      <p:sp>
        <p:nvSpPr>
          <p:cNvPr id="6"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21</a:t>
            </a:r>
            <a:endParaRPr lang="en-US" altLang="en-US" sz="1800" b="1" spc="55" dirty="0">
              <a:solidFill>
                <a:srgbClr val="000204"/>
              </a:solidFill>
              <a:latin typeface="Arial" panose="020B0604020202020204"/>
              <a:cs typeface="Arial" panose="020B0604020202020204"/>
            </a:endParaRPr>
          </a:p>
        </p:txBody>
      </p:sp>
      <p:sp>
        <p:nvSpPr>
          <p:cNvPr id="7" name="文本框 6"/>
          <p:cNvSpPr txBox="1"/>
          <p:nvPr/>
        </p:nvSpPr>
        <p:spPr>
          <a:xfrm>
            <a:off x="3346450" y="8397875"/>
            <a:ext cx="2817495" cy="1270635"/>
          </a:xfrm>
          <a:prstGeom prst="rect">
            <a:avLst/>
          </a:prstGeom>
          <a:noFill/>
        </p:spPr>
        <p:txBody>
          <a:bodyPr wrap="square" rtlCol="0">
            <a:noAutofit/>
          </a:bodyPr>
          <a:p>
            <a:pPr eaLnBrk="1" fontAlgn="auto" latinLnBrk="0" hangingPunct="1">
              <a:lnSpc>
                <a:spcPct val="150000"/>
              </a:lnSpc>
            </a:pPr>
            <a:r>
              <a:rPr lang="en-US" altLang="zh-CN" sz="4200" u="none">
                <a:solidFill>
                  <a:srgbClr val="343435"/>
                </a:solidFill>
                <a:latin typeface="Arial" panose="020B0604020202020204" pitchFamily="34" charset="0"/>
                <a:ea typeface="新愚公和谐宋-S" charset="-122"/>
                <a:cs typeface="Arial" panose="020B0604020202020204" pitchFamily="34" charset="0"/>
                <a:sym typeface="+mn-ea"/>
                <a:hlinkClick r:id="rId3" action="ppaction://hlinkfile"/>
              </a:rPr>
              <a:t>index.html</a:t>
            </a:r>
            <a:endParaRPr lang="en-US" altLang="zh-CN" sz="4200" u="none">
              <a:solidFill>
                <a:srgbClr val="343435"/>
              </a:solidFill>
              <a:latin typeface="Arial" panose="020B0604020202020204" pitchFamily="34" charset="0"/>
              <a:ea typeface="新愚公和谐宋-S" charset="-122"/>
              <a:cs typeface="Arial" panose="020B0604020202020204" pitchFamily="34"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sp>
        <p:nvSpPr>
          <p:cNvPr id="16" name="圆角矩形 15"/>
          <p:cNvSpPr/>
          <p:nvPr/>
        </p:nvSpPr>
        <p:spPr>
          <a:xfrm>
            <a:off x="14776450" y="2378075"/>
            <a:ext cx="4812665" cy="354457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11" name="圆角矩形 10"/>
          <p:cNvSpPr/>
          <p:nvPr/>
        </p:nvSpPr>
        <p:spPr>
          <a:xfrm>
            <a:off x="9671685" y="2301875"/>
            <a:ext cx="4812665" cy="354457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24" name="TextBox 13"/>
          <p:cNvSpPr txBox="1"/>
          <p:nvPr/>
        </p:nvSpPr>
        <p:spPr>
          <a:xfrm>
            <a:off x="10525125" y="1082675"/>
            <a:ext cx="5772785" cy="800100"/>
          </a:xfrm>
          <a:prstGeom prst="rect">
            <a:avLst/>
          </a:prstGeom>
          <a:noFill/>
        </p:spPr>
        <p:txBody>
          <a:bodyPr wrap="none" lIns="0" tIns="0" rIns="0" bIns="0"/>
          <a:lstStyle/>
          <a:p>
            <a:pPr algn="just">
              <a:lnSpc>
                <a:spcPct val="121000"/>
              </a:lnSpc>
              <a:spcBef>
                <a:spcPts val="0"/>
              </a:spcBef>
              <a:spcAft>
                <a:spcPts val="0"/>
              </a:spcAft>
            </a:pPr>
            <a:r>
              <a:rPr lang="en-US" altLang="zh-CN" sz="4200" b="0" i="0" u="none">
                <a:solidFill>
                  <a:srgbClr val="343435"/>
                </a:solidFill>
                <a:latin typeface="新愚公和谐宋-S" charset="-122"/>
                <a:ea typeface="新愚公和谐宋-S" charset="-122"/>
                <a:cs typeface="新愚公和谐宋-S" charset="-122"/>
              </a:rPr>
              <a:t>STEP 3</a:t>
            </a:r>
            <a:r>
              <a:rPr lang="zh-CN" altLang="en-US" sz="4200" b="0" i="0" u="none">
                <a:solidFill>
                  <a:srgbClr val="343435"/>
                </a:solidFill>
                <a:latin typeface="新愚公和谐宋-S" charset="-122"/>
                <a:ea typeface="新愚公和谐宋-S" charset="-122"/>
                <a:cs typeface="新愚公和谐宋-S" charset="-122"/>
              </a:rPr>
              <a:t>：</a:t>
            </a:r>
            <a:r>
              <a:rPr lang="zh-CN" altLang="en-US" sz="4200" b="0" i="0" u="none">
                <a:solidFill>
                  <a:srgbClr val="343435"/>
                </a:solidFill>
                <a:latin typeface="新愚公和谐宋-S" charset="-122"/>
                <a:ea typeface="新愚公和谐宋-S" charset="-122"/>
                <a:cs typeface="新愚公和谐宋-S" charset="-122"/>
                <a:sym typeface="+mn-ea"/>
              </a:rPr>
              <a:t>恢复信号：</a:t>
            </a:r>
            <a:r>
              <a:rPr sz="4200" b="1" i="0">
                <a:solidFill>
                  <a:srgbClr val="B30100"/>
                </a:solidFill>
                <a:latin typeface="微软雅黑" panose="020B0503020204020204" charset="-122"/>
                <a:ea typeface="微软雅黑" panose="020B0503020204020204" charset="-122"/>
                <a:sym typeface="+mn-ea"/>
              </a:rPr>
              <a:t>6</a:t>
            </a:r>
            <a:r>
              <a:rPr lang="en-US" altLang="en-US" sz="4200" b="1" i="0">
                <a:solidFill>
                  <a:srgbClr val="B30100"/>
                </a:solidFill>
                <a:latin typeface="微软雅黑" panose="020B0503020204020204" charset="-122"/>
                <a:ea typeface="微软雅黑" panose="020B0503020204020204" charset="-122"/>
                <a:sym typeface="+mn-ea"/>
              </a:rPr>
              <a:t>.15-6.29</a:t>
            </a:r>
            <a:endParaRPr lang="zh-CN" altLang="en-US" sz="4200" b="0" i="0" u="none">
              <a:solidFill>
                <a:srgbClr val="343435"/>
              </a:solidFill>
              <a:latin typeface="新愚公和谐宋-S" charset="-122"/>
              <a:ea typeface="新愚公和谐宋-S" charset="-122"/>
              <a:cs typeface="新愚公和谐宋-S" charset="-122"/>
            </a:endParaRPr>
          </a:p>
          <a:p>
            <a:pPr algn="just">
              <a:lnSpc>
                <a:spcPct val="121000"/>
              </a:lnSpc>
              <a:spcBef>
                <a:spcPts val="0"/>
              </a:spcBef>
              <a:spcAft>
                <a:spcPts val="0"/>
              </a:spcAft>
            </a:pPr>
            <a:endParaRPr lang="zh-CN" altLang="en-US" sz="4200" b="0" i="0" u="none">
              <a:solidFill>
                <a:srgbClr val="343435"/>
              </a:solidFill>
              <a:latin typeface="新愚公和谐宋-S" charset="-122"/>
              <a:ea typeface="新愚公和谐宋-S" charset="-122"/>
              <a:cs typeface="新愚公和谐宋-S" charset="-122"/>
            </a:endParaRPr>
          </a:p>
        </p:txBody>
      </p:sp>
      <p:sp>
        <p:nvSpPr>
          <p:cNvPr id="27" name="文本框 26"/>
          <p:cNvSpPr txBox="1"/>
          <p:nvPr/>
        </p:nvSpPr>
        <p:spPr>
          <a:xfrm>
            <a:off x="9970770" y="2911475"/>
            <a:ext cx="4283075" cy="2400935"/>
          </a:xfrm>
          <a:prstGeom prst="rect">
            <a:avLst/>
          </a:prstGeom>
          <a:noFill/>
        </p:spPr>
        <p:txBody>
          <a:bodyPr wrap="square" rtlCol="0">
            <a:noAutofit/>
          </a:bodyPr>
          <a:p>
            <a:pPr marL="0" indent="0" eaLnBrk="1" fontAlgn="auto" latinLnBrk="0" hangingPunct="1">
              <a:lnSpc>
                <a:spcPct val="150000"/>
              </a:lnSpc>
            </a:pPr>
            <a:r>
              <a:rPr lang="zh-CN" altLang="en-US" sz="2200" u="sng">
                <a:solidFill>
                  <a:srgbClr val="343435"/>
                </a:solidFill>
                <a:latin typeface="新愚公和谐宋-S" charset="-122"/>
                <a:ea typeface="新愚公和谐宋-S" charset="-122"/>
                <a:cs typeface="新愚公和谐宋-S" charset="-122"/>
              </a:rPr>
              <a:t>古今神仙同框流（合拍大赏）：</a:t>
            </a:r>
            <a:endParaRPr lang="zh-CN" altLang="en-US" sz="2200" u="sng">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用户在抖音使用官方的互动合拍功能，与唐宫姐妹花、李白进行“跨时空同框”。</a:t>
            </a:r>
            <a:endParaRPr lang="zh-CN" altLang="en-US"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zh-CN" altLang="en-US" sz="2200">
              <a:solidFill>
                <a:srgbClr val="343435"/>
              </a:solidFill>
              <a:latin typeface="新愚公和谐宋-S" charset="-122"/>
              <a:ea typeface="新愚公和谐宋-S" charset="-122"/>
              <a:cs typeface="新愚公和谐宋-S" charset="-122"/>
            </a:endParaRPr>
          </a:p>
        </p:txBody>
      </p:sp>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4" name="文本框 3"/>
          <p:cNvSpPr txBox="1"/>
          <p:nvPr/>
        </p:nvSpPr>
        <p:spPr>
          <a:xfrm>
            <a:off x="15157450" y="2759075"/>
            <a:ext cx="4125595" cy="2863850"/>
          </a:xfrm>
          <a:prstGeom prst="rect">
            <a:avLst/>
          </a:prstGeom>
          <a:noFill/>
        </p:spPr>
        <p:txBody>
          <a:bodyPr wrap="square" rtlCol="0">
            <a:noAutofit/>
          </a:bodyPr>
          <a:p>
            <a:pPr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sym typeface="+mn-ea"/>
              </a:rPr>
              <a:t>游戏开始后，屏幕中央会掉落断裂的“大唐全息盘长纹电线”。极限限时交互动作：用户必须在3秒限时内，根据屏幕提示做出魔性动作（如：张嘴、挑眉）。</a:t>
            </a:r>
            <a:endParaRPr lang="zh-CN" altLang="en-US" sz="2200">
              <a:solidFill>
                <a:srgbClr val="343435"/>
              </a:solidFill>
              <a:latin typeface="新愚公和谐宋-S" charset="-122"/>
              <a:ea typeface="新愚公和谐宋-S" charset="-122"/>
              <a:cs typeface="新愚公和谐宋-S" charset="-122"/>
            </a:endParaRPr>
          </a:p>
          <a:p>
            <a:pPr eaLnBrk="1" fontAlgn="auto" latinLnBrk="0" hangingPunct="1">
              <a:lnSpc>
                <a:spcPct val="150000"/>
              </a:lnSpc>
            </a:pPr>
            <a:endParaRPr lang="zh-CN" altLang="en-US" sz="2200">
              <a:solidFill>
                <a:srgbClr val="343435"/>
              </a:solidFill>
              <a:latin typeface="新愚公和谐宋-S" charset="-122"/>
              <a:ea typeface="新愚公和谐宋-S" charset="-122"/>
              <a:cs typeface="新愚公和谐宋-S" charset="-122"/>
            </a:endParaRPr>
          </a:p>
        </p:txBody>
      </p:sp>
      <p:sp>
        <p:nvSpPr>
          <p:cNvPr id="6" name="文本框 5"/>
          <p:cNvSpPr txBox="1"/>
          <p:nvPr/>
        </p:nvSpPr>
        <p:spPr>
          <a:xfrm>
            <a:off x="9638665" y="6492875"/>
            <a:ext cx="9568180" cy="2774950"/>
          </a:xfrm>
          <a:prstGeom prst="rect">
            <a:avLst/>
          </a:prstGeom>
          <a:noFill/>
        </p:spPr>
        <p:txBody>
          <a:bodyPr wrap="square" rtlCol="0">
            <a:noAutofit/>
          </a:bodyPr>
          <a:p>
            <a:pPr marL="0" indent="0" eaLnBrk="1" fontAlgn="auto" latinLnBrk="0" hangingPunct="1">
              <a:lnSpc>
                <a:spcPct val="150000"/>
              </a:lnSpc>
            </a:pPr>
            <a:r>
              <a:rPr lang="zh-CN" altLang="en-US" sz="2200">
                <a:solidFill>
                  <a:srgbClr val="00B050"/>
                </a:solidFill>
                <a:latin typeface="新愚公和谐宋-S" charset="-122"/>
                <a:ea typeface="新愚公和谐宋-S" charset="-122"/>
                <a:cs typeface="新愚公和谐宋-S" charset="-122"/>
              </a:rPr>
              <a:t>接线成功：电线瞬间迸发联通5</a:t>
            </a:r>
            <a:r>
              <a:rPr lang="en-US" altLang="zh-CN" sz="2200">
                <a:solidFill>
                  <a:srgbClr val="00B050"/>
                </a:solidFill>
                <a:latin typeface="新愚公和谐宋-S" charset="-122"/>
                <a:ea typeface="新愚公和谐宋-S" charset="-122"/>
                <a:cs typeface="新愚公和谐宋-S" charset="-122"/>
              </a:rPr>
              <a:t>G</a:t>
            </a:r>
            <a:r>
              <a:rPr lang="zh-CN" altLang="en-US" sz="2200">
                <a:solidFill>
                  <a:srgbClr val="00B050"/>
                </a:solidFill>
                <a:latin typeface="新愚公和谐宋-S" charset="-122"/>
                <a:ea typeface="新愚公和谐宋-S" charset="-122"/>
                <a:cs typeface="新愚公和谐宋-S" charset="-122"/>
              </a:rPr>
              <a:t>蓝色流光，画面左侧的李白立马通网，兴奋地在现场给用户来一段大唐</a:t>
            </a:r>
            <a:r>
              <a:rPr lang="en-US" altLang="zh-CN" sz="2200">
                <a:solidFill>
                  <a:srgbClr val="00B050"/>
                </a:solidFill>
                <a:latin typeface="新愚公和谐宋-S" charset="-122"/>
                <a:ea typeface="新愚公和谐宋-S" charset="-122"/>
                <a:cs typeface="新愚公和谐宋-S" charset="-122"/>
              </a:rPr>
              <a:t>rap</a:t>
            </a:r>
            <a:r>
              <a:rPr lang="zh-CN" altLang="en-US" sz="2200">
                <a:solidFill>
                  <a:srgbClr val="00B050"/>
                </a:solidFill>
                <a:latin typeface="新愚公和谐宋-S" charset="-122"/>
                <a:ea typeface="新愚公和谐宋-S" charset="-122"/>
                <a:cs typeface="新愚公和谐宋-S" charset="-122"/>
              </a:rPr>
              <a:t>甚至当场蹦迪。</a:t>
            </a:r>
            <a:endParaRPr lang="zh-CN" altLang="en-US" sz="2200">
              <a:solidFill>
                <a:srgbClr val="00B050"/>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zh-CN" altLang="en-US" sz="2200">
              <a:solidFill>
                <a:srgbClr val="00B050"/>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B30100"/>
                </a:solidFill>
                <a:latin typeface="新愚公和谐宋-S" charset="-122"/>
                <a:ea typeface="新愚公和谐宋-S" charset="-122"/>
                <a:cs typeface="新愚公和谐宋-S" charset="-122"/>
              </a:rPr>
              <a:t>接线失败：李白会遭遇“电击”变成卡通爆炸头，并对你发出“竖子，线都能接错！”的历史毒舌吐槽。魔性的接线失败截图和通关视频自动生成专属表情包，引发用户自发在小红书、朋友圈疯狂刷屏晒单。</a:t>
            </a:r>
            <a:endParaRPr lang="zh-CN" altLang="en-US" sz="2200">
              <a:solidFill>
                <a:srgbClr val="B30100"/>
              </a:solidFill>
              <a:latin typeface="新愚公和谐宋-S" charset="-122"/>
              <a:ea typeface="新愚公和谐宋-S" charset="-122"/>
              <a:cs typeface="新愚公和谐宋-S" charset="-122"/>
            </a:endParaRPr>
          </a:p>
        </p:txBody>
      </p:sp>
      <p:pic>
        <p:nvPicPr>
          <p:cNvPr id="10" name="图片 9" descr="手作相机emoji"/>
          <p:cNvPicPr>
            <a:picLocks noChangeAspect="1"/>
          </p:cNvPicPr>
          <p:nvPr/>
        </p:nvPicPr>
        <p:blipFill>
          <a:blip r:embed="rId2"/>
          <a:srcRect t="1348" b="13083"/>
          <a:stretch>
            <a:fillRect/>
          </a:stretch>
        </p:blipFill>
        <p:spPr>
          <a:xfrm>
            <a:off x="1593850" y="1133475"/>
            <a:ext cx="6353810" cy="9677400"/>
          </a:xfrm>
          <a:prstGeom prst="rect">
            <a:avLst/>
          </a:prstGeom>
        </p:spPr>
      </p:pic>
      <p:sp>
        <p:nvSpPr>
          <p:cNvPr id="2"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22</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sp>
        <p:nvSpPr>
          <p:cNvPr id="17" name="矩形 16"/>
          <p:cNvSpPr/>
          <p:nvPr/>
        </p:nvSpPr>
        <p:spPr>
          <a:xfrm>
            <a:off x="-6350" y="4565650"/>
            <a:ext cx="8552180" cy="909955"/>
          </a:xfrm>
          <a:prstGeom prst="rect">
            <a:avLst/>
          </a:prstGeom>
          <a:solidFill>
            <a:srgbClr val="C0504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TextBox 13"/>
          <p:cNvSpPr txBox="1"/>
          <p:nvPr/>
        </p:nvSpPr>
        <p:spPr>
          <a:xfrm>
            <a:off x="527050" y="4595495"/>
            <a:ext cx="3563620" cy="800100"/>
          </a:xfrm>
          <a:prstGeom prst="rect">
            <a:avLst/>
          </a:prstGeom>
          <a:noFill/>
        </p:spPr>
        <p:txBody>
          <a:bodyPr wrap="none" lIns="0" tIns="0" rIns="0" bIns="0"/>
          <a:lstStyle/>
          <a:p>
            <a:pPr algn="just">
              <a:lnSpc>
                <a:spcPct val="121000"/>
              </a:lnSpc>
              <a:spcBef>
                <a:spcPts val="0"/>
              </a:spcBef>
              <a:spcAft>
                <a:spcPts val="0"/>
              </a:spcAft>
            </a:pPr>
            <a:r>
              <a:rPr lang="en-US" altLang="zh-CN" sz="4200" b="0" i="0" u="none">
                <a:solidFill>
                  <a:schemeClr val="bg1"/>
                </a:solidFill>
                <a:latin typeface="新愚公和谐宋-S" charset="-122"/>
                <a:ea typeface="新愚公和谐宋-S" charset="-122"/>
                <a:cs typeface="新愚公和谐宋-S" charset="-122"/>
              </a:rPr>
              <a:t>STEP 4</a:t>
            </a:r>
            <a:r>
              <a:rPr lang="zh-CN" altLang="en-US" sz="4200" b="0" i="0" u="none">
                <a:solidFill>
                  <a:schemeClr val="bg1"/>
                </a:solidFill>
                <a:latin typeface="新愚公和谐宋-S" charset="-122"/>
                <a:ea typeface="新愚公和谐宋-S" charset="-122"/>
                <a:cs typeface="新愚公和谐宋-S" charset="-122"/>
              </a:rPr>
              <a:t>：</a:t>
            </a:r>
            <a:r>
              <a:rPr lang="zh-CN" altLang="en-US" sz="4200" b="0" i="0" u="none">
                <a:solidFill>
                  <a:schemeClr val="bg1"/>
                </a:solidFill>
                <a:latin typeface="新愚公和谐宋-S" charset="-122"/>
                <a:ea typeface="新愚公和谐宋-S" charset="-122"/>
                <a:cs typeface="新愚公和谐宋-S" charset="-122"/>
                <a:sym typeface="+mn-ea"/>
              </a:rPr>
              <a:t>重连大唐：</a:t>
            </a:r>
            <a:r>
              <a:rPr lang="en-US" altLang="en-US" sz="4200" b="1" i="0">
                <a:solidFill>
                  <a:schemeClr val="bg1"/>
                </a:solidFill>
                <a:latin typeface="微软雅黑" panose="020B0503020204020204" charset="-122"/>
                <a:ea typeface="微软雅黑" panose="020B0503020204020204" charset="-122"/>
                <a:sym typeface="+mn-ea"/>
              </a:rPr>
              <a:t>6.30-7.6</a:t>
            </a:r>
            <a:endParaRPr lang="zh-CN" altLang="en-US" sz="4200" b="0" i="0" u="none">
              <a:solidFill>
                <a:schemeClr val="bg1"/>
              </a:solidFill>
              <a:latin typeface="新愚公和谐宋-S" charset="-122"/>
              <a:ea typeface="新愚公和谐宋-S" charset="-122"/>
              <a:cs typeface="新愚公和谐宋-S" charset="-122"/>
            </a:endParaRPr>
          </a:p>
          <a:p>
            <a:pPr algn="just">
              <a:lnSpc>
                <a:spcPct val="121000"/>
              </a:lnSpc>
              <a:spcBef>
                <a:spcPts val="0"/>
              </a:spcBef>
              <a:spcAft>
                <a:spcPts val="0"/>
              </a:spcAft>
            </a:pPr>
            <a:endParaRPr lang="zh-CN" altLang="en-US" sz="4200" b="0" i="0" u="none">
              <a:solidFill>
                <a:schemeClr val="bg1"/>
              </a:solidFill>
              <a:latin typeface="新愚公和谐宋-S" charset="-122"/>
              <a:ea typeface="新愚公和谐宋-S" charset="-122"/>
              <a:cs typeface="新愚公和谐宋-S" charset="-122"/>
            </a:endParaRPr>
          </a:p>
        </p:txBody>
      </p:sp>
      <p:sp>
        <p:nvSpPr>
          <p:cNvPr id="3" name="文本框 2"/>
          <p:cNvSpPr txBox="1"/>
          <p:nvPr/>
        </p:nvSpPr>
        <p:spPr>
          <a:xfrm>
            <a:off x="450850" y="1463675"/>
            <a:ext cx="4548505" cy="2949575"/>
          </a:xfrm>
          <a:prstGeom prst="rect">
            <a:avLst/>
          </a:prstGeom>
          <a:noFill/>
        </p:spPr>
        <p:txBody>
          <a:bodyPr wrap="square" rtlCol="0">
            <a:noAutofit/>
          </a:bodyPr>
          <a:p>
            <a:pPr marL="0" indent="0" eaLnBrk="1" fontAlgn="auto" latinLnBrk="0" hangingPunct="1">
              <a:lnSpc>
                <a:spcPct val="150000"/>
              </a:lnSpc>
            </a:pPr>
            <a:r>
              <a:rPr lang="zh-CN" altLang="en-US" sz="2200" u="sng">
                <a:solidFill>
                  <a:srgbClr val="343435"/>
                </a:solidFill>
                <a:latin typeface="新愚公和谐宋-S" charset="-122"/>
                <a:ea typeface="新愚公和谐宋-S" charset="-122"/>
                <a:cs typeface="新愚公和谐宋-S" charset="-122"/>
              </a:rPr>
              <a:t>时空故障表情包流（万恶之源）：</a:t>
            </a:r>
            <a:endParaRPr lang="zh-CN" altLang="en-US" sz="2200" u="sng">
              <a:solidFill>
                <a:srgbClr val="343435"/>
              </a:solidFill>
              <a:latin typeface="新愚公和谐宋-S" charset="-122"/>
              <a:ea typeface="新愚公和谐宋-S" charset="-122"/>
              <a:cs typeface="新愚公和谐宋-S" charset="-122"/>
            </a:endParaRPr>
          </a:p>
          <a:p>
            <a:pPr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sym typeface="+mn-ea"/>
              </a:rPr>
              <a:t>脱离传统的严肃品牌形象，提取“唐宫姐妹花”圆润憨态的经典特征，转化为当下年轻人最爱的软萌、魔性</a:t>
            </a:r>
            <a:r>
              <a:rPr lang="en-US" altLang="zh-CN" sz="2200">
                <a:solidFill>
                  <a:srgbClr val="343435"/>
                </a:solidFill>
                <a:latin typeface="新愚公和谐宋-S" charset="-122"/>
                <a:ea typeface="新愚公和谐宋-S" charset="-122"/>
                <a:cs typeface="新愚公和谐宋-S" charset="-122"/>
                <a:sym typeface="+mn-ea"/>
              </a:rPr>
              <a:t>Q</a:t>
            </a:r>
            <a:r>
              <a:rPr lang="zh-CN" altLang="en-US" sz="2200">
                <a:solidFill>
                  <a:srgbClr val="343435"/>
                </a:solidFill>
                <a:latin typeface="新愚公和谐宋-S" charset="-122"/>
                <a:ea typeface="新愚公和谐宋-S" charset="-122"/>
                <a:cs typeface="新愚公和谐宋-S" charset="-122"/>
                <a:sym typeface="+mn-ea"/>
              </a:rPr>
              <a:t>版动态表情包。</a:t>
            </a:r>
            <a:endParaRPr lang="en-US" altLang="zh-CN" sz="2200">
              <a:solidFill>
                <a:srgbClr val="343435"/>
              </a:solidFill>
              <a:latin typeface="新愚公和谐宋-S" charset="-122"/>
              <a:ea typeface="新愚公和谐宋-S" charset="-122"/>
              <a:cs typeface="新愚公和谐宋-S" charset="-122"/>
            </a:endParaRPr>
          </a:p>
        </p:txBody>
      </p:sp>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sp>
        <p:nvSpPr>
          <p:cNvPr id="4" name="文本框 3"/>
          <p:cNvSpPr txBox="1"/>
          <p:nvPr/>
        </p:nvSpPr>
        <p:spPr>
          <a:xfrm>
            <a:off x="451485" y="5959475"/>
            <a:ext cx="4547870" cy="3268980"/>
          </a:xfrm>
          <a:prstGeom prst="rect">
            <a:avLst/>
          </a:prstGeom>
          <a:noFill/>
        </p:spPr>
        <p:txBody>
          <a:bodyPr wrap="square" rtlCol="0">
            <a:noAutofit/>
          </a:bodyPr>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设计包含“头像级特写”与“全身趣味动作”两套规格。既能作为年轻用户的个性化国风头像，也能作为高频使用的斗图素材。</a:t>
            </a:r>
            <a:endParaRPr lang="zh-CN" altLang="en-US" sz="2200">
              <a:solidFill>
                <a:srgbClr val="343435"/>
              </a:solidFill>
              <a:latin typeface="新愚公和谐宋-S" charset="-122"/>
              <a:ea typeface="新愚公和谐宋-S" charset="-122"/>
              <a:cs typeface="新愚公和谐宋-S" charset="-122"/>
            </a:endParaRPr>
          </a:p>
        </p:txBody>
      </p:sp>
      <p:pic>
        <p:nvPicPr>
          <p:cNvPr id="10" name="图片 9" descr="Gemini_Generated_Image_1objsn1objsn1obj"/>
          <p:cNvPicPr>
            <a:picLocks noChangeAspect="1"/>
          </p:cNvPicPr>
          <p:nvPr/>
        </p:nvPicPr>
        <p:blipFill>
          <a:blip r:embed="rId2"/>
          <a:srcRect b="34643"/>
          <a:stretch>
            <a:fillRect/>
          </a:stretch>
        </p:blipFill>
        <p:spPr>
          <a:xfrm>
            <a:off x="10280650" y="-136525"/>
            <a:ext cx="9858375" cy="11544300"/>
          </a:xfrm>
          <a:prstGeom prst="rect">
            <a:avLst/>
          </a:prstGeom>
        </p:spPr>
      </p:pic>
      <p:sp>
        <p:nvSpPr>
          <p:cNvPr id="11" name="文本框 10"/>
          <p:cNvSpPr txBox="1"/>
          <p:nvPr/>
        </p:nvSpPr>
        <p:spPr>
          <a:xfrm>
            <a:off x="5251450" y="5959475"/>
            <a:ext cx="4547870" cy="2540000"/>
          </a:xfrm>
          <a:prstGeom prst="rect">
            <a:avLst/>
          </a:prstGeom>
          <a:noFill/>
        </p:spPr>
        <p:txBody>
          <a:bodyPr wrap="square" rtlCol="0">
            <a:noAutofit/>
          </a:bodyPr>
          <a:p>
            <a:pPr eaLnBrk="1" fontAlgn="auto" latinLnBrk="0" hangingPunct="1">
              <a:lnSpc>
                <a:spcPct val="150000"/>
              </a:lnSpc>
            </a:pPr>
            <a:r>
              <a:rPr lang="zh-CN" altLang="en-US" sz="2200" u="sng">
                <a:solidFill>
                  <a:srgbClr val="343435"/>
                </a:solidFill>
                <a:latin typeface="新愚公和谐宋-S" charset="-122"/>
                <a:ea typeface="新愚公和谐宋-S" charset="-122"/>
                <a:cs typeface="新愚公和谐宋-S" charset="-122"/>
              </a:rPr>
              <a:t>痛点反思</a:t>
            </a:r>
            <a:r>
              <a:rPr lang="zh-CN" altLang="en-US" sz="2200">
                <a:solidFill>
                  <a:srgbClr val="343435"/>
                </a:solidFill>
                <a:latin typeface="新愚公和谐宋-S" charset="-122"/>
                <a:ea typeface="新愚公和谐宋-S" charset="-122"/>
                <a:cs typeface="新愚公和谐宋-S" charset="-122"/>
              </a:rPr>
              <a:t>：传统的通信品牌营销往往偏向宏大叙事或硬性业务推广，容易让追求个性的年轻一代产生审美疲劳与心理防御。</a:t>
            </a:r>
            <a:endParaRPr lang="zh-CN" altLang="en-US" sz="2200">
              <a:solidFill>
                <a:srgbClr val="343435"/>
              </a:solidFill>
              <a:latin typeface="新愚公和谐宋-S" charset="-122"/>
              <a:ea typeface="新愚公和谐宋-S" charset="-122"/>
              <a:cs typeface="新愚公和谐宋-S" charset="-122"/>
            </a:endParaRPr>
          </a:p>
        </p:txBody>
      </p:sp>
      <p:sp>
        <p:nvSpPr>
          <p:cNvPr id="16" name="矩形 15"/>
          <p:cNvSpPr/>
          <p:nvPr/>
        </p:nvSpPr>
        <p:spPr>
          <a:xfrm>
            <a:off x="-635" y="8802370"/>
            <a:ext cx="10281920" cy="1729105"/>
          </a:xfrm>
          <a:prstGeom prst="rect">
            <a:avLst/>
          </a:prstGeom>
          <a:solidFill>
            <a:srgbClr val="C0504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a:off x="527685" y="9054465"/>
            <a:ext cx="9168765" cy="1160145"/>
          </a:xfrm>
          <a:prstGeom prst="rect">
            <a:avLst/>
          </a:prstGeom>
          <a:noFill/>
        </p:spPr>
        <p:txBody>
          <a:bodyPr wrap="square" rtlCol="0">
            <a:noAutofit/>
          </a:bodyPr>
          <a:p>
            <a:pPr marL="0" indent="0" eaLnBrk="1" fontAlgn="auto" latinLnBrk="0" hangingPunct="1">
              <a:lnSpc>
                <a:spcPct val="150000"/>
              </a:lnSpc>
            </a:pPr>
            <a:r>
              <a:rPr lang="zh-CN" altLang="en-US" sz="2200" u="sng">
                <a:solidFill>
                  <a:schemeClr val="bg1"/>
                </a:solidFill>
                <a:latin typeface="新愚公和谐宋-S" charset="-122"/>
                <a:ea typeface="新愚公和谐宋-S" charset="-122"/>
                <a:cs typeface="新愚公和谐宋-S" charset="-122"/>
              </a:rPr>
              <a:t>落地场景</a:t>
            </a:r>
            <a:r>
              <a:rPr lang="zh-CN" altLang="en-US" sz="2200">
                <a:solidFill>
                  <a:schemeClr val="bg1"/>
                </a:solidFill>
                <a:latin typeface="新愚公和谐宋-S" charset="-122"/>
                <a:ea typeface="新愚公和谐宋-S" charset="-122"/>
                <a:cs typeface="新愚公和谐宋-S" charset="-122"/>
              </a:rPr>
              <a:t>： 用户无需下载繁重的</a:t>
            </a:r>
            <a:r>
              <a:rPr lang="en-US" altLang="zh-CN" sz="2200">
                <a:solidFill>
                  <a:schemeClr val="bg1"/>
                </a:solidFill>
                <a:latin typeface="Arial" panose="020B0604020202020204" pitchFamily="34" charset="0"/>
                <a:ea typeface="新愚公和谐宋-S" charset="-122"/>
                <a:cs typeface="Arial" panose="020B0604020202020204" pitchFamily="34" charset="0"/>
              </a:rPr>
              <a:t>APP</a:t>
            </a:r>
            <a:r>
              <a:rPr lang="en-US" altLang="zh-CN" sz="2200">
                <a:solidFill>
                  <a:schemeClr val="bg1"/>
                </a:solidFill>
                <a:latin typeface="新愚公和谐宋-S" charset="-122"/>
                <a:ea typeface="新愚公和谐宋-S" charset="-122"/>
                <a:cs typeface="新愚公和谐宋-S" charset="-122"/>
              </a:rPr>
              <a:t>，</a:t>
            </a:r>
            <a:r>
              <a:rPr lang="zh-CN" altLang="en-US" sz="2200">
                <a:solidFill>
                  <a:schemeClr val="bg1"/>
                </a:solidFill>
                <a:latin typeface="新愚公和谐宋-S" charset="-122"/>
                <a:ea typeface="新愚公和谐宋-S" charset="-122"/>
                <a:cs typeface="新愚公和谐宋-S" charset="-122"/>
              </a:rPr>
              <a:t>在微信聊天、抖音评论区或联通社群内即可随手转发。</a:t>
            </a:r>
            <a:endParaRPr lang="zh-CN" altLang="en-US" sz="2200">
              <a:solidFill>
                <a:schemeClr val="bg1"/>
              </a:solidFill>
              <a:latin typeface="新愚公和谐宋-S" charset="-122"/>
              <a:ea typeface="新愚公和谐宋-S" charset="-122"/>
              <a:cs typeface="新愚公和谐宋-S" charset="-122"/>
            </a:endParaRPr>
          </a:p>
        </p:txBody>
      </p:sp>
      <p:pic>
        <p:nvPicPr>
          <p:cNvPr id="23" name="图片 22" descr="微信图片_20260604023318_1204_2"/>
          <p:cNvPicPr>
            <a:picLocks noChangeAspect="1"/>
          </p:cNvPicPr>
          <p:nvPr/>
        </p:nvPicPr>
        <p:blipFill>
          <a:blip r:embed="rId3"/>
          <a:stretch>
            <a:fillRect/>
          </a:stretch>
        </p:blipFill>
        <p:spPr>
          <a:xfrm>
            <a:off x="5251450" y="1463675"/>
            <a:ext cx="4983480" cy="2957830"/>
          </a:xfrm>
          <a:prstGeom prst="rect">
            <a:avLst/>
          </a:prstGeom>
        </p:spPr>
      </p:pic>
      <p:sp>
        <p:nvSpPr>
          <p:cNvPr id="5"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23</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sp>
        <p:nvSpPr>
          <p:cNvPr id="9" name="圆角矩形 8"/>
          <p:cNvSpPr/>
          <p:nvPr/>
        </p:nvSpPr>
        <p:spPr>
          <a:xfrm>
            <a:off x="14679295" y="3902075"/>
            <a:ext cx="3500120" cy="341503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10" name="圆角矩形 9"/>
          <p:cNvSpPr/>
          <p:nvPr/>
        </p:nvSpPr>
        <p:spPr>
          <a:xfrm>
            <a:off x="14700250" y="7562850"/>
            <a:ext cx="3500120" cy="341503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4" name="圆角矩形 33"/>
          <p:cNvSpPr/>
          <p:nvPr/>
        </p:nvSpPr>
        <p:spPr>
          <a:xfrm>
            <a:off x="14679295" y="248920"/>
            <a:ext cx="3500120" cy="3415030"/>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24" name="TextBox 13"/>
          <p:cNvSpPr txBox="1"/>
          <p:nvPr/>
        </p:nvSpPr>
        <p:spPr>
          <a:xfrm>
            <a:off x="908050" y="1463675"/>
            <a:ext cx="6115685" cy="800100"/>
          </a:xfrm>
          <a:prstGeom prst="rect">
            <a:avLst/>
          </a:prstGeom>
          <a:noFill/>
        </p:spPr>
        <p:txBody>
          <a:bodyPr wrap="none" lIns="0" tIns="0" rIns="0" bIns="0"/>
          <a:lstStyle/>
          <a:p>
            <a:pPr algn="just">
              <a:lnSpc>
                <a:spcPct val="121000"/>
              </a:lnSpc>
              <a:spcBef>
                <a:spcPts val="0"/>
              </a:spcBef>
              <a:spcAft>
                <a:spcPts val="0"/>
              </a:spcAft>
            </a:pPr>
            <a:r>
              <a:rPr lang="en-US" altLang="zh-CN" sz="4200" b="0" i="0">
                <a:solidFill>
                  <a:srgbClr val="343435"/>
                </a:solidFill>
                <a:latin typeface="新愚公和谐宋-S" charset="-122"/>
                <a:ea typeface="新愚公和谐宋-S" charset="-122"/>
                <a:cs typeface="新愚公和谐宋-S" charset="-122"/>
              </a:rPr>
              <a:t>STEP 4</a:t>
            </a:r>
            <a:r>
              <a:rPr lang="zh-CN" altLang="en-US" sz="4200" b="0" i="0">
                <a:solidFill>
                  <a:srgbClr val="343435"/>
                </a:solidFill>
                <a:latin typeface="新愚公和谐宋-S" charset="-122"/>
                <a:ea typeface="新愚公和谐宋-S" charset="-122"/>
                <a:cs typeface="新愚公和谐宋-S" charset="-122"/>
              </a:rPr>
              <a:t>：</a:t>
            </a:r>
            <a:r>
              <a:rPr lang="zh-CN" altLang="en-US" sz="4200" b="0" i="0">
                <a:solidFill>
                  <a:srgbClr val="343435"/>
                </a:solidFill>
                <a:latin typeface="新愚公和谐宋-S" charset="-122"/>
                <a:ea typeface="新愚公和谐宋-S" charset="-122"/>
                <a:cs typeface="新愚公和谐宋-S" charset="-122"/>
                <a:sym typeface="+mn-ea"/>
              </a:rPr>
              <a:t>重连大唐：</a:t>
            </a:r>
            <a:r>
              <a:rPr lang="en-US" altLang="en-US" sz="4200" b="1" i="0">
                <a:solidFill>
                  <a:srgbClr val="B30100"/>
                </a:solidFill>
                <a:latin typeface="微软雅黑" panose="020B0503020204020204" charset="-122"/>
                <a:ea typeface="微软雅黑" panose="020B0503020204020204" charset="-122"/>
                <a:sym typeface="+mn-ea"/>
              </a:rPr>
              <a:t>6.30-7.6</a:t>
            </a:r>
            <a:endParaRPr lang="zh-CN" altLang="en-US" sz="4200" b="0" i="0">
              <a:solidFill>
                <a:srgbClr val="343435"/>
              </a:solidFill>
              <a:latin typeface="新愚公和谐宋-S" charset="-122"/>
              <a:ea typeface="新愚公和谐宋-S" charset="-122"/>
              <a:cs typeface="新愚公和谐宋-S" charset="-122"/>
            </a:endParaRPr>
          </a:p>
          <a:p>
            <a:pPr algn="just">
              <a:lnSpc>
                <a:spcPct val="121000"/>
              </a:lnSpc>
              <a:spcBef>
                <a:spcPts val="0"/>
              </a:spcBef>
              <a:spcAft>
                <a:spcPts val="0"/>
              </a:spcAft>
            </a:pPr>
            <a:endParaRPr lang="zh-CN" altLang="en-US" sz="4200" b="0" i="0">
              <a:solidFill>
                <a:srgbClr val="343435"/>
              </a:solidFill>
              <a:latin typeface="新愚公和谐宋-S" charset="-122"/>
              <a:ea typeface="新愚公和谐宋-S" charset="-122"/>
              <a:cs typeface="新愚公和谐宋-S" charset="-122"/>
            </a:endParaRPr>
          </a:p>
        </p:txBody>
      </p:sp>
      <p:sp>
        <p:nvSpPr>
          <p:cNvPr id="3" name="文本框 2"/>
          <p:cNvSpPr txBox="1"/>
          <p:nvPr/>
        </p:nvSpPr>
        <p:spPr>
          <a:xfrm>
            <a:off x="908050" y="2835275"/>
            <a:ext cx="12708890" cy="7031990"/>
          </a:xfrm>
          <a:prstGeom prst="rect">
            <a:avLst/>
          </a:prstGeom>
          <a:noFill/>
        </p:spPr>
        <p:txBody>
          <a:bodyPr wrap="square" rtlCol="0">
            <a:noAutofit/>
          </a:bodyPr>
          <a:p>
            <a:pPr marL="0" indent="0" eaLnBrk="1" fontAlgn="auto" latinLnBrk="0" hangingPunct="1">
              <a:lnSpc>
                <a:spcPct val="150000"/>
              </a:lnSpc>
            </a:pPr>
            <a:r>
              <a:rPr lang="en-US" altLang="zh-CN" sz="2200" b="0" u="sng">
                <a:solidFill>
                  <a:srgbClr val="343435"/>
                </a:solidFill>
                <a:latin typeface="新愚公和谐宋-S" charset="-122"/>
                <a:ea typeface="新愚公和谐宋-S" charset="-122"/>
                <a:cs typeface="新愚公和谐宋-S" charset="-122"/>
              </a:rPr>
              <a:t>1.</a:t>
            </a:r>
            <a:r>
              <a:rPr lang="zh-CN" altLang="en-US" sz="2200" b="0" u="sng">
                <a:solidFill>
                  <a:srgbClr val="343435"/>
                </a:solidFill>
                <a:latin typeface="新愚公和谐宋-S" charset="-122"/>
                <a:ea typeface="新愚公和谐宋-S" charset="-122"/>
                <a:cs typeface="新愚公和谐宋-S" charset="-122"/>
              </a:rPr>
              <a:t>社交层：品牌定制化“数字社交资产”</a:t>
            </a:r>
            <a:endParaRPr lang="zh-CN" altLang="en-US" sz="2200" b="0" u="sng">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数字/实体双重勋章激励：通关用户100%获得河南博物院认证的「大唐特级通信修复官」数字勋章（</a:t>
            </a:r>
            <a:r>
              <a:rPr lang="en-US" altLang="zh-CN" sz="2200">
                <a:solidFill>
                  <a:srgbClr val="343435"/>
                </a:solidFill>
                <a:latin typeface="Arial" panose="020B0604020202020204" pitchFamily="34" charset="0"/>
                <a:ea typeface="新愚公和谐宋-S" charset="-122"/>
                <a:cs typeface="Arial" panose="020B0604020202020204" pitchFamily="34" charset="0"/>
              </a:rPr>
              <a:t>NFT</a:t>
            </a:r>
            <a:r>
              <a:rPr lang="en-US" altLang="zh-CN" sz="2200">
                <a:solidFill>
                  <a:srgbClr val="343435"/>
                </a:solidFill>
                <a:latin typeface="新愚公和谐宋-S" charset="-122"/>
                <a:ea typeface="新愚公和谐宋-S" charset="-122"/>
                <a:cs typeface="新愚公和谐宋-S" charset="-122"/>
              </a:rPr>
              <a:t>）。</a:t>
            </a:r>
            <a:r>
              <a:rPr lang="zh-CN" altLang="en-US" sz="2200">
                <a:solidFill>
                  <a:srgbClr val="343435"/>
                </a:solidFill>
                <a:latin typeface="新愚公和谐宋-S" charset="-122"/>
                <a:ea typeface="新愚公和谐宋-S" charset="-122"/>
                <a:cs typeface="新愚公和谐宋-S" charset="-122"/>
              </a:rPr>
              <a:t>同时解锁隐藏福利，可以极低门槛兑换通通与唐宫姐妹花同框的限量盲盒或实体通关证书。 </a:t>
            </a:r>
            <a:endParaRPr lang="zh-CN" altLang="en-US"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zh-CN" altLang="en-US"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b="0" u="sng">
                <a:solidFill>
                  <a:srgbClr val="343435"/>
                </a:solidFill>
                <a:latin typeface="新愚公和谐宋-S" charset="-122"/>
                <a:ea typeface="新愚公和谐宋-S" charset="-122"/>
                <a:cs typeface="新愚公和谐宋-S" charset="-122"/>
              </a:rPr>
              <a:t>2.体验层：品牌场景化“权益护城河”</a:t>
            </a:r>
            <a:endParaRPr lang="zh-CN" altLang="en-US" sz="2200" b="0" u="sng">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通过联动联通的核心业务，将文创与生活方式结合，提升用户的获得感。</a:t>
            </a:r>
            <a:endParaRPr lang="en-US" altLang="zh-CN"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「大唐密文」定向免流权益：获得勋章的用户，可享受特定</a:t>
            </a:r>
            <a:r>
              <a:rPr lang="en-US" altLang="zh-CN" sz="2200">
                <a:solidFill>
                  <a:srgbClr val="343435"/>
                </a:solidFill>
                <a:latin typeface="Arial" panose="020B0604020202020204" pitchFamily="34" charset="0"/>
                <a:ea typeface="新愚公和谐宋-S" charset="-122"/>
                <a:cs typeface="Arial" panose="020B0604020202020204" pitchFamily="34" charset="0"/>
              </a:rPr>
              <a:t>APP</a:t>
            </a:r>
            <a:r>
              <a:rPr lang="zh-CN" altLang="en-US" sz="2200">
                <a:solidFill>
                  <a:srgbClr val="343435"/>
                </a:solidFill>
                <a:latin typeface="新愚公和谐宋-S" charset="-122"/>
                <a:ea typeface="新愚公和谐宋-S" charset="-122"/>
                <a:cs typeface="新愚公和谐宋-S" charset="-122"/>
              </a:rPr>
              <a:t>的定向免流包，将文创活动与联通的通信本质深度绑定。</a:t>
            </a:r>
            <a:endParaRPr lang="zh-CN" altLang="en-US"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zh-CN" altLang="en-US" sz="2200" b="0" u="sng">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b="0" u="sng">
                <a:solidFill>
                  <a:srgbClr val="343435"/>
                </a:solidFill>
                <a:latin typeface="新愚公和谐宋-S" charset="-122"/>
                <a:ea typeface="新愚公和谐宋-S" charset="-122"/>
                <a:cs typeface="新愚公和谐宋-S" charset="-122"/>
              </a:rPr>
              <a:t>3.荣誉层：品牌高阶“成就共创”</a:t>
            </a:r>
            <a:endParaRPr lang="zh-CN" altLang="en-US" sz="2200" b="0" u="sng">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「联通品牌策划官」荣誉证件：针对年度活跃度极高的用户，授予其电子版“品牌荣誉策划官”证书，并邀请其参与联通未来新品文创的“在线投票/设计建议”，让用户从单纯的消费者变成品牌的“共创者”。</a:t>
            </a:r>
            <a:endParaRPr lang="en-US" altLang="zh-CN" sz="2200">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endParaRPr lang="zh-CN" altLang="en-US" sz="2200">
              <a:solidFill>
                <a:srgbClr val="343435"/>
              </a:solidFill>
              <a:latin typeface="新愚公和谐宋-S" charset="-122"/>
              <a:ea typeface="新愚公和谐宋-S" charset="-122"/>
              <a:cs typeface="新愚公和谐宋-S" charset="-122"/>
            </a:endParaRPr>
          </a:p>
        </p:txBody>
      </p:sp>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创意呈现</a:t>
            </a:r>
            <a:endPar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spc="-10" dirty="0">
                <a:solidFill>
                  <a:srgbClr val="8E9192"/>
                </a:solidFill>
                <a:latin typeface="新愚公和谐宋-S" charset="-122"/>
                <a:ea typeface="新愚公和谐宋-S" charset="-122"/>
                <a:cs typeface="Arial" panose="020B0604020202020204"/>
              </a:rPr>
              <a:t>媒介排期</a:t>
            </a:r>
            <a:r>
              <a:rPr lang="en-US" altLang="zh-CN" sz="3200" b="1" spc="-10" dirty="0">
                <a:solidFill>
                  <a:srgbClr val="8E9192"/>
                </a:solidFill>
                <a:latin typeface="Arial" panose="020B0604020202020204"/>
                <a:cs typeface="Arial" panose="020B0604020202020204"/>
              </a:rPr>
              <a:t> </a:t>
            </a:r>
            <a:endParaRPr lang="en-US" altLang="zh-CN" sz="3200" b="1" spc="-10" dirty="0">
              <a:solidFill>
                <a:srgbClr val="8E9192"/>
              </a:solidFill>
              <a:latin typeface="Arial" panose="020B0604020202020204"/>
              <a:cs typeface="Arial" panose="020B0604020202020204"/>
            </a:endParaRPr>
          </a:p>
        </p:txBody>
      </p:sp>
      <p:pic>
        <p:nvPicPr>
          <p:cNvPr id="2" name="图片 1" descr="微信图片_20260604235102_1222_2"/>
          <p:cNvPicPr>
            <a:picLocks noChangeAspect="1"/>
          </p:cNvPicPr>
          <p:nvPr/>
        </p:nvPicPr>
        <p:blipFill>
          <a:blip r:embed="rId2"/>
          <a:srcRect t="35040" b="30940"/>
          <a:stretch>
            <a:fillRect/>
          </a:stretch>
        </p:blipFill>
        <p:spPr>
          <a:xfrm>
            <a:off x="14852650" y="3902075"/>
            <a:ext cx="3251200" cy="3770630"/>
          </a:xfrm>
          <a:prstGeom prst="rect">
            <a:avLst/>
          </a:prstGeom>
        </p:spPr>
      </p:pic>
      <p:pic>
        <p:nvPicPr>
          <p:cNvPr id="4" name="图片 3" descr="微信图片_20260604235102_1222_2"/>
          <p:cNvPicPr>
            <a:picLocks noChangeAspect="1"/>
          </p:cNvPicPr>
          <p:nvPr/>
        </p:nvPicPr>
        <p:blipFill>
          <a:blip r:embed="rId2"/>
          <a:srcRect b="72415"/>
          <a:stretch>
            <a:fillRect/>
          </a:stretch>
        </p:blipFill>
        <p:spPr>
          <a:xfrm>
            <a:off x="14776450" y="396875"/>
            <a:ext cx="3251200" cy="3057525"/>
          </a:xfrm>
          <a:prstGeom prst="rect">
            <a:avLst/>
          </a:prstGeom>
        </p:spPr>
      </p:pic>
      <p:pic>
        <p:nvPicPr>
          <p:cNvPr id="5" name="图片 4" descr="微信图片_20260604235102_1222_2"/>
          <p:cNvPicPr>
            <a:picLocks noChangeAspect="1"/>
          </p:cNvPicPr>
          <p:nvPr/>
        </p:nvPicPr>
        <p:blipFill>
          <a:blip r:embed="rId2"/>
          <a:srcRect t="72225"/>
          <a:stretch>
            <a:fillRect/>
          </a:stretch>
        </p:blipFill>
        <p:spPr>
          <a:xfrm>
            <a:off x="14929485" y="7331075"/>
            <a:ext cx="3250565" cy="3077845"/>
          </a:xfrm>
          <a:prstGeom prst="rect">
            <a:avLst/>
          </a:prstGeom>
        </p:spPr>
      </p:pic>
      <p:sp>
        <p:nvSpPr>
          <p:cNvPr id="6"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24</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sp>
        <p:nvSpPr>
          <p:cNvPr id="20" name="文本框 19"/>
          <p:cNvSpPr txBox="1"/>
          <p:nvPr/>
        </p:nvSpPr>
        <p:spPr>
          <a:xfrm>
            <a:off x="5861050" y="4377690"/>
            <a:ext cx="8351520" cy="2553335"/>
          </a:xfrm>
          <a:prstGeom prst="rect">
            <a:avLst/>
          </a:prstGeom>
          <a:noFill/>
        </p:spPr>
        <p:txBody>
          <a:bodyPr wrap="square" rtlCol="0">
            <a:spAutoFit/>
          </a:bodyPr>
          <a:p>
            <a:r>
              <a:rPr lang="zh-CN" altLang="en-US" sz="16000">
                <a:solidFill>
                  <a:srgbClr val="343435"/>
                </a:solidFill>
                <a:latin typeface="字魂132号-江舟行客" panose="00000500000000000000" charset="-122"/>
                <a:ea typeface="字魂132号-江舟行客" panose="00000500000000000000" charset="-122"/>
              </a:rPr>
              <a:t>媒介</a:t>
            </a:r>
            <a:r>
              <a:rPr lang="zh-CN" altLang="en-US" sz="16000">
                <a:latin typeface="字魂132号-江舟行客" panose="00000500000000000000" charset="-122"/>
                <a:ea typeface="字魂132号-江舟行客" panose="00000500000000000000" charset="-122"/>
              </a:rPr>
              <a:t>排期</a:t>
            </a:r>
            <a:endParaRPr lang="zh-CN" altLang="en-US" sz="16000">
              <a:latin typeface="字魂132号-江舟行客" panose="00000500000000000000" charset="-122"/>
              <a:ea typeface="字魂132号-江舟行客" panose="00000500000000000000" charset="-122"/>
            </a:endParaRPr>
          </a:p>
        </p:txBody>
      </p:sp>
      <p:sp>
        <p:nvSpPr>
          <p:cNvPr id="3"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25</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0" y="397"/>
            <a:ext cx="20104100" cy="11447819"/>
          </a:xfrm>
          <a:prstGeom prst="rect">
            <a:avLst/>
          </a:prstGeom>
        </p:spPr>
      </p:pic>
      <p:pic>
        <p:nvPicPr>
          <p:cNvPr id="2" name="图片 1" descr="image (28)"/>
          <p:cNvPicPr>
            <a:picLocks noChangeAspect="1"/>
          </p:cNvPicPr>
          <p:nvPr/>
        </p:nvPicPr>
        <p:blipFill>
          <a:blip r:embed="rId2"/>
          <a:stretch>
            <a:fillRect/>
          </a:stretch>
        </p:blipFill>
        <p:spPr>
          <a:xfrm>
            <a:off x="15463404" y="408761"/>
            <a:ext cx="3567431" cy="1470112"/>
          </a:xfrm>
          <a:prstGeom prst="rect">
            <a:avLst/>
          </a:prstGeom>
        </p:spPr>
      </p:pic>
      <p:pic>
        <p:nvPicPr>
          <p:cNvPr id="5" name="Picture 2" descr="image.png"/>
          <p:cNvPicPr>
            <a:picLocks noChangeAspect="1"/>
          </p:cNvPicPr>
          <p:nvPr/>
        </p:nvPicPr>
        <p:blipFill>
          <a:blip r:embed="rId3"/>
          <a:stretch>
            <a:fillRect/>
          </a:stretch>
        </p:blipFill>
        <p:spPr>
          <a:xfrm>
            <a:off x="6564650" y="2747314"/>
            <a:ext cx="6976210" cy="6678016"/>
          </a:xfrm>
          <a:prstGeom prst="rect">
            <a:avLst/>
          </a:prstGeom>
        </p:spPr>
      </p:pic>
      <p:pic>
        <p:nvPicPr>
          <p:cNvPr id="6" name="Picture 3" descr="image.png"/>
          <p:cNvPicPr>
            <a:picLocks noChangeAspect="1"/>
          </p:cNvPicPr>
          <p:nvPr/>
        </p:nvPicPr>
        <p:blipFill>
          <a:blip r:embed="rId4"/>
          <a:stretch>
            <a:fillRect/>
          </a:stretch>
        </p:blipFill>
        <p:spPr>
          <a:xfrm>
            <a:off x="8909050" y="3960495"/>
            <a:ext cx="2341880" cy="3910965"/>
          </a:xfrm>
          <a:prstGeom prst="rect">
            <a:avLst/>
          </a:prstGeom>
        </p:spPr>
      </p:pic>
      <p:pic>
        <p:nvPicPr>
          <p:cNvPr id="7" name="Picture 4" descr="image.png"/>
          <p:cNvPicPr>
            <a:picLocks noChangeAspect="1"/>
          </p:cNvPicPr>
          <p:nvPr/>
        </p:nvPicPr>
        <p:blipFill>
          <a:blip r:embed="rId5"/>
          <a:stretch>
            <a:fillRect/>
          </a:stretch>
        </p:blipFill>
        <p:spPr>
          <a:xfrm>
            <a:off x="6554642" y="6246371"/>
            <a:ext cx="2662222" cy="2803579"/>
          </a:xfrm>
          <a:prstGeom prst="rect">
            <a:avLst/>
          </a:prstGeom>
        </p:spPr>
      </p:pic>
      <p:pic>
        <p:nvPicPr>
          <p:cNvPr id="8" name="Picture 5" descr="image.png"/>
          <p:cNvPicPr>
            <a:picLocks noChangeAspect="1"/>
          </p:cNvPicPr>
          <p:nvPr/>
        </p:nvPicPr>
        <p:blipFill>
          <a:blip r:embed="rId6"/>
          <a:stretch>
            <a:fillRect/>
          </a:stretch>
        </p:blipFill>
        <p:spPr>
          <a:xfrm>
            <a:off x="11153185" y="2688417"/>
            <a:ext cx="2456067" cy="2738555"/>
          </a:xfrm>
          <a:prstGeom prst="rect">
            <a:avLst/>
          </a:prstGeom>
        </p:spPr>
      </p:pic>
      <p:pic>
        <p:nvPicPr>
          <p:cNvPr id="9" name="Picture 6" descr="image.png"/>
          <p:cNvPicPr>
            <a:picLocks noChangeAspect="1"/>
          </p:cNvPicPr>
          <p:nvPr/>
        </p:nvPicPr>
        <p:blipFill>
          <a:blip r:embed="rId7"/>
          <a:stretch>
            <a:fillRect/>
          </a:stretch>
        </p:blipFill>
        <p:spPr>
          <a:xfrm>
            <a:off x="6618091" y="2807941"/>
            <a:ext cx="2136857" cy="2946036"/>
          </a:xfrm>
          <a:prstGeom prst="rect">
            <a:avLst/>
          </a:prstGeom>
        </p:spPr>
      </p:pic>
      <p:pic>
        <p:nvPicPr>
          <p:cNvPr id="10" name="Picture 7" descr="image.png"/>
          <p:cNvPicPr>
            <a:picLocks noChangeAspect="1"/>
          </p:cNvPicPr>
          <p:nvPr/>
        </p:nvPicPr>
        <p:blipFill>
          <a:blip r:embed="rId8"/>
          <a:stretch>
            <a:fillRect/>
          </a:stretch>
        </p:blipFill>
        <p:spPr>
          <a:xfrm>
            <a:off x="9239066" y="1692406"/>
            <a:ext cx="1484404" cy="1429424"/>
          </a:xfrm>
          <a:prstGeom prst="rect">
            <a:avLst/>
          </a:prstGeom>
        </p:spPr>
      </p:pic>
      <p:sp>
        <p:nvSpPr>
          <p:cNvPr id="11" name="TextBox 9"/>
          <p:cNvSpPr txBox="1"/>
          <p:nvPr/>
        </p:nvSpPr>
        <p:spPr>
          <a:xfrm>
            <a:off x="9046820" y="3209870"/>
            <a:ext cx="1809839" cy="477001"/>
          </a:xfrm>
          <a:prstGeom prst="rect">
            <a:avLst/>
          </a:prstGeom>
          <a:noFill/>
        </p:spPr>
        <p:txBody>
          <a:bodyPr wrap="none" lIns="0" tIns="0" rIns="0" bIns="0"/>
          <a:lstStyle/>
          <a:p>
            <a:pPr algn="ctr">
              <a:lnSpc>
                <a:spcPct val="105000"/>
              </a:lnSpc>
              <a:spcBef>
                <a:spcPts val="0"/>
              </a:spcBef>
              <a:spcAft>
                <a:spcPts val="0"/>
              </a:spcAft>
            </a:pPr>
            <a:r>
              <a:rPr sz="3300" b="0" i="0">
                <a:solidFill>
                  <a:srgbClr val="330101"/>
                </a:solidFill>
                <a:latin typeface="新愚公和谐宋-S" charset="-122"/>
                <a:ea typeface="新愚公和谐宋-S" charset="-122"/>
                <a:cs typeface="新愚公和谐宋-S" charset="-122"/>
              </a:rPr>
              <a:t>联通</a:t>
            </a:r>
            <a:r>
              <a:rPr sz="3300" b="0" i="0">
                <a:solidFill>
                  <a:srgbClr val="330101"/>
                </a:solidFill>
                <a:latin typeface="Arial" panose="020B0604020202020204" pitchFamily="34" charset="0"/>
                <a:ea typeface="新愚公和谐宋-S" charset="-122"/>
                <a:cs typeface="Arial" panose="020B0604020202020204" pitchFamily="34" charset="0"/>
              </a:rPr>
              <a:t>APP</a:t>
            </a:r>
            <a:endParaRPr sz="3300" b="0" i="0">
              <a:solidFill>
                <a:srgbClr val="330101"/>
              </a:solidFill>
              <a:latin typeface="Arial" panose="020B0604020202020204" pitchFamily="34" charset="0"/>
              <a:ea typeface="新愚公和谐宋-S" charset="-122"/>
              <a:cs typeface="Arial" panose="020B0604020202020204" pitchFamily="34" charset="0"/>
            </a:endParaRPr>
          </a:p>
        </p:txBody>
      </p:sp>
      <p:sp>
        <p:nvSpPr>
          <p:cNvPr id="13" name="TextBox 10"/>
          <p:cNvSpPr txBox="1"/>
          <p:nvPr/>
        </p:nvSpPr>
        <p:spPr>
          <a:xfrm>
            <a:off x="15004472" y="4318424"/>
            <a:ext cx="3170322" cy="636105"/>
          </a:xfrm>
          <a:prstGeom prst="rect">
            <a:avLst/>
          </a:prstGeom>
          <a:noFill/>
        </p:spPr>
        <p:txBody>
          <a:bodyPr wrap="none" lIns="0" tIns="0" rIns="0" bIns="0"/>
          <a:lstStyle/>
          <a:p>
            <a:pPr algn="just">
              <a:lnSpc>
                <a:spcPct val="127000"/>
              </a:lnSpc>
              <a:spcBef>
                <a:spcPts val="0"/>
              </a:spcBef>
              <a:spcAft>
                <a:spcPts val="0"/>
              </a:spcAft>
            </a:pPr>
            <a:r>
              <a:rPr sz="4200" b="1" i="0">
                <a:solidFill>
                  <a:srgbClr val="B30100"/>
                </a:solidFill>
                <a:latin typeface="新愚公和谐宋-S" charset="-122"/>
                <a:ea typeface="新愚公和谐宋-S" charset="-122"/>
              </a:rPr>
              <a:t>线下反哺线上</a:t>
            </a:r>
            <a:endParaRPr sz="4200" b="1" i="0">
              <a:solidFill>
                <a:srgbClr val="B30100"/>
              </a:solidFill>
              <a:latin typeface="新愚公和谐宋-S" charset="-122"/>
              <a:ea typeface="新愚公和谐宋-S" charset="-122"/>
            </a:endParaRPr>
          </a:p>
        </p:txBody>
      </p:sp>
      <p:sp>
        <p:nvSpPr>
          <p:cNvPr id="14" name="TextBox 11"/>
          <p:cNvSpPr txBox="1"/>
          <p:nvPr/>
        </p:nvSpPr>
        <p:spPr>
          <a:xfrm>
            <a:off x="1821572" y="4319681"/>
            <a:ext cx="3071215" cy="583019"/>
          </a:xfrm>
          <a:prstGeom prst="rect">
            <a:avLst/>
          </a:prstGeom>
          <a:noFill/>
        </p:spPr>
        <p:txBody>
          <a:bodyPr wrap="none" lIns="0" tIns="0" rIns="0" bIns="0"/>
          <a:lstStyle/>
          <a:p>
            <a:pPr algn="just">
              <a:lnSpc>
                <a:spcPct val="120000"/>
              </a:lnSpc>
              <a:spcBef>
                <a:spcPts val="0"/>
              </a:spcBef>
              <a:spcAft>
                <a:spcPts val="0"/>
              </a:spcAft>
            </a:pPr>
            <a:r>
              <a:rPr sz="4200" b="1" i="0">
                <a:solidFill>
                  <a:srgbClr val="B30100"/>
                </a:solidFill>
                <a:latin typeface="新愚公和谐宋-S" charset="-122"/>
                <a:ea typeface="新愚公和谐宋-S" charset="-122"/>
              </a:rPr>
              <a:t>线上赋能线下</a:t>
            </a:r>
            <a:endParaRPr sz="4200" b="1" i="0">
              <a:solidFill>
                <a:srgbClr val="B30100"/>
              </a:solidFill>
              <a:latin typeface="新愚公和谐宋-S" charset="-122"/>
              <a:ea typeface="新愚公和谐宋-S" charset="-122"/>
            </a:endParaRPr>
          </a:p>
        </p:txBody>
      </p:sp>
      <p:sp>
        <p:nvSpPr>
          <p:cNvPr id="21" name="TextBox 17"/>
          <p:cNvSpPr txBox="1"/>
          <p:nvPr/>
        </p:nvSpPr>
        <p:spPr>
          <a:xfrm>
            <a:off x="15311314" y="10155794"/>
            <a:ext cx="741809" cy="370983"/>
          </a:xfrm>
          <a:prstGeom prst="rect">
            <a:avLst/>
          </a:prstGeom>
          <a:noFill/>
        </p:spPr>
        <p:txBody>
          <a:bodyPr wrap="none" lIns="0" tIns="0" rIns="0" bIns="0"/>
          <a:lstStyle/>
          <a:p>
            <a:pPr algn="just">
              <a:lnSpc>
                <a:spcPct val="107000"/>
              </a:lnSpc>
              <a:spcBef>
                <a:spcPts val="0"/>
              </a:spcBef>
              <a:spcAft>
                <a:spcPts val="0"/>
              </a:spcAft>
            </a:pPr>
            <a:r>
              <a:rPr sz="3300" b="0" i="0">
                <a:solidFill>
                  <a:srgbClr val="FCF2EC"/>
                </a:solidFill>
                <a:latin typeface="微软雅黑" panose="020B0503020204020204" charset="-122"/>
                <a:ea typeface="微软雅黑" panose="020B0503020204020204" charset="-122"/>
              </a:rPr>
              <a:t>通通</a:t>
            </a:r>
            <a:endParaRPr sz="3300" b="0" i="0">
              <a:solidFill>
                <a:srgbClr val="FCF2EC"/>
              </a:solidFill>
              <a:latin typeface="微软雅黑" panose="020B0503020204020204" charset="-122"/>
              <a:ea typeface="微软雅黑" panose="020B0503020204020204" charset="-122"/>
            </a:endParaRPr>
          </a:p>
        </p:txBody>
      </p:sp>
      <p:sp>
        <p:nvSpPr>
          <p:cNvPr id="22" name="矩形 21"/>
          <p:cNvSpPr/>
          <p:nvPr/>
        </p:nvSpPr>
        <p:spPr>
          <a:xfrm>
            <a:off x="0" y="1082039"/>
            <a:ext cx="15463404"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23" name="矩形 22"/>
          <p:cNvSpPr/>
          <p:nvPr/>
        </p:nvSpPr>
        <p:spPr>
          <a:xfrm>
            <a:off x="19102036" y="1082039"/>
            <a:ext cx="1001017"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3"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4" name="object 13"/>
          <p:cNvSpPr txBox="1"/>
          <p:nvPr/>
        </p:nvSpPr>
        <p:spPr>
          <a:xfrm>
            <a:off x="2660650" y="386080"/>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4" name="object 14"/>
          <p:cNvSpPr txBox="1"/>
          <p:nvPr/>
        </p:nvSpPr>
        <p:spPr>
          <a:xfrm>
            <a:off x="4718050" y="38671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5" name="object 15"/>
          <p:cNvSpPr txBox="1"/>
          <p:nvPr/>
        </p:nvSpPr>
        <p:spPr>
          <a:xfrm>
            <a:off x="6775450" y="387350"/>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sp>
        <p:nvSpPr>
          <p:cNvPr id="26" name="文本框 25"/>
          <p:cNvSpPr txBox="1"/>
          <p:nvPr/>
        </p:nvSpPr>
        <p:spPr>
          <a:xfrm>
            <a:off x="908050" y="5347335"/>
            <a:ext cx="5288915" cy="3553460"/>
          </a:xfrm>
          <a:prstGeom prst="rect">
            <a:avLst/>
          </a:prstGeom>
          <a:noFill/>
        </p:spPr>
        <p:txBody>
          <a:bodyPr wrap="square" rtlCol="0">
            <a:noAutofit/>
          </a:bodyPr>
          <a:p>
            <a:pPr marL="0" indent="0" eaLnBrk="1" fontAlgn="auto" latinLnBrk="0" hangingPunct="1">
              <a:lnSpc>
                <a:spcPct val="150000"/>
              </a:lnSpc>
            </a:pPr>
            <a:r>
              <a:rPr lang="zh-CN" altLang="en-US" sz="2200">
                <a:latin typeface="新愚公和谐宋-S" charset="-122"/>
                <a:ea typeface="新愚公和谐宋-S" charset="-122"/>
              </a:rPr>
              <a:t>利用官方账号与数字互动（如手机壳购买、线上预约）吸引流量，将线上的品牌热度与粉丝热情导流至线下实体营业厅与博物馆打卡点。</a:t>
            </a:r>
            <a:endParaRPr lang="zh-CN" altLang="en-US" sz="2200">
              <a:latin typeface="新愚公和谐宋-S" charset="-122"/>
              <a:ea typeface="新愚公和谐宋-S" charset="-122"/>
            </a:endParaRPr>
          </a:p>
        </p:txBody>
      </p:sp>
      <p:sp>
        <p:nvSpPr>
          <p:cNvPr id="27" name="文本框 26"/>
          <p:cNvSpPr txBox="1"/>
          <p:nvPr/>
        </p:nvSpPr>
        <p:spPr>
          <a:xfrm>
            <a:off x="14014450" y="5347335"/>
            <a:ext cx="5288915" cy="3553460"/>
          </a:xfrm>
          <a:prstGeom prst="rect">
            <a:avLst/>
          </a:prstGeom>
          <a:noFill/>
        </p:spPr>
        <p:txBody>
          <a:bodyPr wrap="square" rtlCol="0">
            <a:noAutofit/>
          </a:bodyPr>
          <a:p>
            <a:pPr marL="0" indent="0" eaLnBrk="1" fontAlgn="auto" latinLnBrk="0" hangingPunct="1">
              <a:lnSpc>
                <a:spcPct val="150000"/>
              </a:lnSpc>
            </a:pPr>
            <a:r>
              <a:rPr lang="zh-CN" altLang="en-US" sz="2200">
                <a:latin typeface="新愚公和谐宋-S" charset="-122"/>
                <a:ea typeface="新愚公和谐宋-S" charset="-122"/>
              </a:rPr>
              <a:t>通过线下快闪活动与文创产品的实地触达，制造社交话题，引发用户在社交媒体（小红书、微博）进行二次传播，实现流量回流至线上商城，完成口碑转化。</a:t>
            </a:r>
            <a:endParaRPr lang="zh-CN" altLang="en-US" sz="2200">
              <a:latin typeface="新愚公和谐宋-S" charset="-122"/>
              <a:ea typeface="新愚公和谐宋-S" charset="-122"/>
            </a:endParaRPr>
          </a:p>
        </p:txBody>
      </p:sp>
      <p:sp>
        <p:nvSpPr>
          <p:cNvPr id="28" name="TextBox 9"/>
          <p:cNvSpPr txBox="1"/>
          <p:nvPr/>
        </p:nvSpPr>
        <p:spPr>
          <a:xfrm>
            <a:off x="9217000" y="9921820"/>
            <a:ext cx="1809839" cy="477001"/>
          </a:xfrm>
          <a:prstGeom prst="rect">
            <a:avLst/>
          </a:prstGeom>
          <a:noFill/>
        </p:spPr>
        <p:txBody>
          <a:bodyPr wrap="none" lIns="0" tIns="0" rIns="0" bIns="0"/>
          <a:lstStyle/>
          <a:p>
            <a:pPr algn="ctr">
              <a:lnSpc>
                <a:spcPct val="105000"/>
              </a:lnSpc>
              <a:spcBef>
                <a:spcPts val="0"/>
              </a:spcBef>
              <a:spcAft>
                <a:spcPts val="0"/>
              </a:spcAft>
            </a:pPr>
            <a:r>
              <a:rPr lang="zh-CN" altLang="en-US" sz="3300" b="0" i="0">
                <a:solidFill>
                  <a:srgbClr val="330101"/>
                </a:solidFill>
                <a:latin typeface="新愚公和谐宋-S" charset="-122"/>
                <a:ea typeface="新愚公和谐宋-S" charset="-122"/>
                <a:cs typeface="新愚公和谐宋-S" charset="-122"/>
              </a:rPr>
              <a:t>河南博物馆</a:t>
            </a:r>
            <a:endParaRPr lang="zh-CN" altLang="en-US" sz="3300" b="0" i="0">
              <a:solidFill>
                <a:srgbClr val="330101"/>
              </a:solidFill>
              <a:latin typeface="新愚公和谐宋-S" charset="-122"/>
              <a:ea typeface="新愚公和谐宋-S" charset="-122"/>
              <a:cs typeface="新愚公和谐宋-S" charset="-122"/>
            </a:endParaRPr>
          </a:p>
        </p:txBody>
      </p:sp>
      <p:pic>
        <p:nvPicPr>
          <p:cNvPr id="29" name="图片 28" descr="微信图片_20260604214322_1219_2"/>
          <p:cNvPicPr>
            <a:picLocks noChangeAspect="1"/>
          </p:cNvPicPr>
          <p:nvPr/>
        </p:nvPicPr>
        <p:blipFill>
          <a:blip r:embed="rId9"/>
          <a:stretch>
            <a:fillRect/>
          </a:stretch>
        </p:blipFill>
        <p:spPr>
          <a:xfrm>
            <a:off x="9329420" y="8245475"/>
            <a:ext cx="1552575" cy="1565275"/>
          </a:xfrm>
          <a:prstGeom prst="rect">
            <a:avLst/>
          </a:prstGeom>
        </p:spPr>
      </p:pic>
      <p:sp>
        <p:nvSpPr>
          <p:cNvPr id="12"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26</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pic>
        <p:nvPicPr>
          <p:cNvPr id="2" name="图片 1" descr="image (28)"/>
          <p:cNvPicPr>
            <a:picLocks noChangeAspect="1"/>
          </p:cNvPicPr>
          <p:nvPr/>
        </p:nvPicPr>
        <p:blipFill>
          <a:blip r:embed="rId2"/>
          <a:stretch>
            <a:fillRect/>
          </a:stretch>
        </p:blipFill>
        <p:spPr>
          <a:xfrm>
            <a:off x="15463404" y="408761"/>
            <a:ext cx="3567431" cy="1470112"/>
          </a:xfrm>
          <a:prstGeom prst="rect">
            <a:avLst/>
          </a:prstGeom>
        </p:spPr>
      </p:pic>
      <p:pic>
        <p:nvPicPr>
          <p:cNvPr id="5" name="Picture 3" descr="image.png"/>
          <p:cNvPicPr>
            <a:picLocks noChangeAspect="1"/>
          </p:cNvPicPr>
          <p:nvPr/>
        </p:nvPicPr>
        <p:blipFill>
          <a:blip r:embed="rId3"/>
          <a:stretch>
            <a:fillRect/>
          </a:stretch>
        </p:blipFill>
        <p:spPr>
          <a:xfrm>
            <a:off x="1513932" y="3701039"/>
            <a:ext cx="17454913" cy="502751"/>
          </a:xfrm>
          <a:prstGeom prst="rect">
            <a:avLst/>
          </a:prstGeom>
        </p:spPr>
      </p:pic>
      <p:pic>
        <p:nvPicPr>
          <p:cNvPr id="6" name="Picture 5" descr="image.png"/>
          <p:cNvPicPr>
            <a:picLocks noChangeAspect="1"/>
          </p:cNvPicPr>
          <p:nvPr/>
        </p:nvPicPr>
        <p:blipFill>
          <a:blip r:embed="rId4"/>
          <a:stretch>
            <a:fillRect/>
          </a:stretch>
        </p:blipFill>
        <p:spPr>
          <a:xfrm>
            <a:off x="9251184" y="8626238"/>
            <a:ext cx="2538928" cy="1949392"/>
          </a:xfrm>
          <a:prstGeom prst="rect">
            <a:avLst/>
          </a:prstGeom>
        </p:spPr>
      </p:pic>
      <p:pic>
        <p:nvPicPr>
          <p:cNvPr id="8" name="Picture 7" descr="image.png"/>
          <p:cNvPicPr>
            <a:picLocks noChangeAspect="1"/>
          </p:cNvPicPr>
          <p:nvPr/>
        </p:nvPicPr>
        <p:blipFill>
          <a:blip r:embed="rId5"/>
          <a:stretch>
            <a:fillRect/>
          </a:stretch>
        </p:blipFill>
        <p:spPr>
          <a:xfrm>
            <a:off x="4076342" y="2958755"/>
            <a:ext cx="777617" cy="785473"/>
          </a:xfrm>
          <a:prstGeom prst="rect">
            <a:avLst/>
          </a:prstGeom>
        </p:spPr>
      </p:pic>
      <p:pic>
        <p:nvPicPr>
          <p:cNvPr id="9" name="Picture 8" descr="image.png"/>
          <p:cNvPicPr>
            <a:picLocks noChangeAspect="1"/>
          </p:cNvPicPr>
          <p:nvPr/>
        </p:nvPicPr>
        <p:blipFill>
          <a:blip r:embed="rId6"/>
          <a:stretch>
            <a:fillRect/>
          </a:stretch>
        </p:blipFill>
        <p:spPr>
          <a:xfrm>
            <a:off x="15592240" y="2966451"/>
            <a:ext cx="781191" cy="773380"/>
          </a:xfrm>
          <a:prstGeom prst="rect">
            <a:avLst/>
          </a:prstGeom>
        </p:spPr>
      </p:pic>
      <p:pic>
        <p:nvPicPr>
          <p:cNvPr id="10" name="Picture 9" descr="image.png"/>
          <p:cNvPicPr>
            <a:picLocks noChangeAspect="1"/>
          </p:cNvPicPr>
          <p:nvPr/>
        </p:nvPicPr>
        <p:blipFill>
          <a:blip r:embed="rId7"/>
          <a:stretch>
            <a:fillRect/>
          </a:stretch>
        </p:blipFill>
        <p:spPr>
          <a:xfrm>
            <a:off x="9782371" y="2976737"/>
            <a:ext cx="785158" cy="761603"/>
          </a:xfrm>
          <a:prstGeom prst="rect">
            <a:avLst/>
          </a:prstGeom>
        </p:spPr>
      </p:pic>
      <p:sp>
        <p:nvSpPr>
          <p:cNvPr id="11" name="TextBox 10"/>
          <p:cNvSpPr txBox="1"/>
          <p:nvPr/>
        </p:nvSpPr>
        <p:spPr>
          <a:xfrm>
            <a:off x="992168" y="901782"/>
            <a:ext cx="4254843" cy="1489117"/>
          </a:xfrm>
          <a:prstGeom prst="rect">
            <a:avLst/>
          </a:prstGeom>
          <a:noFill/>
        </p:spPr>
        <p:txBody>
          <a:bodyPr wrap="none" lIns="0" tIns="0" rIns="0" bIns="0"/>
          <a:lstStyle/>
          <a:p>
            <a:pPr algn="just">
              <a:spcBef>
                <a:spcPts val="0"/>
              </a:spcBef>
              <a:spcAft>
                <a:spcPts val="0"/>
              </a:spcAft>
            </a:pPr>
            <a:endParaRPr lang="zh-CN" sz="5320" b="1">
              <a:latin typeface="微软雅黑" panose="020B0503020204020204" charset="-122"/>
              <a:ea typeface="微软雅黑" panose="020B0503020204020204" charset="-122"/>
            </a:endParaRPr>
          </a:p>
        </p:txBody>
      </p:sp>
      <p:sp>
        <p:nvSpPr>
          <p:cNvPr id="17" name="TextBox 15"/>
          <p:cNvSpPr txBox="1"/>
          <p:nvPr/>
        </p:nvSpPr>
        <p:spPr>
          <a:xfrm>
            <a:off x="2409190" y="4274185"/>
            <a:ext cx="4086225" cy="1399540"/>
          </a:xfrm>
          <a:prstGeom prst="rect">
            <a:avLst/>
          </a:prstGeom>
          <a:noFill/>
        </p:spPr>
        <p:txBody>
          <a:bodyPr wrap="none" lIns="0" tIns="0" rIns="0" bIns="0"/>
          <a:lstStyle/>
          <a:p>
            <a:pPr algn="ctr">
              <a:lnSpc>
                <a:spcPct val="103000"/>
              </a:lnSpc>
              <a:spcBef>
                <a:spcPts val="0"/>
              </a:spcBef>
              <a:spcAft>
                <a:spcPts val="0"/>
              </a:spcAft>
            </a:pPr>
            <a:r>
              <a:rPr lang="en-US" altLang="en-US" sz="4200" b="1" i="0">
                <a:solidFill>
                  <a:srgbClr val="B30100"/>
                </a:solidFill>
                <a:latin typeface="微软雅黑" panose="020B0503020204020204" charset="-122"/>
                <a:ea typeface="微软雅黑" panose="020B0503020204020204" charset="-122"/>
              </a:rPr>
              <a:t>6.7-6.14</a:t>
            </a:r>
            <a:endParaRPr lang="en-US" altLang="en-US" sz="4200" b="1" i="0">
              <a:solidFill>
                <a:srgbClr val="B30100"/>
              </a:solidFill>
              <a:latin typeface="微软雅黑" panose="020B0503020204020204" charset="-122"/>
              <a:ea typeface="微软雅黑" panose="020B0503020204020204" charset="-122"/>
            </a:endParaRPr>
          </a:p>
          <a:p>
            <a:pPr algn="ctr">
              <a:lnSpc>
                <a:spcPct val="103000"/>
              </a:lnSpc>
              <a:spcBef>
                <a:spcPts val="0"/>
              </a:spcBef>
              <a:spcAft>
                <a:spcPts val="0"/>
              </a:spcAft>
            </a:pPr>
            <a:r>
              <a:rPr lang="zh-CN" altLang="en-US" sz="4200" b="1" i="0">
                <a:solidFill>
                  <a:srgbClr val="B30100"/>
                </a:solidFill>
                <a:latin typeface="微软雅黑" panose="020B0503020204020204" charset="-122"/>
                <a:ea typeface="微软雅黑" panose="020B0503020204020204" charset="-122"/>
              </a:rPr>
              <a:t>预热期</a:t>
            </a:r>
            <a:r>
              <a:rPr lang="en-US" altLang="zh-CN" sz="4200" b="1" i="0">
                <a:solidFill>
                  <a:srgbClr val="B30100"/>
                </a:solidFill>
                <a:latin typeface="微软雅黑" panose="020B0503020204020204" charset="-122"/>
                <a:ea typeface="微软雅黑" panose="020B0503020204020204" charset="-122"/>
              </a:rPr>
              <a:t>:</a:t>
            </a:r>
            <a:r>
              <a:rPr lang="zh-CN" altLang="en-US" sz="4200" b="1" i="0">
                <a:solidFill>
                  <a:srgbClr val="B30100"/>
                </a:solidFill>
                <a:latin typeface="微软雅黑" panose="020B0503020204020204" charset="-122"/>
                <a:ea typeface="微软雅黑" panose="020B0503020204020204" charset="-122"/>
              </a:rPr>
              <a:t>制造悬念</a:t>
            </a:r>
            <a:endParaRPr lang="zh-CN" altLang="en-US" sz="4200" b="1" i="0">
              <a:solidFill>
                <a:srgbClr val="B30100"/>
              </a:solidFill>
              <a:latin typeface="微软雅黑" panose="020B0503020204020204" charset="-122"/>
              <a:ea typeface="微软雅黑" panose="020B0503020204020204" charset="-122"/>
            </a:endParaRPr>
          </a:p>
        </p:txBody>
      </p:sp>
      <p:sp>
        <p:nvSpPr>
          <p:cNvPr id="18" name="TextBox 16"/>
          <p:cNvSpPr txBox="1"/>
          <p:nvPr/>
        </p:nvSpPr>
        <p:spPr>
          <a:xfrm>
            <a:off x="7483475" y="4274185"/>
            <a:ext cx="5777865" cy="1343660"/>
          </a:xfrm>
          <a:prstGeom prst="rect">
            <a:avLst/>
          </a:prstGeom>
          <a:noFill/>
        </p:spPr>
        <p:txBody>
          <a:bodyPr wrap="none" lIns="0" tIns="0" rIns="0" bIns="0"/>
          <a:lstStyle/>
          <a:p>
            <a:pPr algn="ctr">
              <a:lnSpc>
                <a:spcPct val="109000"/>
              </a:lnSpc>
              <a:spcBef>
                <a:spcPts val="0"/>
              </a:spcBef>
              <a:spcAft>
                <a:spcPts val="0"/>
              </a:spcAft>
            </a:pPr>
            <a:r>
              <a:rPr sz="4200" b="1" i="0">
                <a:solidFill>
                  <a:srgbClr val="B30100"/>
                </a:solidFill>
                <a:latin typeface="微软雅黑" panose="020B0503020204020204" charset="-122"/>
                <a:ea typeface="微软雅黑" panose="020B0503020204020204" charset="-122"/>
              </a:rPr>
              <a:t>6</a:t>
            </a:r>
            <a:r>
              <a:rPr lang="en-US" altLang="en-US" sz="4200" b="1" i="0">
                <a:solidFill>
                  <a:srgbClr val="B30100"/>
                </a:solidFill>
                <a:latin typeface="微软雅黑" panose="020B0503020204020204" charset="-122"/>
                <a:ea typeface="微软雅黑" panose="020B0503020204020204" charset="-122"/>
              </a:rPr>
              <a:t>.15-6.29</a:t>
            </a:r>
            <a:endParaRPr sz="4200" b="1" i="0">
              <a:solidFill>
                <a:srgbClr val="B30100"/>
              </a:solidFill>
              <a:latin typeface="微软雅黑" panose="020B0503020204020204" charset="-122"/>
              <a:ea typeface="微软雅黑" panose="020B0503020204020204" charset="-122"/>
            </a:endParaRPr>
          </a:p>
          <a:p>
            <a:pPr algn="ctr">
              <a:lnSpc>
                <a:spcPct val="109000"/>
              </a:lnSpc>
              <a:spcBef>
                <a:spcPts val="0"/>
              </a:spcBef>
              <a:spcAft>
                <a:spcPts val="0"/>
              </a:spcAft>
            </a:pPr>
            <a:r>
              <a:rPr lang="zh-CN" altLang="en-US" sz="4200" b="1" i="0">
                <a:solidFill>
                  <a:srgbClr val="B30100"/>
                </a:solidFill>
                <a:latin typeface="微软雅黑" panose="020B0503020204020204" charset="-122"/>
                <a:ea typeface="微软雅黑" panose="020B0503020204020204" charset="-122"/>
              </a:rPr>
              <a:t>爆发期：官宣联动</a:t>
            </a:r>
            <a:endParaRPr lang="zh-CN" altLang="en-US" sz="4200" b="1" i="0">
              <a:solidFill>
                <a:srgbClr val="B30100"/>
              </a:solidFill>
              <a:latin typeface="微软雅黑" panose="020B0503020204020204" charset="-122"/>
              <a:ea typeface="微软雅黑" panose="020B0503020204020204" charset="-122"/>
            </a:endParaRPr>
          </a:p>
        </p:txBody>
      </p:sp>
      <p:sp>
        <p:nvSpPr>
          <p:cNvPr id="20" name="TextBox 17"/>
          <p:cNvSpPr txBox="1"/>
          <p:nvPr/>
        </p:nvSpPr>
        <p:spPr>
          <a:xfrm>
            <a:off x="13959205" y="4274185"/>
            <a:ext cx="4086225" cy="1513840"/>
          </a:xfrm>
          <a:prstGeom prst="rect">
            <a:avLst/>
          </a:prstGeom>
          <a:noFill/>
        </p:spPr>
        <p:txBody>
          <a:bodyPr wrap="none" lIns="0" tIns="0" rIns="0" bIns="0"/>
          <a:lstStyle/>
          <a:p>
            <a:pPr algn="ctr">
              <a:lnSpc>
                <a:spcPct val="103000"/>
              </a:lnSpc>
              <a:spcBef>
                <a:spcPts val="0"/>
              </a:spcBef>
              <a:spcAft>
                <a:spcPts val="0"/>
              </a:spcAft>
            </a:pPr>
            <a:r>
              <a:rPr lang="en-US" altLang="en-US" sz="4200" b="1" i="0">
                <a:solidFill>
                  <a:srgbClr val="B30100"/>
                </a:solidFill>
                <a:latin typeface="微软雅黑" panose="020B0503020204020204" charset="-122"/>
                <a:ea typeface="微软雅黑" panose="020B0503020204020204" charset="-122"/>
              </a:rPr>
              <a:t>6.30-7.6</a:t>
            </a:r>
            <a:endParaRPr lang="en-US" altLang="en-US" sz="4200" b="1" i="0">
              <a:solidFill>
                <a:srgbClr val="B30100"/>
              </a:solidFill>
              <a:latin typeface="微软雅黑" panose="020B0503020204020204" charset="-122"/>
              <a:ea typeface="微软雅黑" panose="020B0503020204020204" charset="-122"/>
            </a:endParaRPr>
          </a:p>
          <a:p>
            <a:pPr algn="ctr">
              <a:lnSpc>
                <a:spcPct val="103000"/>
              </a:lnSpc>
              <a:spcBef>
                <a:spcPts val="0"/>
              </a:spcBef>
              <a:spcAft>
                <a:spcPts val="0"/>
              </a:spcAft>
            </a:pPr>
            <a:r>
              <a:rPr lang="zh-CN" altLang="en-US" sz="4200" b="1" i="0">
                <a:solidFill>
                  <a:srgbClr val="B30100"/>
                </a:solidFill>
                <a:latin typeface="微软雅黑" panose="020B0503020204020204" charset="-122"/>
                <a:ea typeface="微软雅黑" panose="020B0503020204020204" charset="-122"/>
              </a:rPr>
              <a:t>长尾期：话题沉淀</a:t>
            </a:r>
            <a:endParaRPr lang="zh-CN" altLang="en-US" sz="4200" b="1" i="0">
              <a:solidFill>
                <a:srgbClr val="B30100"/>
              </a:solidFill>
              <a:latin typeface="微软雅黑" panose="020B0503020204020204" charset="-122"/>
              <a:ea typeface="微软雅黑" panose="020B0503020204020204" charset="-122"/>
            </a:endParaRPr>
          </a:p>
        </p:txBody>
      </p:sp>
      <p:sp>
        <p:nvSpPr>
          <p:cNvPr id="21" name="TextBox 18"/>
          <p:cNvSpPr txBox="1"/>
          <p:nvPr/>
        </p:nvSpPr>
        <p:spPr>
          <a:xfrm>
            <a:off x="7918450" y="6131560"/>
            <a:ext cx="4692650" cy="1704340"/>
          </a:xfrm>
          <a:prstGeom prst="rect">
            <a:avLst/>
          </a:prstGeom>
          <a:noFill/>
        </p:spPr>
        <p:txBody>
          <a:bodyPr wrap="none" lIns="0" tIns="0" rIns="0" bIns="0"/>
          <a:lstStyle/>
          <a:p>
            <a:pPr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cs typeface="新愚公和谐宋-S" charset="-122"/>
              </a:rPr>
              <a:t>达人矩阵、线下营业厅</a:t>
            </a:r>
            <a:endParaRPr lang="zh-CN" altLang="en-US" sz="2200">
              <a:latin typeface="新愚公和谐宋-S" charset="-122"/>
              <a:ea typeface="新愚公和谐宋-S" charset="-122"/>
              <a:cs typeface="新愚公和谐宋-S" charset="-122"/>
            </a:endParaRPr>
          </a:p>
          <a:p>
            <a:pPr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cs typeface="新愚公和谐宋-S" charset="-122"/>
              </a:rPr>
              <a:t>达人进行“时空故障”深度测评；</a:t>
            </a:r>
            <a:endParaRPr lang="zh-CN" altLang="en-US" sz="2200">
              <a:latin typeface="新愚公和谐宋-S" charset="-122"/>
              <a:ea typeface="新愚公和谐宋-S" charset="-122"/>
              <a:cs typeface="新愚公和谐宋-S" charset="-122"/>
            </a:endParaRPr>
          </a:p>
          <a:p>
            <a:pPr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cs typeface="新愚公和谐宋-S" charset="-122"/>
              </a:rPr>
              <a:t>营业厅同步上线联动视觉，引发排队打卡。</a:t>
            </a:r>
            <a:endParaRPr lang="zh-CN" altLang="en-US" sz="2200">
              <a:latin typeface="新愚公和谐宋-S" charset="-122"/>
              <a:ea typeface="新愚公和谐宋-S" charset="-122"/>
              <a:cs typeface="新愚公和谐宋-S" charset="-122"/>
            </a:endParaRPr>
          </a:p>
          <a:p>
            <a:pPr marL="635">
              <a:spcBef>
                <a:spcPts val="135"/>
              </a:spcBef>
            </a:pPr>
            <a:endParaRPr lang="zh-CN" sz="2200">
              <a:latin typeface="新愚公和谐宋-S" charset="-122"/>
              <a:ea typeface="新愚公和谐宋-S" charset="-122"/>
              <a:cs typeface="新愚公和谐宋-S" charset="-122"/>
            </a:endParaRPr>
          </a:p>
        </p:txBody>
      </p:sp>
      <p:sp>
        <p:nvSpPr>
          <p:cNvPr id="22" name="TextBox 19"/>
          <p:cNvSpPr txBox="1"/>
          <p:nvPr/>
        </p:nvSpPr>
        <p:spPr>
          <a:xfrm>
            <a:off x="14523964" y="6131340"/>
            <a:ext cx="5580458" cy="1384512"/>
          </a:xfrm>
          <a:prstGeom prst="rect">
            <a:avLst/>
          </a:prstGeom>
          <a:noFill/>
        </p:spPr>
        <p:txBody>
          <a:bodyPr wrap="none" lIns="0" tIns="0" rIns="0" bIns="0"/>
          <a:lstStyle/>
          <a:p>
            <a:pPr marL="29845"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rPr>
              <a:t>联通商城、社群</a:t>
            </a:r>
            <a:endParaRPr lang="zh-CN" altLang="en-US" sz="2200">
              <a:latin typeface="新愚公和谐宋-S" charset="-122"/>
              <a:ea typeface="新愚公和谐宋-S" charset="-122"/>
            </a:endParaRPr>
          </a:p>
          <a:p>
            <a:pPr marL="29845"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rPr>
              <a:t>手机壳、文创礼盒限量销售；</a:t>
            </a:r>
            <a:endParaRPr lang="zh-CN" altLang="en-US" sz="2200">
              <a:latin typeface="新愚公和谐宋-S" charset="-122"/>
              <a:ea typeface="新愚公和谐宋-S" charset="-122"/>
            </a:endParaRPr>
          </a:p>
          <a:p>
            <a:pPr marL="29845"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rPr>
              <a:t>沉淀私域流量。</a:t>
            </a:r>
            <a:endParaRPr lang="zh-CN" altLang="en-US" sz="2200">
              <a:latin typeface="新愚公和谐宋-S" charset="-122"/>
              <a:ea typeface="新愚公和谐宋-S" charset="-122"/>
            </a:endParaRPr>
          </a:p>
        </p:txBody>
      </p:sp>
      <p:sp>
        <p:nvSpPr>
          <p:cNvPr id="23" name="TextBox 20"/>
          <p:cNvSpPr txBox="1"/>
          <p:nvPr/>
        </p:nvSpPr>
        <p:spPr>
          <a:xfrm>
            <a:off x="1957705" y="6131560"/>
            <a:ext cx="6744970" cy="1384935"/>
          </a:xfrm>
          <a:prstGeom prst="rect">
            <a:avLst/>
          </a:prstGeom>
          <a:noFill/>
        </p:spPr>
        <p:txBody>
          <a:bodyPr wrap="none" lIns="0" tIns="0" rIns="0" bIns="0"/>
          <a:lstStyle/>
          <a:p>
            <a:pPr marL="635"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cs typeface="新愚公和谐宋-S" charset="-122"/>
              </a:rPr>
              <a:t>官方账号、小红书、抖音等</a:t>
            </a:r>
            <a:endParaRPr lang="zh-CN" altLang="en-US" sz="2200">
              <a:latin typeface="新愚公和谐宋-S" charset="-122"/>
              <a:ea typeface="新愚公和谐宋-S" charset="-122"/>
              <a:cs typeface="新愚公和谐宋-S" charset="-122"/>
            </a:endParaRPr>
          </a:p>
          <a:p>
            <a:pPr marL="635"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cs typeface="新愚公和谐宋-S" charset="-122"/>
              </a:rPr>
              <a:t>平台发布“唐代信号求救”短视频；</a:t>
            </a:r>
            <a:endParaRPr lang="zh-CN" altLang="en-US" sz="2200">
              <a:latin typeface="新愚公和谐宋-S" charset="-122"/>
              <a:ea typeface="新愚公和谐宋-S" charset="-122"/>
              <a:cs typeface="新愚公和谐宋-S" charset="-122"/>
            </a:endParaRPr>
          </a:p>
          <a:p>
            <a:pPr marL="635" indent="0" algn="just" eaLnBrk="1" fontAlgn="auto" latinLnBrk="0" hangingPunct="1">
              <a:lnSpc>
                <a:spcPct val="150000"/>
              </a:lnSpc>
              <a:spcBef>
                <a:spcPts val="0"/>
              </a:spcBef>
              <a:spcAft>
                <a:spcPts val="0"/>
              </a:spcAft>
            </a:pPr>
            <a:r>
              <a:rPr lang="zh-CN" altLang="en-US" sz="2200">
                <a:latin typeface="新愚公和谐宋-S" charset="-122"/>
                <a:ea typeface="新愚公和谐宋-S" charset="-122"/>
                <a:cs typeface="新愚公和谐宋-S" charset="-122"/>
              </a:rPr>
              <a:t>发起#大唐信号修复计划#话题。</a:t>
            </a:r>
            <a:endParaRPr lang="zh-CN" altLang="en-US" sz="2200">
              <a:latin typeface="新愚公和谐宋-S" charset="-122"/>
              <a:ea typeface="新愚公和谐宋-S" charset="-122"/>
              <a:cs typeface="新愚公和谐宋-S" charset="-122"/>
            </a:endParaRPr>
          </a:p>
        </p:txBody>
      </p:sp>
      <p:sp>
        <p:nvSpPr>
          <p:cNvPr id="7" name="矩形 6"/>
          <p:cNvSpPr/>
          <p:nvPr/>
        </p:nvSpPr>
        <p:spPr>
          <a:xfrm>
            <a:off x="0" y="1082039"/>
            <a:ext cx="15463404"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26" name="矩形 25"/>
          <p:cNvSpPr/>
          <p:nvPr/>
        </p:nvSpPr>
        <p:spPr>
          <a:xfrm>
            <a:off x="19102036" y="1082039"/>
            <a:ext cx="1001017"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4"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27"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8"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9"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sp>
        <p:nvSpPr>
          <p:cNvPr id="3"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27</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5"/>
          <a:srcRect b="46546"/>
          <a:stretch>
            <a:fillRect/>
          </a:stretch>
        </p:blipFill>
        <p:spPr>
          <a:xfrm>
            <a:off x="0" y="-138866"/>
            <a:ext cx="20104100" cy="11447819"/>
          </a:xfrm>
          <a:prstGeom prst="rect">
            <a:avLst/>
          </a:prstGeom>
        </p:spPr>
      </p:pic>
      <p:sp>
        <p:nvSpPr>
          <p:cNvPr id="45" name="圆角矩形 44"/>
          <p:cNvSpPr/>
          <p:nvPr/>
        </p:nvSpPr>
        <p:spPr>
          <a:xfrm>
            <a:off x="1365250" y="8590915"/>
            <a:ext cx="17205325" cy="1400175"/>
          </a:xfrm>
          <a:prstGeom prst="roundRect">
            <a:avLst/>
          </a:prstGeom>
          <a:solidFill>
            <a:srgbClr val="C0504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pic>
        <p:nvPicPr>
          <p:cNvPr id="2" name="图片 1" descr="image (28)"/>
          <p:cNvPicPr>
            <a:picLocks noChangeAspect="1"/>
          </p:cNvPicPr>
          <p:nvPr/>
        </p:nvPicPr>
        <p:blipFill>
          <a:blip r:embed="rId6"/>
          <a:stretch>
            <a:fillRect/>
          </a:stretch>
        </p:blipFill>
        <p:spPr>
          <a:xfrm>
            <a:off x="15463404" y="408761"/>
            <a:ext cx="3567431" cy="1470112"/>
          </a:xfrm>
          <a:prstGeom prst="rect">
            <a:avLst/>
          </a:prstGeom>
        </p:spPr>
      </p:pic>
      <p:sp>
        <p:nvSpPr>
          <p:cNvPr id="7" name="矩形 6"/>
          <p:cNvSpPr/>
          <p:nvPr/>
        </p:nvSpPr>
        <p:spPr>
          <a:xfrm>
            <a:off x="0" y="1082039"/>
            <a:ext cx="15463404"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14" name="矩形 13"/>
          <p:cNvSpPr/>
          <p:nvPr/>
        </p:nvSpPr>
        <p:spPr>
          <a:xfrm>
            <a:off x="19102036" y="1082039"/>
            <a:ext cx="1001017"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graphicFrame>
        <p:nvGraphicFramePr>
          <p:cNvPr id="3" name="图表 2"/>
          <p:cNvGraphicFramePr/>
          <p:nvPr>
            <p:custDataLst>
              <p:tags r:id="rId7"/>
            </p:custDataLst>
          </p:nvPr>
        </p:nvGraphicFramePr>
        <p:xfrm>
          <a:off x="-252730" y="3216275"/>
          <a:ext cx="6199505" cy="3564255"/>
        </p:xfrm>
        <a:graphic>
          <a:graphicData uri="http://schemas.openxmlformats.org/drawingml/2006/chart">
            <c:chart xmlns:c="http://schemas.openxmlformats.org/drawingml/2006/chart" xmlns:r="http://schemas.openxmlformats.org/officeDocument/2006/relationships" r:id="rId1"/>
          </a:graphicData>
        </a:graphic>
      </p:graphicFrame>
      <p:sp>
        <p:nvSpPr>
          <p:cNvPr id="16" name="文本框 15"/>
          <p:cNvSpPr txBox="1"/>
          <p:nvPr>
            <p:custDataLst>
              <p:tags r:id="rId8"/>
            </p:custDataLst>
          </p:nvPr>
        </p:nvSpPr>
        <p:spPr>
          <a:xfrm>
            <a:off x="2279650" y="4435475"/>
            <a:ext cx="1319530" cy="927735"/>
          </a:xfrm>
          <a:prstGeom prst="rect">
            <a:avLst/>
          </a:prstGeom>
          <a:noFill/>
        </p:spPr>
        <p:txBody>
          <a:bodyPr wrap="square" rtlCol="0">
            <a:noAutofit/>
          </a:bodyPr>
          <a:p>
            <a:pPr algn="ctr">
              <a:spcBef>
                <a:spcPts val="0"/>
              </a:spcBef>
              <a:spcAft>
                <a:spcPts val="0"/>
              </a:spcAft>
            </a:pPr>
            <a:r>
              <a:rPr lang="zh-CN" altLang="en-US" sz="2200">
                <a:solidFill>
                  <a:srgbClr val="000000"/>
                </a:solidFill>
                <a:latin typeface="新愚公和谐宋-S" charset="-122"/>
                <a:ea typeface="新愚公和谐宋-S" charset="-122"/>
                <a:cs typeface="新愚公和谐宋-S" charset="-122"/>
                <a:sym typeface="+mn-ea"/>
              </a:rPr>
              <a:t>官方账号</a:t>
            </a:r>
            <a:endParaRPr sz="2200">
              <a:solidFill>
                <a:srgbClr val="000000"/>
              </a:solidFill>
              <a:latin typeface="新愚公和谐宋-S" charset="-122"/>
              <a:ea typeface="新愚公和谐宋-S" charset="-122"/>
              <a:cs typeface="新愚公和谐宋-S" charset="-122"/>
              <a:sym typeface="+mn-ea"/>
            </a:endParaRPr>
          </a:p>
          <a:p>
            <a:pPr algn="ctr">
              <a:spcBef>
                <a:spcPts val="0"/>
              </a:spcBef>
              <a:spcAft>
                <a:spcPts val="0"/>
              </a:spcAft>
            </a:pPr>
            <a:r>
              <a:rPr lang="en-US" altLang="en-US" sz="2200" b="1" i="0">
                <a:solidFill>
                  <a:srgbClr val="B30100"/>
                </a:solidFill>
                <a:latin typeface="新愚公和谐宋-S" charset="-122"/>
                <a:ea typeface="新愚公和谐宋-S" charset="-122"/>
                <a:cs typeface="新愚公和谐宋-S" charset="-122"/>
                <a:sym typeface="+mn-ea"/>
              </a:rPr>
              <a:t>25</a:t>
            </a:r>
            <a:r>
              <a:rPr sz="2200" b="1" i="0">
                <a:solidFill>
                  <a:srgbClr val="B30100"/>
                </a:solidFill>
                <a:latin typeface="新愚公和谐宋-S" charset="-122"/>
                <a:ea typeface="新愚公和谐宋-S" charset="-122"/>
                <a:cs typeface="新愚公和谐宋-S" charset="-122"/>
                <a:sym typeface="+mn-ea"/>
              </a:rPr>
              <a:t>%</a:t>
            </a:r>
            <a:endParaRPr sz="2200" b="1" i="0">
              <a:solidFill>
                <a:srgbClr val="B30100"/>
              </a:solidFill>
              <a:latin typeface="新愚公和谐宋-S" charset="-122"/>
              <a:ea typeface="新愚公和谐宋-S" charset="-122"/>
              <a:cs typeface="新愚公和谐宋-S" charset="-122"/>
            </a:endParaRPr>
          </a:p>
          <a:p>
            <a:pPr algn="ctr">
              <a:spcBef>
                <a:spcPts val="0"/>
              </a:spcBef>
              <a:spcAft>
                <a:spcPts val="0"/>
              </a:spcAft>
            </a:pPr>
            <a:r>
              <a:rPr lang="zh-CN" sz="2200" b="0">
                <a:latin typeface="新愚公和谐宋-S" charset="-122"/>
                <a:ea typeface="新愚公和谐宋-S" charset="-122"/>
                <a:cs typeface="新愚公和谐宋-S" charset="-122"/>
                <a:sym typeface="+mn-ea"/>
              </a:rPr>
              <a:t>(</a:t>
            </a:r>
            <a:r>
              <a:rPr lang="en-US" altLang="zh-CN" sz="2200" b="0">
                <a:latin typeface="新愚公和谐宋-S" charset="-122"/>
                <a:ea typeface="新愚公和谐宋-S" charset="-122"/>
                <a:cs typeface="新愚公和谐宋-S" charset="-122"/>
                <a:sym typeface="+mn-ea"/>
              </a:rPr>
              <a:t>7.5</a:t>
            </a:r>
            <a:r>
              <a:rPr lang="zh-CN" sz="2200" b="0">
                <a:latin typeface="新愚公和谐宋-S" charset="-122"/>
                <a:ea typeface="新愚公和谐宋-S" charset="-122"/>
                <a:cs typeface="新愚公和谐宋-S" charset="-122"/>
                <a:sym typeface="+mn-ea"/>
              </a:rPr>
              <a:t>万)</a:t>
            </a:r>
            <a:endParaRPr lang="zh-CN" sz="2200" b="0">
              <a:latin typeface="新愚公和谐宋-S" charset="-122"/>
              <a:ea typeface="新愚公和谐宋-S" charset="-122"/>
              <a:cs typeface="新愚公和谐宋-S" charset="-122"/>
            </a:endParaRPr>
          </a:p>
          <a:p>
            <a:pPr algn="ctr">
              <a:spcBef>
                <a:spcPts val="0"/>
              </a:spcBef>
              <a:spcAft>
                <a:spcPts val="0"/>
              </a:spcAft>
            </a:pPr>
            <a:endParaRPr lang="zh-CN" altLang="en-US" sz="2200" b="0">
              <a:latin typeface="新愚公和谐宋-S" charset="-122"/>
              <a:ea typeface="新愚公和谐宋-S" charset="-122"/>
              <a:cs typeface="新愚公和谐宋-S" charset="-122"/>
            </a:endParaRPr>
          </a:p>
        </p:txBody>
      </p:sp>
      <p:graphicFrame>
        <p:nvGraphicFramePr>
          <p:cNvPr id="24" name="图表 23"/>
          <p:cNvGraphicFramePr/>
          <p:nvPr>
            <p:custDataLst>
              <p:tags r:id="rId9"/>
            </p:custDataLst>
          </p:nvPr>
        </p:nvGraphicFramePr>
        <p:xfrm>
          <a:off x="4466590" y="3216275"/>
          <a:ext cx="6199505" cy="3564255"/>
        </p:xfrm>
        <a:graphic>
          <a:graphicData uri="http://schemas.openxmlformats.org/drawingml/2006/chart">
            <c:chart xmlns:c="http://schemas.openxmlformats.org/drawingml/2006/chart" xmlns:r="http://schemas.openxmlformats.org/officeDocument/2006/relationships" r:id="rId2"/>
          </a:graphicData>
        </a:graphic>
      </p:graphicFrame>
      <p:sp>
        <p:nvSpPr>
          <p:cNvPr id="25" name="文本框 24"/>
          <p:cNvSpPr txBox="1"/>
          <p:nvPr>
            <p:custDataLst>
              <p:tags r:id="rId10"/>
            </p:custDataLst>
          </p:nvPr>
        </p:nvSpPr>
        <p:spPr>
          <a:xfrm>
            <a:off x="11728450" y="4435475"/>
            <a:ext cx="1319530" cy="927735"/>
          </a:xfrm>
          <a:prstGeom prst="rect">
            <a:avLst/>
          </a:prstGeom>
          <a:noFill/>
        </p:spPr>
        <p:txBody>
          <a:bodyPr wrap="square" rtlCol="0">
            <a:noAutofit/>
          </a:bodyPr>
          <a:p>
            <a:pPr algn="ctr">
              <a:spcBef>
                <a:spcPts val="0"/>
              </a:spcBef>
              <a:spcAft>
                <a:spcPts val="0"/>
              </a:spcAft>
            </a:pPr>
            <a:r>
              <a:rPr lang="zh-CN" altLang="en-US" sz="2200" b="0" i="0">
                <a:solidFill>
                  <a:srgbClr val="343435"/>
                </a:solidFill>
                <a:latin typeface="新愚公和谐宋-S" charset="-122"/>
                <a:ea typeface="新愚公和谐宋-S" charset="-122"/>
                <a:cs typeface="新愚公和谐宋-S" charset="-122"/>
                <a:sym typeface="+mn-ea"/>
              </a:rPr>
              <a:t>联通商城</a:t>
            </a:r>
            <a:r>
              <a:rPr lang="en-US" altLang="en-US" sz="2200" b="1" i="0">
                <a:solidFill>
                  <a:srgbClr val="B30100"/>
                </a:solidFill>
                <a:latin typeface="新愚公和谐宋-S" charset="-122"/>
                <a:ea typeface="新愚公和谐宋-S" charset="-122"/>
                <a:cs typeface="新愚公和谐宋-S" charset="-122"/>
                <a:sym typeface="+mn-ea"/>
              </a:rPr>
              <a:t>25</a:t>
            </a:r>
            <a:r>
              <a:rPr sz="2200" b="1" i="0">
                <a:solidFill>
                  <a:srgbClr val="B30100"/>
                </a:solidFill>
                <a:latin typeface="新愚公和谐宋-S" charset="-122"/>
                <a:ea typeface="新愚公和谐宋-S" charset="-122"/>
                <a:cs typeface="新愚公和谐宋-S" charset="-122"/>
                <a:sym typeface="+mn-ea"/>
              </a:rPr>
              <a:t>%</a:t>
            </a:r>
            <a:endParaRPr sz="2200" b="1" i="0">
              <a:solidFill>
                <a:srgbClr val="B30100"/>
              </a:solidFill>
              <a:latin typeface="新愚公和谐宋-S" charset="-122"/>
              <a:ea typeface="新愚公和谐宋-S" charset="-122"/>
              <a:cs typeface="新愚公和谐宋-S" charset="-122"/>
            </a:endParaRPr>
          </a:p>
          <a:p>
            <a:pPr algn="ctr">
              <a:spcBef>
                <a:spcPts val="0"/>
              </a:spcBef>
              <a:spcAft>
                <a:spcPts val="0"/>
              </a:spcAft>
            </a:pPr>
            <a:r>
              <a:rPr lang="zh-CN" sz="2200" b="0">
                <a:latin typeface="新愚公和谐宋-S" charset="-122"/>
                <a:ea typeface="新愚公和谐宋-S" charset="-122"/>
                <a:cs typeface="新愚公和谐宋-S" charset="-122"/>
                <a:sym typeface="+mn-ea"/>
              </a:rPr>
              <a:t>(</a:t>
            </a:r>
            <a:r>
              <a:rPr lang="en-US" altLang="zh-CN" sz="2200" b="0">
                <a:latin typeface="新愚公和谐宋-S" charset="-122"/>
                <a:ea typeface="新愚公和谐宋-S" charset="-122"/>
                <a:cs typeface="新愚公和谐宋-S" charset="-122"/>
                <a:sym typeface="+mn-ea"/>
              </a:rPr>
              <a:t>7.5</a:t>
            </a:r>
            <a:r>
              <a:rPr lang="zh-CN" sz="2200" b="0">
                <a:latin typeface="新愚公和谐宋-S" charset="-122"/>
                <a:ea typeface="新愚公和谐宋-S" charset="-122"/>
                <a:cs typeface="新愚公和谐宋-S" charset="-122"/>
                <a:sym typeface="+mn-ea"/>
              </a:rPr>
              <a:t>万)</a:t>
            </a:r>
            <a:endParaRPr lang="zh-CN" sz="2200" b="0">
              <a:latin typeface="新愚公和谐宋-S" charset="-122"/>
              <a:ea typeface="新愚公和谐宋-S" charset="-122"/>
              <a:cs typeface="新愚公和谐宋-S" charset="-122"/>
            </a:endParaRPr>
          </a:p>
          <a:p>
            <a:pPr algn="ctr">
              <a:spcBef>
                <a:spcPts val="0"/>
              </a:spcBef>
              <a:spcAft>
                <a:spcPts val="0"/>
              </a:spcAft>
            </a:pPr>
            <a:endParaRPr lang="zh-CN" altLang="en-US" sz="2200" b="0">
              <a:latin typeface="新愚公和谐宋-S" charset="-122"/>
              <a:ea typeface="新愚公和谐宋-S" charset="-122"/>
              <a:cs typeface="新愚公和谐宋-S" charset="-122"/>
            </a:endParaRPr>
          </a:p>
        </p:txBody>
      </p:sp>
      <p:graphicFrame>
        <p:nvGraphicFramePr>
          <p:cNvPr id="32" name="图表 31"/>
          <p:cNvGraphicFramePr/>
          <p:nvPr>
            <p:custDataLst>
              <p:tags r:id="rId11"/>
            </p:custDataLst>
          </p:nvPr>
        </p:nvGraphicFramePr>
        <p:xfrm>
          <a:off x="13903325" y="3292475"/>
          <a:ext cx="6199505" cy="3564255"/>
        </p:xfrm>
        <a:graphic>
          <a:graphicData uri="http://schemas.openxmlformats.org/drawingml/2006/chart">
            <c:chart xmlns:c="http://schemas.openxmlformats.org/drawingml/2006/chart" xmlns:r="http://schemas.openxmlformats.org/officeDocument/2006/relationships" r:id="rId3"/>
          </a:graphicData>
        </a:graphic>
      </p:graphicFrame>
      <p:sp>
        <p:nvSpPr>
          <p:cNvPr id="33" name="文本框 32"/>
          <p:cNvSpPr txBox="1"/>
          <p:nvPr>
            <p:custDataLst>
              <p:tags r:id="rId12"/>
            </p:custDataLst>
          </p:nvPr>
        </p:nvSpPr>
        <p:spPr>
          <a:xfrm>
            <a:off x="16071850" y="4511675"/>
            <a:ext cx="2042795" cy="927735"/>
          </a:xfrm>
          <a:prstGeom prst="rect">
            <a:avLst/>
          </a:prstGeom>
          <a:noFill/>
        </p:spPr>
        <p:txBody>
          <a:bodyPr wrap="square" rtlCol="0">
            <a:noAutofit/>
          </a:bodyPr>
          <a:p>
            <a:pPr algn="ctr">
              <a:spcBef>
                <a:spcPts val="0"/>
              </a:spcBef>
              <a:spcAft>
                <a:spcPts val="0"/>
              </a:spcAft>
            </a:pPr>
            <a:r>
              <a:rPr lang="zh-CN" altLang="en-US" sz="2200" b="0" i="0">
                <a:solidFill>
                  <a:srgbClr val="343435"/>
                </a:solidFill>
                <a:latin typeface="新愚公和谐宋-S" charset="-122"/>
                <a:ea typeface="新愚公和谐宋-S" charset="-122"/>
                <a:cs typeface="新愚公和谐宋-S" charset="-122"/>
                <a:sym typeface="+mn-ea"/>
              </a:rPr>
              <a:t>营业厅/校园</a:t>
            </a:r>
            <a:endParaRPr lang="zh-CN" altLang="en-US" sz="2200" b="0" i="0">
              <a:solidFill>
                <a:srgbClr val="343435"/>
              </a:solidFill>
              <a:latin typeface="新愚公和谐宋-S" charset="-122"/>
              <a:ea typeface="新愚公和谐宋-S" charset="-122"/>
              <a:cs typeface="新愚公和谐宋-S" charset="-122"/>
              <a:sym typeface="+mn-ea"/>
            </a:endParaRPr>
          </a:p>
          <a:p>
            <a:pPr algn="ctr">
              <a:spcBef>
                <a:spcPts val="0"/>
              </a:spcBef>
              <a:spcAft>
                <a:spcPts val="0"/>
              </a:spcAft>
            </a:pPr>
            <a:r>
              <a:rPr lang="en-US" altLang="en-US" sz="2200" b="1" i="0">
                <a:solidFill>
                  <a:srgbClr val="B30100"/>
                </a:solidFill>
                <a:latin typeface="新愚公和谐宋-S" charset="-122"/>
                <a:ea typeface="新愚公和谐宋-S" charset="-122"/>
                <a:cs typeface="新愚公和谐宋-S" charset="-122"/>
                <a:sym typeface="+mn-ea"/>
              </a:rPr>
              <a:t>20</a:t>
            </a:r>
            <a:r>
              <a:rPr sz="2200" b="1" i="0">
                <a:solidFill>
                  <a:srgbClr val="B30100"/>
                </a:solidFill>
                <a:latin typeface="新愚公和谐宋-S" charset="-122"/>
                <a:ea typeface="新愚公和谐宋-S" charset="-122"/>
                <a:cs typeface="新愚公和谐宋-S" charset="-122"/>
                <a:sym typeface="+mn-ea"/>
              </a:rPr>
              <a:t>%</a:t>
            </a:r>
            <a:endParaRPr sz="2200" b="1" i="0">
              <a:solidFill>
                <a:srgbClr val="B30100"/>
              </a:solidFill>
              <a:latin typeface="新愚公和谐宋-S" charset="-122"/>
              <a:ea typeface="新愚公和谐宋-S" charset="-122"/>
              <a:cs typeface="新愚公和谐宋-S" charset="-122"/>
            </a:endParaRPr>
          </a:p>
          <a:p>
            <a:pPr algn="ctr">
              <a:spcBef>
                <a:spcPts val="0"/>
              </a:spcBef>
              <a:spcAft>
                <a:spcPts val="0"/>
              </a:spcAft>
            </a:pPr>
            <a:r>
              <a:rPr lang="zh-CN" sz="2200" b="0">
                <a:latin typeface="新愚公和谐宋-S" charset="-122"/>
                <a:ea typeface="新愚公和谐宋-S" charset="-122"/>
                <a:cs typeface="新愚公和谐宋-S" charset="-122"/>
                <a:sym typeface="+mn-ea"/>
              </a:rPr>
              <a:t>(</a:t>
            </a:r>
            <a:r>
              <a:rPr lang="en-US" altLang="zh-CN" sz="2200" b="0">
                <a:latin typeface="新愚公和谐宋-S" charset="-122"/>
                <a:ea typeface="新愚公和谐宋-S" charset="-122"/>
                <a:cs typeface="新愚公和谐宋-S" charset="-122"/>
                <a:sym typeface="+mn-ea"/>
              </a:rPr>
              <a:t>6</a:t>
            </a:r>
            <a:r>
              <a:rPr lang="zh-CN" sz="2200" b="0">
                <a:latin typeface="新愚公和谐宋-S" charset="-122"/>
                <a:ea typeface="新愚公和谐宋-S" charset="-122"/>
                <a:cs typeface="新愚公和谐宋-S" charset="-122"/>
                <a:sym typeface="+mn-ea"/>
              </a:rPr>
              <a:t>万)</a:t>
            </a:r>
            <a:endParaRPr lang="zh-CN" sz="2200" b="0">
              <a:latin typeface="新愚公和谐宋-S" charset="-122"/>
              <a:ea typeface="新愚公和谐宋-S" charset="-122"/>
              <a:cs typeface="新愚公和谐宋-S" charset="-122"/>
            </a:endParaRPr>
          </a:p>
          <a:p>
            <a:pPr algn="ctr">
              <a:spcBef>
                <a:spcPts val="0"/>
              </a:spcBef>
              <a:spcAft>
                <a:spcPts val="0"/>
              </a:spcAft>
            </a:pPr>
            <a:endParaRPr lang="zh-CN" altLang="en-US" sz="2200" b="0">
              <a:latin typeface="新愚公和谐宋-S" charset="-122"/>
              <a:ea typeface="新愚公和谐宋-S" charset="-122"/>
              <a:cs typeface="新愚公和谐宋-S" charset="-122"/>
            </a:endParaRPr>
          </a:p>
        </p:txBody>
      </p:sp>
      <p:sp>
        <p:nvSpPr>
          <p:cNvPr id="34"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35"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36"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37"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graphicFrame>
        <p:nvGraphicFramePr>
          <p:cNvPr id="38" name="图表 37"/>
          <p:cNvGraphicFramePr/>
          <p:nvPr>
            <p:custDataLst>
              <p:tags r:id="rId13"/>
            </p:custDataLst>
          </p:nvPr>
        </p:nvGraphicFramePr>
        <p:xfrm>
          <a:off x="9199245" y="3213735"/>
          <a:ext cx="6199505" cy="3564255"/>
        </p:xfrm>
        <a:graphic>
          <a:graphicData uri="http://schemas.openxmlformats.org/drawingml/2006/chart">
            <c:chart xmlns:c="http://schemas.openxmlformats.org/drawingml/2006/chart" xmlns:r="http://schemas.openxmlformats.org/officeDocument/2006/relationships" r:id="rId4"/>
          </a:graphicData>
        </a:graphic>
      </p:graphicFrame>
      <p:sp>
        <p:nvSpPr>
          <p:cNvPr id="23" name="文本框 22"/>
          <p:cNvSpPr txBox="1"/>
          <p:nvPr>
            <p:custDataLst>
              <p:tags r:id="rId14"/>
            </p:custDataLst>
          </p:nvPr>
        </p:nvSpPr>
        <p:spPr>
          <a:xfrm>
            <a:off x="7004050" y="4435475"/>
            <a:ext cx="1319530" cy="927735"/>
          </a:xfrm>
          <a:prstGeom prst="rect">
            <a:avLst/>
          </a:prstGeom>
          <a:noFill/>
        </p:spPr>
        <p:txBody>
          <a:bodyPr wrap="square" rtlCol="0">
            <a:noAutofit/>
          </a:bodyPr>
          <a:p>
            <a:pPr algn="ctr">
              <a:spcBef>
                <a:spcPts val="0"/>
              </a:spcBef>
              <a:spcAft>
                <a:spcPts val="0"/>
              </a:spcAft>
            </a:pPr>
            <a:r>
              <a:rPr lang="zh-CN" altLang="en-US" sz="2200">
                <a:solidFill>
                  <a:srgbClr val="000000"/>
                </a:solidFill>
                <a:latin typeface="新愚公和谐宋-S" charset="-122"/>
                <a:ea typeface="新愚公和谐宋-S" charset="-122"/>
                <a:cs typeface="新愚公和谐宋-S" charset="-122"/>
                <a:sym typeface="+mn-ea"/>
              </a:rPr>
              <a:t>达人矩阵</a:t>
            </a:r>
            <a:endParaRPr lang="zh-CN" altLang="en-US" sz="2200">
              <a:solidFill>
                <a:srgbClr val="000000"/>
              </a:solidFill>
              <a:latin typeface="新愚公和谐宋-S" charset="-122"/>
              <a:ea typeface="新愚公和谐宋-S" charset="-122"/>
              <a:cs typeface="新愚公和谐宋-S" charset="-122"/>
              <a:sym typeface="+mn-ea"/>
            </a:endParaRPr>
          </a:p>
          <a:p>
            <a:pPr algn="ctr">
              <a:spcBef>
                <a:spcPts val="0"/>
              </a:spcBef>
              <a:spcAft>
                <a:spcPts val="0"/>
              </a:spcAft>
            </a:pPr>
            <a:r>
              <a:rPr lang="en-US" altLang="en-US" sz="2200" b="1" i="0">
                <a:solidFill>
                  <a:srgbClr val="B30100"/>
                </a:solidFill>
                <a:latin typeface="新愚公和谐宋-S" charset="-122"/>
                <a:ea typeface="新愚公和谐宋-S" charset="-122"/>
                <a:cs typeface="新愚公和谐宋-S" charset="-122"/>
                <a:sym typeface="+mn-ea"/>
              </a:rPr>
              <a:t>3</a:t>
            </a:r>
            <a:r>
              <a:rPr sz="2200" b="1" i="0">
                <a:solidFill>
                  <a:srgbClr val="B30100"/>
                </a:solidFill>
                <a:latin typeface="新愚公和谐宋-S" charset="-122"/>
                <a:ea typeface="新愚公和谐宋-S" charset="-122"/>
                <a:cs typeface="新愚公和谐宋-S" charset="-122"/>
                <a:sym typeface="+mn-ea"/>
              </a:rPr>
              <a:t>0%</a:t>
            </a:r>
            <a:endParaRPr sz="2200" b="1" i="0">
              <a:solidFill>
                <a:srgbClr val="B30100"/>
              </a:solidFill>
              <a:latin typeface="新愚公和谐宋-S" charset="-122"/>
              <a:ea typeface="新愚公和谐宋-S" charset="-122"/>
              <a:cs typeface="新愚公和谐宋-S" charset="-122"/>
            </a:endParaRPr>
          </a:p>
          <a:p>
            <a:pPr algn="ctr">
              <a:spcBef>
                <a:spcPts val="0"/>
              </a:spcBef>
              <a:spcAft>
                <a:spcPts val="0"/>
              </a:spcAft>
            </a:pPr>
            <a:r>
              <a:rPr lang="zh-CN" sz="2200" b="0">
                <a:latin typeface="新愚公和谐宋-S" charset="-122"/>
                <a:ea typeface="新愚公和谐宋-S" charset="-122"/>
                <a:cs typeface="新愚公和谐宋-S" charset="-122"/>
                <a:sym typeface="+mn-ea"/>
              </a:rPr>
              <a:t>(</a:t>
            </a:r>
            <a:r>
              <a:rPr lang="en-US" altLang="zh-CN" sz="2200" b="0">
                <a:latin typeface="新愚公和谐宋-S" charset="-122"/>
                <a:ea typeface="新愚公和谐宋-S" charset="-122"/>
                <a:cs typeface="新愚公和谐宋-S" charset="-122"/>
                <a:sym typeface="+mn-ea"/>
              </a:rPr>
              <a:t>9</a:t>
            </a:r>
            <a:r>
              <a:rPr lang="zh-CN" sz="2200" b="0">
                <a:latin typeface="新愚公和谐宋-S" charset="-122"/>
                <a:ea typeface="新愚公和谐宋-S" charset="-122"/>
                <a:cs typeface="新愚公和谐宋-S" charset="-122"/>
                <a:sym typeface="+mn-ea"/>
              </a:rPr>
              <a:t>万)</a:t>
            </a:r>
            <a:endParaRPr lang="zh-CN" sz="2200" b="0">
              <a:latin typeface="新愚公和谐宋-S" charset="-122"/>
              <a:ea typeface="新愚公和谐宋-S" charset="-122"/>
              <a:cs typeface="新愚公和谐宋-S" charset="-122"/>
            </a:endParaRPr>
          </a:p>
          <a:p>
            <a:pPr algn="ctr">
              <a:spcBef>
                <a:spcPts val="0"/>
              </a:spcBef>
              <a:spcAft>
                <a:spcPts val="0"/>
              </a:spcAft>
            </a:pPr>
            <a:endParaRPr lang="zh-CN" altLang="en-US" sz="2200" b="0">
              <a:latin typeface="新愚公和谐宋-S" charset="-122"/>
              <a:ea typeface="新愚公和谐宋-S" charset="-122"/>
              <a:cs typeface="新愚公和谐宋-S" charset="-122"/>
            </a:endParaRPr>
          </a:p>
        </p:txBody>
      </p:sp>
      <p:sp>
        <p:nvSpPr>
          <p:cNvPr id="39" name="文本框 38"/>
          <p:cNvSpPr txBox="1"/>
          <p:nvPr>
            <p:custDataLst>
              <p:tags r:id="rId15"/>
            </p:custDataLst>
          </p:nvPr>
        </p:nvSpPr>
        <p:spPr>
          <a:xfrm>
            <a:off x="1365250" y="7214870"/>
            <a:ext cx="3129915" cy="601980"/>
          </a:xfrm>
          <a:prstGeom prst="rect">
            <a:avLst/>
          </a:prstGeom>
          <a:noFill/>
        </p:spPr>
        <p:txBody>
          <a:bodyPr wrap="square" rtlCol="0">
            <a:noAutofit/>
          </a:bodyPr>
          <a:p>
            <a:r>
              <a:rPr lang="zh-CN" altLang="en-US" sz="2200">
                <a:solidFill>
                  <a:srgbClr val="343435"/>
                </a:solidFill>
                <a:latin typeface="新愚公和谐宋-S" charset="-122"/>
                <a:ea typeface="新愚公和谐宋-S" charset="-122"/>
              </a:rPr>
              <a:t>世界观发布、剧情推进</a:t>
            </a:r>
            <a:endParaRPr lang="zh-CN" altLang="en-US" sz="2200">
              <a:solidFill>
                <a:srgbClr val="343435"/>
              </a:solidFill>
              <a:latin typeface="新愚公和谐宋-S" charset="-122"/>
              <a:ea typeface="新愚公和谐宋-S" charset="-122"/>
            </a:endParaRPr>
          </a:p>
        </p:txBody>
      </p:sp>
      <p:sp>
        <p:nvSpPr>
          <p:cNvPr id="40" name="文本框 39"/>
          <p:cNvSpPr txBox="1"/>
          <p:nvPr>
            <p:custDataLst>
              <p:tags r:id="rId16"/>
            </p:custDataLst>
          </p:nvPr>
        </p:nvSpPr>
        <p:spPr>
          <a:xfrm>
            <a:off x="6394450" y="7214870"/>
            <a:ext cx="2545080" cy="601980"/>
          </a:xfrm>
          <a:prstGeom prst="rect">
            <a:avLst/>
          </a:prstGeom>
          <a:noFill/>
        </p:spPr>
        <p:txBody>
          <a:bodyPr wrap="square" rtlCol="0">
            <a:noAutofit/>
          </a:bodyPr>
          <a:p>
            <a:r>
              <a:rPr lang="zh-CN" altLang="en-US" sz="2200">
                <a:solidFill>
                  <a:srgbClr val="343435"/>
                </a:solidFill>
                <a:latin typeface="新愚公和谐宋-S" charset="-122"/>
                <a:ea typeface="新愚公和谐宋-S" charset="-122"/>
              </a:rPr>
              <a:t>国风/科技达人种草</a:t>
            </a:r>
            <a:endParaRPr lang="zh-CN" altLang="en-US" sz="2200">
              <a:solidFill>
                <a:srgbClr val="343435"/>
              </a:solidFill>
              <a:latin typeface="新愚公和谐宋-S" charset="-122"/>
              <a:ea typeface="新愚公和谐宋-S" charset="-122"/>
            </a:endParaRPr>
          </a:p>
        </p:txBody>
      </p:sp>
      <p:sp>
        <p:nvSpPr>
          <p:cNvPr id="42" name="文本框 41"/>
          <p:cNvSpPr txBox="1"/>
          <p:nvPr>
            <p:custDataLst>
              <p:tags r:id="rId17"/>
            </p:custDataLst>
          </p:nvPr>
        </p:nvSpPr>
        <p:spPr>
          <a:xfrm>
            <a:off x="10989945" y="7214870"/>
            <a:ext cx="2726690" cy="601980"/>
          </a:xfrm>
          <a:prstGeom prst="rect">
            <a:avLst/>
          </a:prstGeom>
          <a:noFill/>
        </p:spPr>
        <p:txBody>
          <a:bodyPr wrap="square" rtlCol="0">
            <a:noAutofit/>
          </a:bodyPr>
          <a:p>
            <a:r>
              <a:rPr lang="zh-CN" altLang="en-US" sz="2200">
                <a:solidFill>
                  <a:srgbClr val="343435"/>
                </a:solidFill>
                <a:latin typeface="新愚公和谐宋-S" charset="-122"/>
                <a:ea typeface="新愚公和谐宋-S" charset="-122"/>
              </a:rPr>
              <a:t>产品销售、预约引流</a:t>
            </a:r>
            <a:endParaRPr lang="zh-CN" altLang="en-US" sz="2200">
              <a:solidFill>
                <a:srgbClr val="343435"/>
              </a:solidFill>
              <a:latin typeface="新愚公和谐宋-S" charset="-122"/>
              <a:ea typeface="新愚公和谐宋-S" charset="-122"/>
            </a:endParaRPr>
          </a:p>
        </p:txBody>
      </p:sp>
      <p:sp>
        <p:nvSpPr>
          <p:cNvPr id="43" name="文本框 42"/>
          <p:cNvSpPr txBox="1"/>
          <p:nvPr>
            <p:custDataLst>
              <p:tags r:id="rId18"/>
            </p:custDataLst>
          </p:nvPr>
        </p:nvSpPr>
        <p:spPr>
          <a:xfrm>
            <a:off x="15843250" y="7178675"/>
            <a:ext cx="2726690" cy="601980"/>
          </a:xfrm>
          <a:prstGeom prst="rect">
            <a:avLst/>
          </a:prstGeom>
          <a:noFill/>
        </p:spPr>
        <p:txBody>
          <a:bodyPr wrap="square" rtlCol="0">
            <a:noAutofit/>
          </a:bodyPr>
          <a:p>
            <a:r>
              <a:rPr lang="zh-CN" altLang="en-US" sz="2200">
                <a:solidFill>
                  <a:srgbClr val="343435"/>
                </a:solidFill>
                <a:latin typeface="新愚公和谐宋-S" charset="-122"/>
                <a:ea typeface="新愚公和谐宋-S" charset="-122"/>
              </a:rPr>
              <a:t>产品体验、线下互动</a:t>
            </a:r>
            <a:endParaRPr lang="zh-CN" altLang="en-US" sz="2200">
              <a:solidFill>
                <a:srgbClr val="343435"/>
              </a:solidFill>
              <a:latin typeface="新愚公和谐宋-S" charset="-122"/>
              <a:ea typeface="新愚公和谐宋-S" charset="-122"/>
            </a:endParaRPr>
          </a:p>
        </p:txBody>
      </p:sp>
      <p:sp>
        <p:nvSpPr>
          <p:cNvPr id="44" name="文本框 43"/>
          <p:cNvSpPr txBox="1"/>
          <p:nvPr/>
        </p:nvSpPr>
        <p:spPr>
          <a:xfrm>
            <a:off x="1898650" y="8702675"/>
            <a:ext cx="16347440" cy="1350010"/>
          </a:xfrm>
          <a:prstGeom prst="rect">
            <a:avLst/>
          </a:prstGeom>
          <a:noFill/>
        </p:spPr>
        <p:txBody>
          <a:bodyPr wrap="square" rtlCol="0">
            <a:noAutofit/>
          </a:bodyPr>
          <a:p>
            <a:pPr marL="0" indent="0" eaLnBrk="1" fontAlgn="auto" latinLnBrk="0" hangingPunct="1">
              <a:lnSpc>
                <a:spcPct val="150000"/>
              </a:lnSpc>
            </a:pPr>
            <a:r>
              <a:rPr lang="zh-CN" altLang="en-US" sz="2200">
                <a:solidFill>
                  <a:schemeClr val="bg1"/>
                </a:solidFill>
                <a:latin typeface="新愚公和谐宋-S" charset="-122"/>
                <a:ea typeface="新愚公和谐宋-S" charset="-122"/>
                <a:cs typeface="新愚公和谐宋-S" charset="-122"/>
              </a:rPr>
              <a:t>总结：本方案通过“全链路传播矩阵”科学配置30万预算，以高品质文创产品为社交媒介，构建了“线上赋能线下，线下反哺线上”的</a:t>
            </a:r>
            <a:r>
              <a:rPr lang="en-US" altLang="zh-CN" sz="2200">
                <a:solidFill>
                  <a:schemeClr val="bg1"/>
                </a:solidFill>
                <a:latin typeface="Arial" panose="020B0604020202020204" pitchFamily="34" charset="0"/>
                <a:ea typeface="新愚公和谐宋-S" charset="-122"/>
                <a:cs typeface="Arial" panose="020B0604020202020204" pitchFamily="34" charset="0"/>
              </a:rPr>
              <a:t>OMO</a:t>
            </a:r>
            <a:r>
              <a:rPr lang="zh-CN" altLang="en-US" sz="2200">
                <a:solidFill>
                  <a:schemeClr val="bg1"/>
                </a:solidFill>
                <a:latin typeface="新愚公和谐宋-S" charset="-122"/>
                <a:ea typeface="新愚公和谐宋-S" charset="-122"/>
                <a:cs typeface="新愚公和谐宋-S" charset="-122"/>
              </a:rPr>
              <a:t>闭环营销体系。</a:t>
            </a:r>
            <a:endParaRPr lang="zh-CN" altLang="en-US" sz="2200">
              <a:solidFill>
                <a:schemeClr val="bg1"/>
              </a:solidFill>
              <a:latin typeface="新愚公和谐宋-S" charset="-122"/>
              <a:ea typeface="新愚公和谐宋-S" charset="-122"/>
              <a:cs typeface="新愚公和谐宋-S" charset="-122"/>
            </a:endParaRPr>
          </a:p>
        </p:txBody>
      </p:sp>
      <p:sp>
        <p:nvSpPr>
          <p:cNvPr id="46" name="文本框 45"/>
          <p:cNvSpPr txBox="1"/>
          <p:nvPr/>
        </p:nvSpPr>
        <p:spPr>
          <a:xfrm>
            <a:off x="5861050" y="1844675"/>
            <a:ext cx="8324850" cy="1027430"/>
          </a:xfrm>
          <a:prstGeom prst="rect">
            <a:avLst/>
          </a:prstGeom>
          <a:noFill/>
        </p:spPr>
        <p:txBody>
          <a:bodyPr wrap="square" rtlCol="0">
            <a:noAutofit/>
          </a:bodyPr>
          <a:p>
            <a:r>
              <a:rPr lang="zh-CN" altLang="en-US" sz="4200">
                <a:solidFill>
                  <a:srgbClr val="343435"/>
                </a:solidFill>
                <a:latin typeface="新愚公和谐宋-S" charset="-122"/>
                <a:ea typeface="新愚公和谐宋-S" charset="-122"/>
              </a:rPr>
              <a:t>全链路传播矩阵与媒介资源配置表</a:t>
            </a:r>
            <a:endParaRPr lang="zh-CN" altLang="en-US" sz="4200">
              <a:solidFill>
                <a:srgbClr val="343435"/>
              </a:solidFill>
              <a:latin typeface="新愚公和谐宋-S" charset="-122"/>
              <a:ea typeface="新愚公和谐宋-S" charset="-122"/>
            </a:endParaRPr>
          </a:p>
        </p:txBody>
      </p:sp>
      <p:sp>
        <p:nvSpPr>
          <p:cNvPr id="4"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28</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pic>
        <p:nvPicPr>
          <p:cNvPr id="2" name="图片 1" descr="image (28)"/>
          <p:cNvPicPr>
            <a:picLocks noChangeAspect="1"/>
          </p:cNvPicPr>
          <p:nvPr/>
        </p:nvPicPr>
        <p:blipFill>
          <a:blip r:embed="rId2"/>
          <a:stretch>
            <a:fillRect/>
          </a:stretch>
        </p:blipFill>
        <p:spPr>
          <a:xfrm>
            <a:off x="15463404" y="408761"/>
            <a:ext cx="3567431" cy="1470112"/>
          </a:xfrm>
          <a:prstGeom prst="rect">
            <a:avLst/>
          </a:prstGeom>
        </p:spPr>
      </p:pic>
      <p:sp>
        <p:nvSpPr>
          <p:cNvPr id="11" name="TextBox 10"/>
          <p:cNvSpPr txBox="1"/>
          <p:nvPr/>
        </p:nvSpPr>
        <p:spPr>
          <a:xfrm>
            <a:off x="992168" y="901782"/>
            <a:ext cx="4254843" cy="1489117"/>
          </a:xfrm>
          <a:prstGeom prst="rect">
            <a:avLst/>
          </a:prstGeom>
          <a:noFill/>
        </p:spPr>
        <p:txBody>
          <a:bodyPr wrap="none" lIns="0" tIns="0" rIns="0" bIns="0"/>
          <a:lstStyle/>
          <a:p>
            <a:pPr algn="just">
              <a:spcBef>
                <a:spcPts val="0"/>
              </a:spcBef>
              <a:spcAft>
                <a:spcPts val="0"/>
              </a:spcAft>
            </a:pPr>
            <a:endParaRPr lang="zh-CN" sz="5320" b="1">
              <a:latin typeface="微软雅黑" panose="020B0503020204020204" charset="-122"/>
              <a:ea typeface="微软雅黑" panose="020B0503020204020204" charset="-122"/>
            </a:endParaRPr>
          </a:p>
        </p:txBody>
      </p:sp>
      <p:sp>
        <p:nvSpPr>
          <p:cNvPr id="7" name="矩形 6"/>
          <p:cNvSpPr/>
          <p:nvPr/>
        </p:nvSpPr>
        <p:spPr>
          <a:xfrm>
            <a:off x="0" y="1082039"/>
            <a:ext cx="15463404"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latin typeface="Arial" panose="020B0604020202020204" pitchFamily="34" charset="0"/>
              <a:ea typeface="Arial" panose="020B0604020202020204" pitchFamily="34" charset="0"/>
              <a:cs typeface="+mn-ea"/>
            </a:endParaRPr>
          </a:p>
        </p:txBody>
      </p:sp>
      <p:sp>
        <p:nvSpPr>
          <p:cNvPr id="26" name="矩形 25"/>
          <p:cNvSpPr/>
          <p:nvPr/>
        </p:nvSpPr>
        <p:spPr>
          <a:xfrm>
            <a:off x="19102036" y="1082039"/>
            <a:ext cx="1001017"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latin typeface="Arial" panose="020B0604020202020204" pitchFamily="34" charset="0"/>
              <a:ea typeface="Arial" panose="020B0604020202020204" pitchFamily="34" charset="0"/>
              <a:cs typeface="+mn-ea"/>
            </a:endParaRPr>
          </a:p>
        </p:txBody>
      </p:sp>
      <p:sp>
        <p:nvSpPr>
          <p:cNvPr id="4"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27"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8"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9"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graphicFrame>
        <p:nvGraphicFramePr>
          <p:cNvPr id="12" name="表格 11"/>
          <p:cNvGraphicFramePr/>
          <p:nvPr>
            <p:custDataLst>
              <p:tags r:id="rId3"/>
            </p:custDataLst>
          </p:nvPr>
        </p:nvGraphicFramePr>
        <p:xfrm>
          <a:off x="908050" y="2149475"/>
          <a:ext cx="18373725" cy="8259445"/>
        </p:xfrm>
        <a:graphic>
          <a:graphicData uri="http://schemas.openxmlformats.org/drawingml/2006/table">
            <a:tbl>
              <a:tblPr/>
              <a:tblGrid>
                <a:gridCol w="5264150"/>
                <a:gridCol w="2720340"/>
                <a:gridCol w="10389235"/>
              </a:tblGrid>
              <a:tr h="1299845">
                <a:tc>
                  <a:txBody>
                    <a:bodyPr/>
                    <a:p>
                      <a:pPr marL="33655" indent="0" algn="ctr">
                        <a:spcBef>
                          <a:spcPct val="0"/>
                        </a:spcBef>
                        <a:spcAft>
                          <a:spcPct val="0"/>
                        </a:spcAft>
                      </a:pPr>
                      <a:r>
                        <a:rPr lang="zh-CN" sz="3200">
                          <a:solidFill>
                            <a:srgbClr val="343435"/>
                          </a:solidFill>
                          <a:latin typeface="新愚公和谐宋-S" charset="-122"/>
                          <a:ea typeface="新愚公和谐宋-S" charset="-122"/>
                        </a:rPr>
                        <a:t>预算类别</a:t>
                      </a:r>
                      <a:endParaRPr lang="zh-CN" sz="3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sz="3200">
                          <a:solidFill>
                            <a:srgbClr val="343435"/>
                          </a:solidFill>
                          <a:latin typeface="新愚公和谐宋-S" charset="-122"/>
                          <a:ea typeface="新愚公和谐宋-S" charset="-122"/>
                        </a:rPr>
                        <a:t>金额</a:t>
                      </a:r>
                      <a:endParaRPr lang="zh-CN" sz="3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sz="3200">
                          <a:solidFill>
                            <a:srgbClr val="343435"/>
                          </a:solidFill>
                          <a:latin typeface="新愚公和谐宋-S" charset="-122"/>
                          <a:ea typeface="新愚公和谐宋-S" charset="-122"/>
                        </a:rPr>
                        <a:t>核心用途</a:t>
                      </a:r>
                      <a:endParaRPr lang="zh-CN" sz="3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r>
              <a:tr h="869950">
                <a:tc>
                  <a:txBody>
                    <a:bodyPr/>
                    <a:p>
                      <a:pPr marL="33655" indent="0" algn="ctr">
                        <a:spcBef>
                          <a:spcPct val="0"/>
                        </a:spcBef>
                        <a:spcAft>
                          <a:spcPct val="0"/>
                        </a:spcAft>
                      </a:pPr>
                      <a:r>
                        <a:rPr lang="zh-CN" sz="2200">
                          <a:solidFill>
                            <a:srgbClr val="343435"/>
                          </a:solidFill>
                          <a:latin typeface="新愚公和谐宋-S" charset="-122"/>
                          <a:ea typeface="新愚公和谐宋-S" charset="-122"/>
                        </a:rPr>
                        <a:t>产品开发与生产</a:t>
                      </a:r>
                      <a:endParaRPr lang="zh-CN"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en-US" altLang="zh-CN" sz="2200">
                          <a:solidFill>
                            <a:srgbClr val="343435"/>
                          </a:solidFill>
                          <a:latin typeface="新愚公和谐宋-S" charset="-122"/>
                          <a:ea typeface="新愚公和谐宋-S" charset="-122"/>
                          <a:cs typeface="新愚公和谐宋-S" charset="-122"/>
                        </a:rPr>
                        <a:t>12 </a:t>
                      </a:r>
                      <a:r>
                        <a:rPr lang="zh-CN" altLang="en-US" sz="2200">
                          <a:solidFill>
                            <a:srgbClr val="343435"/>
                          </a:solidFill>
                          <a:latin typeface="新愚公和谐宋-S" charset="-122"/>
                          <a:ea typeface="新愚公和谐宋-S" charset="-122"/>
                          <a:cs typeface="新愚公和谐宋-S" charset="-122"/>
                        </a:rPr>
                        <a:t>万</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sz="2200">
                          <a:solidFill>
                            <a:srgbClr val="343435"/>
                          </a:solidFill>
                          <a:latin typeface="新愚公和谐宋-S" charset="-122"/>
                          <a:ea typeface="新愚公和谐宋-S" charset="-122"/>
                        </a:rPr>
                        <a:t>核心文创产品制作</a:t>
                      </a:r>
                      <a:endParaRPr lang="zh-CN"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r>
              <a:tr h="869950">
                <a:tc>
                  <a:txBody>
                    <a:bodyPr/>
                    <a:p>
                      <a:pPr marL="33655" indent="0" algn="ctr">
                        <a:spcBef>
                          <a:spcPct val="0"/>
                        </a:spcBef>
                        <a:spcAft>
                          <a:spcPct val="0"/>
                        </a:spcAft>
                      </a:pPr>
                      <a:r>
                        <a:rPr lang="en-US" altLang="zh-CN" sz="2200">
                          <a:solidFill>
                            <a:srgbClr val="343435"/>
                          </a:solidFill>
                          <a:latin typeface="Arial" panose="020B0604020202020204" pitchFamily="34" charset="0"/>
                          <a:ea typeface="新愚公和谐宋-S" charset="-122"/>
                          <a:cs typeface="Arial" panose="020B0604020202020204" pitchFamily="34" charset="0"/>
                        </a:rPr>
                        <a:t>IP</a:t>
                      </a:r>
                      <a:r>
                        <a:rPr lang="en-US" altLang="zh-CN" sz="2200">
                          <a:solidFill>
                            <a:srgbClr val="343435"/>
                          </a:solidFill>
                          <a:latin typeface="新愚公和谐宋-S" charset="-122"/>
                          <a:ea typeface="新愚公和谐宋-S" charset="-122"/>
                          <a:cs typeface="新愚公和谐宋-S" charset="-122"/>
                        </a:rPr>
                        <a:t> </a:t>
                      </a:r>
                      <a:r>
                        <a:rPr lang="zh-CN" altLang="en-US" sz="2200">
                          <a:solidFill>
                            <a:srgbClr val="343435"/>
                          </a:solidFill>
                          <a:latin typeface="新愚公和谐宋-S" charset="-122"/>
                          <a:ea typeface="新愚公和谐宋-S" charset="-122"/>
                          <a:cs typeface="新愚公和谐宋-S" charset="-122"/>
                        </a:rPr>
                        <a:t>授权</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en-US" altLang="zh-CN" sz="2200">
                          <a:solidFill>
                            <a:srgbClr val="343435"/>
                          </a:solidFill>
                          <a:latin typeface="新愚公和谐宋-S" charset="-122"/>
                          <a:ea typeface="新愚公和谐宋-S" charset="-122"/>
                          <a:cs typeface="新愚公和谐宋-S" charset="-122"/>
                        </a:rPr>
                        <a:t>2 </a:t>
                      </a:r>
                      <a:r>
                        <a:rPr lang="zh-CN" altLang="en-US" sz="2200">
                          <a:solidFill>
                            <a:srgbClr val="343435"/>
                          </a:solidFill>
                          <a:latin typeface="新愚公和谐宋-S" charset="-122"/>
                          <a:ea typeface="新愚公和谐宋-S" charset="-122"/>
                          <a:cs typeface="新愚公和谐宋-S" charset="-122"/>
                        </a:rPr>
                        <a:t>万</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sz="2200">
                          <a:solidFill>
                            <a:srgbClr val="343435"/>
                          </a:solidFill>
                          <a:latin typeface="新愚公和谐宋-S" charset="-122"/>
                          <a:ea typeface="新愚公和谐宋-S" charset="-122"/>
                          <a:cs typeface="新愚公和谐宋-S" charset="-122"/>
                        </a:rPr>
                        <a:t>《唐宫夜宴》</a:t>
                      </a:r>
                      <a:r>
                        <a:rPr lang="en-US" altLang="zh-CN" sz="2200">
                          <a:solidFill>
                            <a:srgbClr val="343435"/>
                          </a:solidFill>
                          <a:latin typeface="新愚公和谐宋-S" charset="-122"/>
                          <a:ea typeface="新愚公和谐宋-S" charset="-122"/>
                          <a:cs typeface="新愚公和谐宋-S" charset="-122"/>
                        </a:rPr>
                        <a:t>IP</a:t>
                      </a:r>
                      <a:r>
                        <a:rPr lang="zh-CN" altLang="en-US" sz="2200">
                          <a:solidFill>
                            <a:srgbClr val="343435"/>
                          </a:solidFill>
                          <a:latin typeface="新愚公和谐宋-S" charset="-122"/>
                          <a:ea typeface="新愚公和谐宋-S" charset="-122"/>
                          <a:cs typeface="新愚公和谐宋-S" charset="-122"/>
                        </a:rPr>
                        <a:t>授权</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r>
              <a:tr h="869950">
                <a:tc>
                  <a:txBody>
                    <a:bodyPr/>
                    <a:p>
                      <a:pPr marL="33655" indent="0" algn="ctr">
                        <a:spcBef>
                          <a:spcPct val="0"/>
                        </a:spcBef>
                        <a:spcAft>
                          <a:spcPct val="0"/>
                        </a:spcAft>
                      </a:pPr>
                      <a:r>
                        <a:rPr lang="en-US" altLang="zh-CN" sz="2200">
                          <a:solidFill>
                            <a:srgbClr val="343435"/>
                          </a:solidFill>
                          <a:latin typeface="Arial" panose="020B0604020202020204" pitchFamily="34" charset="0"/>
                          <a:ea typeface="新愚公和谐宋-S" charset="-122"/>
                          <a:cs typeface="Arial" panose="020B0604020202020204" pitchFamily="34" charset="0"/>
                        </a:rPr>
                        <a:t>H</a:t>
                      </a:r>
                      <a:r>
                        <a:rPr lang="en-US" altLang="zh-CN" sz="2200">
                          <a:solidFill>
                            <a:srgbClr val="343435"/>
                          </a:solidFill>
                          <a:latin typeface="新愚公和谐宋-S" charset="-122"/>
                          <a:ea typeface="新愚公和谐宋-S" charset="-122"/>
                          <a:cs typeface="新愚公和谐宋-S" charset="-122"/>
                        </a:rPr>
                        <a:t>5/</a:t>
                      </a:r>
                      <a:r>
                        <a:rPr lang="en-US" altLang="zh-CN" sz="2200">
                          <a:solidFill>
                            <a:srgbClr val="343435"/>
                          </a:solidFill>
                          <a:latin typeface="Arial" panose="020B0604020202020204" pitchFamily="34" charset="0"/>
                          <a:ea typeface="新愚公和谐宋-S" charset="-122"/>
                          <a:cs typeface="Arial" panose="020B0604020202020204" pitchFamily="34" charset="0"/>
                        </a:rPr>
                        <a:t>AI</a:t>
                      </a:r>
                      <a:r>
                        <a:rPr lang="zh-CN" altLang="en-US" sz="2200">
                          <a:solidFill>
                            <a:srgbClr val="343435"/>
                          </a:solidFill>
                          <a:latin typeface="新愚公和谐宋-S" charset="-122"/>
                          <a:ea typeface="新愚公和谐宋-S" charset="-122"/>
                          <a:cs typeface="新愚公和谐宋-S" charset="-122"/>
                        </a:rPr>
                        <a:t>互动开发</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en-US" altLang="zh-CN" sz="2200">
                          <a:solidFill>
                            <a:srgbClr val="343435"/>
                          </a:solidFill>
                          <a:latin typeface="新愚公和谐宋-S" charset="-122"/>
                          <a:ea typeface="新愚公和谐宋-S" charset="-122"/>
                          <a:cs typeface="新愚公和谐宋-S" charset="-122"/>
                        </a:rPr>
                        <a:t>2 </a:t>
                      </a:r>
                      <a:r>
                        <a:rPr lang="zh-CN" altLang="en-US" sz="2200">
                          <a:solidFill>
                            <a:srgbClr val="343435"/>
                          </a:solidFill>
                          <a:latin typeface="新愚公和谐宋-S" charset="-122"/>
                          <a:ea typeface="新愚公和谐宋-S" charset="-122"/>
                          <a:cs typeface="新愚公和谐宋-S" charset="-122"/>
                        </a:rPr>
                        <a:t>万</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sz="2200">
                          <a:solidFill>
                            <a:srgbClr val="343435"/>
                          </a:solidFill>
                          <a:latin typeface="新愚公和谐宋-S" charset="-122"/>
                          <a:ea typeface="新愚公和谐宋-S" charset="-122"/>
                        </a:rPr>
                        <a:t>系统搭建、后台数据</a:t>
                      </a:r>
                      <a:endParaRPr lang="zh-CN"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r>
              <a:tr h="869950">
                <a:tc>
                  <a:txBody>
                    <a:bodyPr/>
                    <a:p>
                      <a:pPr marL="33655" indent="0" algn="ctr">
                        <a:spcBef>
                          <a:spcPct val="0"/>
                        </a:spcBef>
                        <a:spcAft>
                          <a:spcPct val="0"/>
                        </a:spcAft>
                      </a:pPr>
                      <a:r>
                        <a:rPr lang="zh-CN" sz="2200">
                          <a:solidFill>
                            <a:srgbClr val="343435"/>
                          </a:solidFill>
                          <a:latin typeface="新愚公和谐宋-S" charset="-122"/>
                          <a:ea typeface="新愚公和谐宋-S" charset="-122"/>
                        </a:rPr>
                        <a:t>视觉与</a:t>
                      </a:r>
                      <a:r>
                        <a:rPr lang="zh-CN" sz="2200">
                          <a:solidFill>
                            <a:srgbClr val="343435"/>
                          </a:solidFill>
                          <a:latin typeface="新愚公和谐宋-S" charset="-122"/>
                          <a:ea typeface="新愚公和谐宋-S" charset="-122"/>
                        </a:rPr>
                        <a:t>素材制作</a:t>
                      </a:r>
                      <a:endParaRPr lang="zh-CN"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en-US" altLang="zh-CN" sz="2200">
                          <a:solidFill>
                            <a:srgbClr val="343435"/>
                          </a:solidFill>
                          <a:latin typeface="新愚公和谐宋-S" charset="-122"/>
                          <a:ea typeface="新愚公和谐宋-S" charset="-122"/>
                          <a:cs typeface="新愚公和谐宋-S" charset="-122"/>
                        </a:rPr>
                        <a:t>3 </a:t>
                      </a:r>
                      <a:r>
                        <a:rPr lang="zh-CN" altLang="en-US" sz="2200">
                          <a:solidFill>
                            <a:srgbClr val="343435"/>
                          </a:solidFill>
                          <a:latin typeface="新愚公和谐宋-S" charset="-122"/>
                          <a:ea typeface="新愚公和谐宋-S" charset="-122"/>
                          <a:cs typeface="新愚公和谐宋-S" charset="-122"/>
                        </a:rPr>
                        <a:t>万</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altLang="en-US" sz="2200">
                          <a:solidFill>
                            <a:srgbClr val="343435"/>
                          </a:solidFill>
                          <a:latin typeface="新愚公和谐宋-S" charset="-122"/>
                          <a:ea typeface="新愚公和谐宋-S" charset="-122"/>
                        </a:rPr>
                        <a:t>核心物料与视觉素材（渲染、海报、社交媒体切片）</a:t>
                      </a:r>
                      <a:endParaRPr lang="zh-CN" altLang="en-US"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r>
              <a:tr h="869950">
                <a:tc>
                  <a:txBody>
                    <a:bodyPr/>
                    <a:p>
                      <a:pPr marL="33655" indent="0" algn="ctr">
                        <a:spcBef>
                          <a:spcPct val="0"/>
                        </a:spcBef>
                        <a:spcAft>
                          <a:spcPct val="0"/>
                        </a:spcAft>
                      </a:pPr>
                      <a:r>
                        <a:rPr lang="zh-CN" sz="2200">
                          <a:solidFill>
                            <a:srgbClr val="343435"/>
                          </a:solidFill>
                          <a:latin typeface="新愚公和谐宋-S" charset="-122"/>
                          <a:ea typeface="新愚公和谐宋-S" charset="-122"/>
                        </a:rPr>
                        <a:t>达人传播与广告</a:t>
                      </a:r>
                      <a:endParaRPr lang="zh-CN"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en-US" altLang="zh-CN" sz="2200">
                          <a:solidFill>
                            <a:srgbClr val="343435"/>
                          </a:solidFill>
                          <a:latin typeface="新愚公和谐宋-S" charset="-122"/>
                          <a:ea typeface="新愚公和谐宋-S" charset="-122"/>
                          <a:cs typeface="新愚公和谐宋-S" charset="-122"/>
                        </a:rPr>
                        <a:t>7 </a:t>
                      </a:r>
                      <a:r>
                        <a:rPr lang="zh-CN" altLang="en-US" sz="2200">
                          <a:solidFill>
                            <a:srgbClr val="343435"/>
                          </a:solidFill>
                          <a:latin typeface="新愚公和谐宋-S" charset="-122"/>
                          <a:ea typeface="新愚公和谐宋-S" charset="-122"/>
                          <a:cs typeface="新愚公和谐宋-S" charset="-122"/>
                        </a:rPr>
                        <a:t>万</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sz="2200">
                          <a:solidFill>
                            <a:srgbClr val="343435"/>
                          </a:solidFill>
                          <a:latin typeface="新愚公和谐宋-S" charset="-122"/>
                          <a:ea typeface="新愚公和谐宋-S" charset="-122"/>
                        </a:rPr>
                        <a:t>精准信息流投放、社交传播</a:t>
                      </a:r>
                      <a:r>
                        <a:rPr lang="zh-CN" altLang="en-US" sz="2200">
                          <a:solidFill>
                            <a:srgbClr val="343435"/>
                          </a:solidFill>
                          <a:latin typeface="新愚公和谐宋-S" charset="-122"/>
                          <a:ea typeface="新愚公和谐宋-S" charset="-122"/>
                        </a:rPr>
                        <a:t>媒介组合：小红书(50%)、抖音(30%)、其他(20%)</a:t>
                      </a:r>
                      <a:endParaRPr lang="zh-CN" altLang="en-US"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r>
              <a:tr h="869950">
                <a:tc>
                  <a:txBody>
                    <a:bodyPr/>
                    <a:p>
                      <a:pPr marL="33655" indent="0" algn="ctr">
                        <a:spcBef>
                          <a:spcPct val="0"/>
                        </a:spcBef>
                        <a:spcAft>
                          <a:spcPct val="0"/>
                        </a:spcAft>
                      </a:pPr>
                      <a:r>
                        <a:rPr lang="zh-CN" sz="2200">
                          <a:solidFill>
                            <a:srgbClr val="343435"/>
                          </a:solidFill>
                          <a:latin typeface="新愚公和谐宋-S" charset="-122"/>
                          <a:ea typeface="新愚公和谐宋-S" charset="-122"/>
                        </a:rPr>
                        <a:t>线下活动与快闪</a:t>
                      </a:r>
                      <a:endParaRPr lang="zh-CN"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en-US" altLang="zh-CN" sz="2200">
                          <a:solidFill>
                            <a:srgbClr val="343435"/>
                          </a:solidFill>
                          <a:latin typeface="新愚公和谐宋-S" charset="-122"/>
                          <a:ea typeface="新愚公和谐宋-S" charset="-122"/>
                          <a:cs typeface="新愚公和谐宋-S" charset="-122"/>
                        </a:rPr>
                        <a:t>2 </a:t>
                      </a:r>
                      <a:r>
                        <a:rPr lang="zh-CN" altLang="en-US" sz="2200">
                          <a:solidFill>
                            <a:srgbClr val="343435"/>
                          </a:solidFill>
                          <a:latin typeface="新愚公和谐宋-S" charset="-122"/>
                          <a:ea typeface="新愚公和谐宋-S" charset="-122"/>
                          <a:cs typeface="新愚公和谐宋-S" charset="-122"/>
                        </a:rPr>
                        <a:t>万</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sz="2200">
                          <a:solidFill>
                            <a:srgbClr val="343435"/>
                          </a:solidFill>
                          <a:latin typeface="新愚公和谐宋-S" charset="-122"/>
                          <a:ea typeface="新愚公和谐宋-S" charset="-122"/>
                          <a:cs typeface="新愚公和谐宋-S" charset="-122"/>
                        </a:rPr>
                        <a:t>高校</a:t>
                      </a:r>
                      <a:r>
                        <a:rPr lang="en-US" altLang="zh-CN" sz="2200">
                          <a:solidFill>
                            <a:srgbClr val="343435"/>
                          </a:solidFill>
                          <a:latin typeface="新愚公和谐宋-S" charset="-122"/>
                          <a:ea typeface="新愚公和谐宋-S" charset="-122"/>
                          <a:cs typeface="新愚公和谐宋-S" charset="-122"/>
                        </a:rPr>
                        <a:t>/</a:t>
                      </a:r>
                      <a:r>
                        <a:rPr lang="zh-CN" altLang="en-US" sz="2200">
                          <a:solidFill>
                            <a:srgbClr val="343435"/>
                          </a:solidFill>
                          <a:latin typeface="新愚公和谐宋-S" charset="-122"/>
                          <a:ea typeface="新愚公和谐宋-S" charset="-122"/>
                          <a:cs typeface="新愚公和谐宋-S" charset="-122"/>
                        </a:rPr>
                        <a:t>营业厅活动布置</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r>
              <a:tr h="869950">
                <a:tc>
                  <a:txBody>
                    <a:bodyPr/>
                    <a:p>
                      <a:pPr marL="33655" indent="0" algn="ctr">
                        <a:spcBef>
                          <a:spcPct val="0"/>
                        </a:spcBef>
                        <a:spcAft>
                          <a:spcPct val="0"/>
                        </a:spcAft>
                      </a:pPr>
                      <a:r>
                        <a:rPr lang="zh-CN" sz="2200">
                          <a:solidFill>
                            <a:srgbClr val="343435"/>
                          </a:solidFill>
                          <a:latin typeface="新愚公和谐宋-S" charset="-122"/>
                          <a:ea typeface="新愚公和谐宋-S" charset="-122"/>
                        </a:rPr>
                        <a:t>应急备用</a:t>
                      </a:r>
                      <a:endParaRPr lang="zh-CN"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en-US" altLang="zh-CN" sz="2200">
                          <a:solidFill>
                            <a:srgbClr val="343435"/>
                          </a:solidFill>
                          <a:latin typeface="新愚公和谐宋-S" charset="-122"/>
                          <a:ea typeface="新愚公和谐宋-S" charset="-122"/>
                          <a:cs typeface="新愚公和谐宋-S" charset="-122"/>
                        </a:rPr>
                        <a:t>2 </a:t>
                      </a:r>
                      <a:r>
                        <a:rPr lang="zh-CN" altLang="en-US" sz="2200">
                          <a:solidFill>
                            <a:srgbClr val="343435"/>
                          </a:solidFill>
                          <a:latin typeface="新愚公和谐宋-S" charset="-122"/>
                          <a:ea typeface="新愚公和谐宋-S" charset="-122"/>
                          <a:cs typeface="新愚公和谐宋-S" charset="-122"/>
                        </a:rPr>
                        <a:t>万</a:t>
                      </a:r>
                      <a:endParaRPr lang="zh-CN" altLang="en-US" sz="2200">
                        <a:solidFill>
                          <a:srgbClr val="343435"/>
                        </a:solidFill>
                        <a:latin typeface="新愚公和谐宋-S" charset="-122"/>
                        <a:ea typeface="新愚公和谐宋-S" charset="-122"/>
                        <a:cs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c>
                  <a:txBody>
                    <a:bodyPr/>
                    <a:p>
                      <a:pPr marL="33655" indent="0" algn="ctr">
                        <a:spcBef>
                          <a:spcPct val="0"/>
                        </a:spcBef>
                        <a:spcAft>
                          <a:spcPct val="0"/>
                        </a:spcAft>
                      </a:pPr>
                      <a:r>
                        <a:rPr lang="zh-CN" altLang="en-US" sz="2200">
                          <a:solidFill>
                            <a:srgbClr val="343435"/>
                          </a:solidFill>
                          <a:latin typeface="新愚公和谐宋-S" charset="-122"/>
                          <a:ea typeface="新愚公和谐宋-S" charset="-122"/>
                        </a:rPr>
                        <a:t>舆情监测、技术补单及媒介效果优化预留</a:t>
                      </a:r>
                      <a:endParaRPr lang="zh-CN" altLang="en-US" sz="2200">
                        <a:solidFill>
                          <a:srgbClr val="343435"/>
                        </a:solidFill>
                        <a:latin typeface="新愚公和谐宋-S" charset="-122"/>
                        <a:ea typeface="新愚公和谐宋-S" charset="-122"/>
                      </a:endParaRPr>
                    </a:p>
                  </a:txBody>
                  <a:tcPr marL="9525" marR="9525" marT="9525" marB="9525" anchor="ctr" anchorCtr="0">
                    <a:lnL w="12700">
                      <a:solidFill>
                        <a:srgbClr val="B30100"/>
                      </a:solidFill>
                      <a:prstDash val="solid"/>
                    </a:lnL>
                    <a:lnR w="12700">
                      <a:solidFill>
                        <a:srgbClr val="B30100"/>
                      </a:solidFill>
                      <a:prstDash val="solid"/>
                    </a:lnR>
                    <a:lnT w="12700">
                      <a:solidFill>
                        <a:srgbClr val="B30100"/>
                      </a:solidFill>
                      <a:prstDash val="solid"/>
                    </a:lnT>
                    <a:lnB w="12700">
                      <a:solidFill>
                        <a:srgbClr val="B30100"/>
                      </a:solidFill>
                      <a:prstDash val="solid"/>
                    </a:lnB>
                    <a:lnTlToBr>
                      <a:noFill/>
                    </a:lnTlToBr>
                    <a:lnBlToTr>
                      <a:noFill/>
                    </a:lnBlToTr>
                    <a:solidFill>
                      <a:srgbClr val="FFFFFF"/>
                    </a:solidFill>
                  </a:tcPr>
                </a:tc>
              </a:tr>
            </a:tbl>
          </a:graphicData>
        </a:graphic>
      </p:graphicFrame>
      <p:sp>
        <p:nvSpPr>
          <p:cNvPr id="31" name="矩形 30"/>
          <p:cNvSpPr/>
          <p:nvPr/>
        </p:nvSpPr>
        <p:spPr>
          <a:xfrm>
            <a:off x="-20942" y="10248252"/>
            <a:ext cx="20125042" cy="1063842"/>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4200" b="1">
                <a:latin typeface="新愚公和谐宋-S" charset="-122"/>
                <a:ea typeface="新愚公和谐宋-S" charset="-122"/>
                <a:cs typeface="新愚公和谐宋-S" charset="-122"/>
              </a:rPr>
              <a:t>预算合计：</a:t>
            </a:r>
            <a:r>
              <a:rPr lang="en-US" altLang="zh-CN" sz="4200" b="1">
                <a:latin typeface="新愚公和谐宋-S" charset="-122"/>
                <a:ea typeface="新愚公和谐宋-S" charset="-122"/>
                <a:cs typeface="新愚公和谐宋-S" charset="-122"/>
              </a:rPr>
              <a:t>30</a:t>
            </a:r>
            <a:r>
              <a:rPr lang="zh-CN" altLang="en-US" sz="4200" b="1">
                <a:latin typeface="新愚公和谐宋-S" charset="-122"/>
                <a:ea typeface="新愚公和谐宋-S" charset="-122"/>
                <a:cs typeface="新愚公和谐宋-S" charset="-122"/>
              </a:rPr>
              <a:t>万元</a:t>
            </a:r>
            <a:endParaRPr lang="zh-CN" altLang="en-US" sz="4200" b="1">
              <a:latin typeface="新愚公和谐宋-S" charset="-122"/>
              <a:ea typeface="新愚公和谐宋-S" charset="-122"/>
              <a:cs typeface="新愚公和谐宋-S" charset="-122"/>
            </a:endParaRPr>
          </a:p>
        </p:txBody>
      </p:sp>
      <p:sp>
        <p:nvSpPr>
          <p:cNvPr id="3"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29</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sp>
        <p:nvSpPr>
          <p:cNvPr id="74" name="矩形 73"/>
          <p:cNvSpPr/>
          <p:nvPr/>
        </p:nvSpPr>
        <p:spPr>
          <a:xfrm>
            <a:off x="-20942" y="9154045"/>
            <a:ext cx="20125042" cy="1150750"/>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5275" b="1"/>
          </a:p>
        </p:txBody>
      </p:sp>
      <p:pic>
        <p:nvPicPr>
          <p:cNvPr id="2" name="图片 1" descr="image (28)"/>
          <p:cNvPicPr>
            <a:picLocks noChangeAspect="1"/>
          </p:cNvPicPr>
          <p:nvPr/>
        </p:nvPicPr>
        <p:blipFill>
          <a:blip r:embed="rId2"/>
          <a:stretch>
            <a:fillRect/>
          </a:stretch>
        </p:blipFill>
        <p:spPr>
          <a:xfrm>
            <a:off x="15463404" y="408761"/>
            <a:ext cx="3567431" cy="1470112"/>
          </a:xfrm>
          <a:prstGeom prst="rect">
            <a:avLst/>
          </a:prstGeom>
        </p:spPr>
      </p:pic>
      <p:sp>
        <p:nvSpPr>
          <p:cNvPr id="5" name="TextBox 4"/>
          <p:cNvSpPr txBox="1"/>
          <p:nvPr/>
        </p:nvSpPr>
        <p:spPr>
          <a:xfrm>
            <a:off x="2471784" y="2032299"/>
            <a:ext cx="2887608" cy="795054"/>
          </a:xfrm>
          <a:prstGeom prst="rect">
            <a:avLst/>
          </a:prstGeom>
          <a:noFill/>
        </p:spPr>
        <p:txBody>
          <a:bodyPr wrap="none" lIns="0" tIns="0" rIns="0" bIns="0"/>
          <a:lstStyle/>
          <a:p>
            <a:pPr algn="just">
              <a:lnSpc>
                <a:spcPct val="115000"/>
              </a:lnSpc>
              <a:spcBef>
                <a:spcPts val="0"/>
              </a:spcBef>
              <a:spcAft>
                <a:spcPts val="0"/>
              </a:spcAft>
            </a:pPr>
            <a:r>
              <a:rPr lang="zh-CN" altLang="en-US" sz="4200" b="1" i="0">
                <a:solidFill>
                  <a:srgbClr val="000000"/>
                </a:solidFill>
                <a:latin typeface="新愚公和谐宋-S" charset="-122"/>
                <a:ea typeface="新愚公和谐宋-S" charset="-122"/>
              </a:rPr>
              <a:t>传播</a:t>
            </a:r>
            <a:r>
              <a:rPr sz="4200" b="1" i="0">
                <a:solidFill>
                  <a:srgbClr val="000000"/>
                </a:solidFill>
                <a:latin typeface="新愚公和谐宋-S" charset="-122"/>
                <a:ea typeface="新愚公和谐宋-S" charset="-122"/>
              </a:rPr>
              <a:t>层面</a:t>
            </a:r>
            <a:endParaRPr sz="4200" b="1" i="0">
              <a:solidFill>
                <a:srgbClr val="000000"/>
              </a:solidFill>
              <a:latin typeface="新愚公和谐宋-S" charset="-122"/>
              <a:ea typeface="新愚公和谐宋-S" charset="-122"/>
            </a:endParaRPr>
          </a:p>
        </p:txBody>
      </p:sp>
      <p:sp>
        <p:nvSpPr>
          <p:cNvPr id="6" name="TextBox 5"/>
          <p:cNvSpPr txBox="1"/>
          <p:nvPr/>
        </p:nvSpPr>
        <p:spPr>
          <a:xfrm>
            <a:off x="8858340" y="2108499"/>
            <a:ext cx="2935825" cy="795054"/>
          </a:xfrm>
          <a:prstGeom prst="rect">
            <a:avLst/>
          </a:prstGeom>
          <a:noFill/>
        </p:spPr>
        <p:txBody>
          <a:bodyPr wrap="none" lIns="0" tIns="0" rIns="0" bIns="0"/>
          <a:lstStyle/>
          <a:p>
            <a:pPr algn="just">
              <a:lnSpc>
                <a:spcPct val="112000"/>
              </a:lnSpc>
              <a:spcBef>
                <a:spcPts val="0"/>
              </a:spcBef>
              <a:spcAft>
                <a:spcPts val="0"/>
              </a:spcAft>
            </a:pPr>
            <a:r>
              <a:rPr lang="zh-CN" altLang="en-US" sz="4200" b="1" i="0">
                <a:solidFill>
                  <a:srgbClr val="000000"/>
                </a:solidFill>
                <a:latin typeface="新愚公和谐宋-S" charset="-122"/>
                <a:ea typeface="新愚公和谐宋-S" charset="-122"/>
              </a:rPr>
              <a:t>销售</a:t>
            </a:r>
            <a:r>
              <a:rPr sz="4200" b="1" i="0">
                <a:solidFill>
                  <a:srgbClr val="000000"/>
                </a:solidFill>
                <a:latin typeface="新愚公和谐宋-S" charset="-122"/>
                <a:ea typeface="新愚公和谐宋-S" charset="-122"/>
              </a:rPr>
              <a:t>层面</a:t>
            </a:r>
            <a:endParaRPr sz="4200" b="1" i="0">
              <a:solidFill>
                <a:srgbClr val="000000"/>
              </a:solidFill>
              <a:latin typeface="新愚公和谐宋-S" charset="-122"/>
              <a:ea typeface="新愚公和谐宋-S" charset="-122"/>
            </a:endParaRPr>
          </a:p>
        </p:txBody>
      </p:sp>
      <p:sp>
        <p:nvSpPr>
          <p:cNvPr id="7" name="TextBox 6"/>
          <p:cNvSpPr txBox="1"/>
          <p:nvPr/>
        </p:nvSpPr>
        <p:spPr>
          <a:xfrm>
            <a:off x="15189247" y="2108499"/>
            <a:ext cx="2935825" cy="795054"/>
          </a:xfrm>
          <a:prstGeom prst="rect">
            <a:avLst/>
          </a:prstGeom>
          <a:noFill/>
        </p:spPr>
        <p:txBody>
          <a:bodyPr wrap="none" lIns="0" tIns="0" rIns="0" bIns="0"/>
          <a:lstStyle/>
          <a:p>
            <a:pPr algn="ctr">
              <a:lnSpc>
                <a:spcPct val="112000"/>
              </a:lnSpc>
              <a:spcBef>
                <a:spcPts val="0"/>
              </a:spcBef>
              <a:spcAft>
                <a:spcPts val="0"/>
              </a:spcAft>
            </a:pPr>
            <a:r>
              <a:rPr lang="zh-CN" altLang="en-US" sz="4200" b="1" i="0">
                <a:solidFill>
                  <a:srgbClr val="000000"/>
                </a:solidFill>
                <a:latin typeface="新愚公和谐宋-S" charset="-122"/>
                <a:ea typeface="新愚公和谐宋-S" charset="-122"/>
              </a:rPr>
              <a:t>品牌</a:t>
            </a:r>
            <a:r>
              <a:rPr sz="4200" b="1" i="0">
                <a:solidFill>
                  <a:srgbClr val="000000"/>
                </a:solidFill>
                <a:latin typeface="新愚公和谐宋-S" charset="-122"/>
                <a:ea typeface="新愚公和谐宋-S" charset="-122"/>
              </a:rPr>
              <a:t>层面</a:t>
            </a:r>
            <a:endParaRPr sz="4200" b="1" i="0">
              <a:solidFill>
                <a:srgbClr val="000000"/>
              </a:solidFill>
              <a:latin typeface="新愚公和谐宋-S" charset="-122"/>
              <a:ea typeface="新愚公和谐宋-S" charset="-122"/>
            </a:endParaRPr>
          </a:p>
        </p:txBody>
      </p:sp>
      <p:sp>
        <p:nvSpPr>
          <p:cNvPr id="8" name="TextBox 7"/>
          <p:cNvSpPr txBox="1"/>
          <p:nvPr/>
        </p:nvSpPr>
        <p:spPr>
          <a:xfrm>
            <a:off x="3031490" y="3140075"/>
            <a:ext cx="1289050" cy="688975"/>
          </a:xfrm>
          <a:prstGeom prst="rect">
            <a:avLst/>
          </a:prstGeom>
          <a:noFill/>
        </p:spPr>
        <p:txBody>
          <a:bodyPr wrap="none" lIns="0" tIns="0" rIns="0" bIns="0"/>
          <a:lstStyle/>
          <a:p>
            <a:pPr algn="just">
              <a:lnSpc>
                <a:spcPct val="115000"/>
              </a:lnSpc>
              <a:spcBef>
                <a:spcPts val="0"/>
              </a:spcBef>
              <a:spcAft>
                <a:spcPts val="0"/>
              </a:spcAft>
            </a:pPr>
            <a:r>
              <a:rPr lang="zh-CN" altLang="en-US" sz="2200" b="0" i="0">
                <a:solidFill>
                  <a:srgbClr val="000000"/>
                </a:solidFill>
                <a:latin typeface="新愚公和谐宋-S" charset="-122"/>
                <a:ea typeface="新愚公和谐宋-S" charset="-122"/>
              </a:rPr>
              <a:t>全网曝光</a:t>
            </a:r>
            <a:endParaRPr lang="zh-CN" altLang="en-US" sz="2200" b="0" i="0">
              <a:solidFill>
                <a:srgbClr val="000000"/>
              </a:solidFill>
              <a:latin typeface="新愚公和谐宋-S" charset="-122"/>
              <a:ea typeface="新愚公和谐宋-S" charset="-122"/>
            </a:endParaRPr>
          </a:p>
        </p:txBody>
      </p:sp>
      <p:sp>
        <p:nvSpPr>
          <p:cNvPr id="9" name="TextBox 8"/>
          <p:cNvSpPr txBox="1"/>
          <p:nvPr/>
        </p:nvSpPr>
        <p:spPr>
          <a:xfrm>
            <a:off x="9516745" y="3140075"/>
            <a:ext cx="1039495" cy="453390"/>
          </a:xfrm>
          <a:prstGeom prst="rect">
            <a:avLst/>
          </a:prstGeom>
          <a:noFill/>
        </p:spPr>
        <p:txBody>
          <a:bodyPr wrap="none" lIns="0" tIns="0" rIns="0" bIns="0"/>
          <a:lstStyle/>
          <a:p>
            <a:pPr algn="just">
              <a:lnSpc>
                <a:spcPct val="115000"/>
              </a:lnSpc>
              <a:spcBef>
                <a:spcPts val="0"/>
              </a:spcBef>
              <a:spcAft>
                <a:spcPts val="0"/>
              </a:spcAft>
            </a:pPr>
            <a:r>
              <a:rPr lang="zh-CN" altLang="en-US" sz="2200" b="0" i="0">
                <a:solidFill>
                  <a:srgbClr val="000000"/>
                </a:solidFill>
                <a:latin typeface="新愚公和谐宋-S" charset="-122"/>
                <a:ea typeface="新愚公和谐宋-S" charset="-122"/>
              </a:rPr>
              <a:t>总销量</a:t>
            </a:r>
            <a:endParaRPr lang="zh-CN" altLang="en-US" sz="2200" b="0" i="0">
              <a:solidFill>
                <a:srgbClr val="000000"/>
              </a:solidFill>
              <a:latin typeface="新愚公和谐宋-S" charset="-122"/>
              <a:ea typeface="新愚公和谐宋-S" charset="-122"/>
            </a:endParaRPr>
          </a:p>
        </p:txBody>
      </p:sp>
      <p:sp>
        <p:nvSpPr>
          <p:cNvPr id="11" name="TextBox 10"/>
          <p:cNvSpPr txBox="1"/>
          <p:nvPr/>
        </p:nvSpPr>
        <p:spPr>
          <a:xfrm>
            <a:off x="2206625" y="3829050"/>
            <a:ext cx="3074670" cy="1007110"/>
          </a:xfrm>
          <a:prstGeom prst="rect">
            <a:avLst/>
          </a:prstGeom>
          <a:noFill/>
        </p:spPr>
        <p:txBody>
          <a:bodyPr wrap="none" lIns="0" tIns="0" rIns="0" bIns="0"/>
          <a:lstStyle/>
          <a:p>
            <a:pPr algn="just">
              <a:lnSpc>
                <a:spcPct val="105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1200</a:t>
            </a:r>
            <a:r>
              <a:rPr lang="zh-CN" altLang="en-US" sz="4200" b="1" i="0">
                <a:solidFill>
                  <a:srgbClr val="B30100"/>
                </a:solidFill>
                <a:latin typeface="微软雅黑" panose="020B0503020204020204" charset="-122"/>
                <a:ea typeface="微软雅黑" panose="020B0503020204020204" charset="-122"/>
              </a:rPr>
              <a:t>万</a:t>
            </a:r>
            <a:r>
              <a:rPr sz="4200" b="1" i="0">
                <a:solidFill>
                  <a:srgbClr val="B30100"/>
                </a:solidFill>
                <a:latin typeface="微软雅黑" panose="020B0503020204020204" charset="-122"/>
                <a:ea typeface="微软雅黑" panose="020B0503020204020204" charset="-122"/>
              </a:rPr>
              <a:t>次</a:t>
            </a:r>
            <a:endParaRPr sz="4200" b="1" i="0">
              <a:solidFill>
                <a:srgbClr val="B30100"/>
              </a:solidFill>
              <a:latin typeface="微软雅黑" panose="020B0503020204020204" charset="-122"/>
              <a:ea typeface="微软雅黑" panose="020B0503020204020204" charset="-122"/>
            </a:endParaRPr>
          </a:p>
        </p:txBody>
      </p:sp>
      <p:sp>
        <p:nvSpPr>
          <p:cNvPr id="13" name="TextBox 11"/>
          <p:cNvSpPr txBox="1"/>
          <p:nvPr/>
        </p:nvSpPr>
        <p:spPr>
          <a:xfrm>
            <a:off x="8756650" y="3825875"/>
            <a:ext cx="2573655" cy="1007110"/>
          </a:xfrm>
          <a:prstGeom prst="rect">
            <a:avLst/>
          </a:prstGeom>
          <a:noFill/>
        </p:spPr>
        <p:txBody>
          <a:bodyPr wrap="none" lIns="0" tIns="0" rIns="0" bIns="0"/>
          <a:lstStyle/>
          <a:p>
            <a:pPr algn="just">
              <a:lnSpc>
                <a:spcPct val="103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5000</a:t>
            </a:r>
            <a:r>
              <a:rPr sz="4200" b="1" i="0">
                <a:solidFill>
                  <a:srgbClr val="B30100"/>
                </a:solidFill>
                <a:latin typeface="微软雅黑" panose="020B0503020204020204" charset="-122"/>
                <a:ea typeface="微软雅黑" panose="020B0503020204020204" charset="-122"/>
              </a:rPr>
              <a:t>件</a:t>
            </a:r>
            <a:endParaRPr sz="4200" b="1" i="0">
              <a:solidFill>
                <a:srgbClr val="B30100"/>
              </a:solidFill>
              <a:latin typeface="微软雅黑" panose="020B0503020204020204" charset="-122"/>
              <a:ea typeface="微软雅黑" panose="020B0503020204020204" charset="-122"/>
            </a:endParaRPr>
          </a:p>
        </p:txBody>
      </p:sp>
      <p:sp>
        <p:nvSpPr>
          <p:cNvPr id="24" name="TextBox 21"/>
          <p:cNvSpPr txBox="1"/>
          <p:nvPr/>
        </p:nvSpPr>
        <p:spPr>
          <a:xfrm>
            <a:off x="3799675" y="9388212"/>
            <a:ext cx="12407999" cy="795054"/>
          </a:xfrm>
          <a:prstGeom prst="rect">
            <a:avLst/>
          </a:prstGeom>
          <a:noFill/>
        </p:spPr>
        <p:txBody>
          <a:bodyPr wrap="none" lIns="0" tIns="0" rIns="0" bIns="0"/>
          <a:lstStyle/>
          <a:p>
            <a:pPr algn="ctr">
              <a:lnSpc>
                <a:spcPct val="103000"/>
              </a:lnSpc>
              <a:spcBef>
                <a:spcPts val="0"/>
              </a:spcBef>
              <a:spcAft>
                <a:spcPts val="0"/>
              </a:spcAft>
            </a:pPr>
            <a:r>
              <a:rPr sz="4200" b="1" i="0">
                <a:solidFill>
                  <a:srgbClr val="FFFFFF"/>
                </a:solidFill>
                <a:latin typeface="新愚公和谐宋-S" charset="-122"/>
                <a:ea typeface="新愚公和谐宋-S" charset="-122"/>
              </a:rPr>
              <a:t>实现品牌价值与商业价值的双重增长</a:t>
            </a:r>
            <a:endParaRPr sz="4200" b="1" i="0">
              <a:solidFill>
                <a:srgbClr val="FFFFFF"/>
              </a:solidFill>
              <a:latin typeface="新愚公和谐宋-S" charset="-122"/>
              <a:ea typeface="新愚公和谐宋-S" charset="-122"/>
            </a:endParaRPr>
          </a:p>
        </p:txBody>
      </p:sp>
      <p:cxnSp>
        <p:nvCxnSpPr>
          <p:cNvPr id="26" name="直接连接符 25"/>
          <p:cNvCxnSpPr/>
          <p:nvPr>
            <p:custDataLst>
              <p:tags r:id="rId3"/>
            </p:custDataLst>
          </p:nvPr>
        </p:nvCxnSpPr>
        <p:spPr>
          <a:xfrm flipV="1">
            <a:off x="6697178" y="2108186"/>
            <a:ext cx="14659" cy="6395617"/>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cxnSp>
        <p:nvCxnSpPr>
          <p:cNvPr id="25" name="直接连接符 24"/>
          <p:cNvCxnSpPr/>
          <p:nvPr>
            <p:custDataLst>
              <p:tags r:id="rId4"/>
            </p:custDataLst>
          </p:nvPr>
        </p:nvCxnSpPr>
        <p:spPr>
          <a:xfrm flipV="1">
            <a:off x="13471841" y="2108186"/>
            <a:ext cx="14659" cy="6395617"/>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sp>
        <p:nvSpPr>
          <p:cNvPr id="27" name="矩形 26"/>
          <p:cNvSpPr/>
          <p:nvPr/>
        </p:nvSpPr>
        <p:spPr>
          <a:xfrm>
            <a:off x="0" y="1082039"/>
            <a:ext cx="15463404"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28" name="矩形 27"/>
          <p:cNvSpPr/>
          <p:nvPr/>
        </p:nvSpPr>
        <p:spPr>
          <a:xfrm>
            <a:off x="19102036" y="1082039"/>
            <a:ext cx="1001017"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4"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9"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30"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sp>
        <p:nvSpPr>
          <p:cNvPr id="32" name="TextBox 7"/>
          <p:cNvSpPr txBox="1"/>
          <p:nvPr/>
        </p:nvSpPr>
        <p:spPr>
          <a:xfrm>
            <a:off x="3031490" y="4909820"/>
            <a:ext cx="1289050" cy="688975"/>
          </a:xfrm>
          <a:prstGeom prst="rect">
            <a:avLst/>
          </a:prstGeom>
          <a:noFill/>
        </p:spPr>
        <p:txBody>
          <a:bodyPr wrap="none" lIns="0" tIns="0" rIns="0" bIns="0"/>
          <a:lstStyle/>
          <a:p>
            <a:pPr algn="just">
              <a:lnSpc>
                <a:spcPct val="115000"/>
              </a:lnSpc>
              <a:spcBef>
                <a:spcPts val="0"/>
              </a:spcBef>
              <a:spcAft>
                <a:spcPts val="0"/>
              </a:spcAft>
            </a:pPr>
            <a:r>
              <a:rPr lang="zh-CN" altLang="en-US" sz="2200" b="0" i="0">
                <a:solidFill>
                  <a:srgbClr val="000000"/>
                </a:solidFill>
                <a:latin typeface="新愚公和谐宋-S" charset="-122"/>
                <a:ea typeface="新愚公和谐宋-S" charset="-122"/>
              </a:rPr>
              <a:t>话题阅读</a:t>
            </a:r>
            <a:endParaRPr lang="zh-CN" altLang="en-US" sz="2200" b="0" i="0">
              <a:solidFill>
                <a:srgbClr val="000000"/>
              </a:solidFill>
              <a:latin typeface="新愚公和谐宋-S" charset="-122"/>
              <a:ea typeface="新愚公和谐宋-S" charset="-122"/>
            </a:endParaRPr>
          </a:p>
        </p:txBody>
      </p:sp>
      <p:sp>
        <p:nvSpPr>
          <p:cNvPr id="33" name="TextBox 10"/>
          <p:cNvSpPr txBox="1"/>
          <p:nvPr/>
        </p:nvSpPr>
        <p:spPr>
          <a:xfrm>
            <a:off x="2206625" y="5598795"/>
            <a:ext cx="3074670" cy="1007110"/>
          </a:xfrm>
          <a:prstGeom prst="rect">
            <a:avLst/>
          </a:prstGeom>
          <a:noFill/>
        </p:spPr>
        <p:txBody>
          <a:bodyPr wrap="none" lIns="0" tIns="0" rIns="0" bIns="0"/>
          <a:lstStyle/>
          <a:p>
            <a:pPr algn="just">
              <a:lnSpc>
                <a:spcPct val="105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300</a:t>
            </a:r>
            <a:r>
              <a:rPr lang="zh-CN" altLang="en-US" sz="4200" b="1" i="0">
                <a:solidFill>
                  <a:srgbClr val="B30100"/>
                </a:solidFill>
                <a:latin typeface="微软雅黑" panose="020B0503020204020204" charset="-122"/>
                <a:ea typeface="微软雅黑" panose="020B0503020204020204" charset="-122"/>
              </a:rPr>
              <a:t>万</a:t>
            </a:r>
            <a:r>
              <a:rPr sz="4200" b="1" i="0">
                <a:solidFill>
                  <a:srgbClr val="B30100"/>
                </a:solidFill>
                <a:latin typeface="微软雅黑" panose="020B0503020204020204" charset="-122"/>
                <a:ea typeface="微软雅黑" panose="020B0503020204020204" charset="-122"/>
              </a:rPr>
              <a:t>次</a:t>
            </a:r>
            <a:endParaRPr sz="4200" b="1" i="0">
              <a:solidFill>
                <a:srgbClr val="B30100"/>
              </a:solidFill>
              <a:latin typeface="微软雅黑" panose="020B0503020204020204" charset="-122"/>
              <a:ea typeface="微软雅黑" panose="020B0503020204020204" charset="-122"/>
            </a:endParaRPr>
          </a:p>
        </p:txBody>
      </p:sp>
      <p:sp>
        <p:nvSpPr>
          <p:cNvPr id="34" name="TextBox 7"/>
          <p:cNvSpPr txBox="1"/>
          <p:nvPr/>
        </p:nvSpPr>
        <p:spPr>
          <a:xfrm>
            <a:off x="2982595" y="6873875"/>
            <a:ext cx="1289050" cy="688975"/>
          </a:xfrm>
          <a:prstGeom prst="rect">
            <a:avLst/>
          </a:prstGeom>
          <a:noFill/>
        </p:spPr>
        <p:txBody>
          <a:bodyPr wrap="none" lIns="0" tIns="0" rIns="0" bIns="0"/>
          <a:lstStyle/>
          <a:p>
            <a:pPr algn="just">
              <a:lnSpc>
                <a:spcPct val="115000"/>
              </a:lnSpc>
              <a:spcBef>
                <a:spcPts val="0"/>
              </a:spcBef>
              <a:spcAft>
                <a:spcPts val="0"/>
              </a:spcAft>
            </a:pPr>
            <a:r>
              <a:rPr lang="en-US" altLang="zh-CN" sz="2200" b="0" i="0">
                <a:solidFill>
                  <a:srgbClr val="000000"/>
                </a:solidFill>
                <a:latin typeface="Arial" panose="020B0604020202020204" pitchFamily="34" charset="0"/>
                <a:ea typeface="新愚公和谐宋-S" charset="-122"/>
                <a:cs typeface="Arial" panose="020B0604020202020204" pitchFamily="34" charset="0"/>
              </a:rPr>
              <a:t>H</a:t>
            </a:r>
            <a:r>
              <a:rPr lang="en-US" altLang="zh-CN" sz="2200" b="0" i="0">
                <a:solidFill>
                  <a:srgbClr val="000000"/>
                </a:solidFill>
                <a:latin typeface="新愚公和谐宋-S" charset="-122"/>
                <a:ea typeface="新愚公和谐宋-S" charset="-122"/>
              </a:rPr>
              <a:t>5</a:t>
            </a:r>
            <a:r>
              <a:rPr lang="zh-CN" altLang="en-US" sz="2200" b="0" i="0">
                <a:solidFill>
                  <a:srgbClr val="000000"/>
                </a:solidFill>
                <a:latin typeface="新愚公和谐宋-S" charset="-122"/>
                <a:ea typeface="新愚公和谐宋-S" charset="-122"/>
              </a:rPr>
              <a:t>访问</a:t>
            </a:r>
            <a:endParaRPr lang="zh-CN" altLang="en-US" sz="2200" b="0" i="0">
              <a:solidFill>
                <a:srgbClr val="000000"/>
              </a:solidFill>
              <a:latin typeface="新愚公和谐宋-S" charset="-122"/>
              <a:ea typeface="新愚公和谐宋-S" charset="-122"/>
            </a:endParaRPr>
          </a:p>
        </p:txBody>
      </p:sp>
      <p:sp>
        <p:nvSpPr>
          <p:cNvPr id="35" name="TextBox 10"/>
          <p:cNvSpPr txBox="1"/>
          <p:nvPr/>
        </p:nvSpPr>
        <p:spPr>
          <a:xfrm>
            <a:off x="2157730" y="7562850"/>
            <a:ext cx="2560320" cy="1007110"/>
          </a:xfrm>
          <a:prstGeom prst="rect">
            <a:avLst/>
          </a:prstGeom>
          <a:noFill/>
        </p:spPr>
        <p:txBody>
          <a:bodyPr wrap="none" lIns="0" tIns="0" rIns="0" bIns="0"/>
          <a:lstStyle/>
          <a:p>
            <a:pPr algn="just">
              <a:lnSpc>
                <a:spcPct val="105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12</a:t>
            </a:r>
            <a:r>
              <a:rPr lang="zh-CN" altLang="en-US" sz="4200" b="1" i="0">
                <a:solidFill>
                  <a:srgbClr val="B30100"/>
                </a:solidFill>
                <a:latin typeface="微软雅黑" panose="020B0503020204020204" charset="-122"/>
                <a:ea typeface="微软雅黑" panose="020B0503020204020204" charset="-122"/>
              </a:rPr>
              <a:t>万</a:t>
            </a:r>
            <a:r>
              <a:rPr sz="4200" b="1" i="0">
                <a:solidFill>
                  <a:srgbClr val="B30100"/>
                </a:solidFill>
                <a:latin typeface="微软雅黑" panose="020B0503020204020204" charset="-122"/>
                <a:ea typeface="微软雅黑" panose="020B0503020204020204" charset="-122"/>
              </a:rPr>
              <a:t>次</a:t>
            </a:r>
            <a:endParaRPr sz="4200" b="1" i="0">
              <a:solidFill>
                <a:srgbClr val="B30100"/>
              </a:solidFill>
              <a:latin typeface="微软雅黑" panose="020B0503020204020204" charset="-122"/>
              <a:ea typeface="微软雅黑" panose="020B0503020204020204" charset="-122"/>
            </a:endParaRPr>
          </a:p>
        </p:txBody>
      </p:sp>
      <p:sp>
        <p:nvSpPr>
          <p:cNvPr id="36" name="TextBox 8"/>
          <p:cNvSpPr txBox="1"/>
          <p:nvPr/>
        </p:nvSpPr>
        <p:spPr>
          <a:xfrm>
            <a:off x="9516745" y="4968875"/>
            <a:ext cx="1039495" cy="453390"/>
          </a:xfrm>
          <a:prstGeom prst="rect">
            <a:avLst/>
          </a:prstGeom>
          <a:noFill/>
        </p:spPr>
        <p:txBody>
          <a:bodyPr wrap="none" lIns="0" tIns="0" rIns="0" bIns="0"/>
          <a:lstStyle/>
          <a:p>
            <a:pPr algn="just">
              <a:lnSpc>
                <a:spcPct val="115000"/>
              </a:lnSpc>
              <a:spcBef>
                <a:spcPts val="0"/>
              </a:spcBef>
              <a:spcAft>
                <a:spcPts val="0"/>
              </a:spcAft>
            </a:pPr>
            <a:r>
              <a:rPr lang="zh-CN" altLang="en-US" sz="2200" b="0" i="0">
                <a:solidFill>
                  <a:srgbClr val="000000"/>
                </a:solidFill>
                <a:latin typeface="新愚公和谐宋-S" charset="-122"/>
                <a:ea typeface="新愚公和谐宋-S" charset="-122"/>
              </a:rPr>
              <a:t>销售</a:t>
            </a:r>
            <a:r>
              <a:rPr lang="zh-CN" altLang="en-US" sz="2200" b="0" i="0">
                <a:solidFill>
                  <a:srgbClr val="000000"/>
                </a:solidFill>
                <a:latin typeface="新愚公和谐宋-S" charset="-122"/>
                <a:ea typeface="新愚公和谐宋-S" charset="-122"/>
              </a:rPr>
              <a:t>额</a:t>
            </a:r>
            <a:endParaRPr lang="zh-CN" altLang="en-US" sz="2200" b="0" i="0">
              <a:solidFill>
                <a:srgbClr val="000000"/>
              </a:solidFill>
              <a:latin typeface="新愚公和谐宋-S" charset="-122"/>
              <a:ea typeface="新愚公和谐宋-S" charset="-122"/>
            </a:endParaRPr>
          </a:p>
        </p:txBody>
      </p:sp>
      <p:sp>
        <p:nvSpPr>
          <p:cNvPr id="37" name="TextBox 11"/>
          <p:cNvSpPr txBox="1"/>
          <p:nvPr/>
        </p:nvSpPr>
        <p:spPr>
          <a:xfrm>
            <a:off x="8756650" y="5654675"/>
            <a:ext cx="2573655" cy="1007110"/>
          </a:xfrm>
          <a:prstGeom prst="rect">
            <a:avLst/>
          </a:prstGeom>
          <a:noFill/>
        </p:spPr>
        <p:txBody>
          <a:bodyPr wrap="none" lIns="0" tIns="0" rIns="0" bIns="0"/>
          <a:lstStyle/>
          <a:p>
            <a:pPr algn="just">
              <a:lnSpc>
                <a:spcPct val="103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60</a:t>
            </a:r>
            <a:r>
              <a:rPr lang="zh-CN" altLang="en-US" sz="4200" b="1" i="0">
                <a:solidFill>
                  <a:srgbClr val="B30100"/>
                </a:solidFill>
                <a:latin typeface="微软雅黑" panose="020B0503020204020204" charset="-122"/>
                <a:ea typeface="微软雅黑" panose="020B0503020204020204" charset="-122"/>
              </a:rPr>
              <a:t>万</a:t>
            </a:r>
            <a:endParaRPr lang="zh-CN" altLang="en-US" sz="4200" b="1" i="0">
              <a:solidFill>
                <a:srgbClr val="B30100"/>
              </a:solidFill>
              <a:latin typeface="微软雅黑" panose="020B0503020204020204" charset="-122"/>
              <a:ea typeface="微软雅黑" panose="020B0503020204020204" charset="-122"/>
            </a:endParaRPr>
          </a:p>
        </p:txBody>
      </p:sp>
      <p:sp>
        <p:nvSpPr>
          <p:cNvPr id="38" name="TextBox 8"/>
          <p:cNvSpPr txBox="1"/>
          <p:nvPr/>
        </p:nvSpPr>
        <p:spPr>
          <a:xfrm>
            <a:off x="9465945" y="6873875"/>
            <a:ext cx="1039495" cy="453390"/>
          </a:xfrm>
          <a:prstGeom prst="rect">
            <a:avLst/>
          </a:prstGeom>
          <a:noFill/>
        </p:spPr>
        <p:txBody>
          <a:bodyPr wrap="none" lIns="0" tIns="0" rIns="0" bIns="0"/>
          <a:lstStyle/>
          <a:p>
            <a:pPr algn="just">
              <a:lnSpc>
                <a:spcPct val="115000"/>
              </a:lnSpc>
              <a:spcBef>
                <a:spcPts val="0"/>
              </a:spcBef>
              <a:spcAft>
                <a:spcPts val="0"/>
              </a:spcAft>
            </a:pPr>
            <a:r>
              <a:rPr lang="zh-CN" altLang="en-US" sz="2200" b="0" i="0">
                <a:solidFill>
                  <a:srgbClr val="000000"/>
                </a:solidFill>
                <a:latin typeface="新愚公和谐宋-S" charset="-122"/>
                <a:ea typeface="新愚公和谐宋-S" charset="-122"/>
              </a:rPr>
              <a:t>复购率</a:t>
            </a:r>
            <a:endParaRPr lang="zh-CN" altLang="en-US" sz="2200" b="0" i="0">
              <a:solidFill>
                <a:srgbClr val="000000"/>
              </a:solidFill>
              <a:latin typeface="新愚公和谐宋-S" charset="-122"/>
              <a:ea typeface="新愚公和谐宋-S" charset="-122"/>
            </a:endParaRPr>
          </a:p>
        </p:txBody>
      </p:sp>
      <p:sp>
        <p:nvSpPr>
          <p:cNvPr id="39" name="TextBox 11"/>
          <p:cNvSpPr txBox="1"/>
          <p:nvPr/>
        </p:nvSpPr>
        <p:spPr>
          <a:xfrm>
            <a:off x="8705850" y="7559675"/>
            <a:ext cx="2573655" cy="1007110"/>
          </a:xfrm>
          <a:prstGeom prst="rect">
            <a:avLst/>
          </a:prstGeom>
          <a:noFill/>
        </p:spPr>
        <p:txBody>
          <a:bodyPr wrap="none" lIns="0" tIns="0" rIns="0" bIns="0"/>
          <a:lstStyle/>
          <a:p>
            <a:pPr algn="just">
              <a:lnSpc>
                <a:spcPct val="103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5%</a:t>
            </a:r>
            <a:endParaRPr lang="en-US" altLang="en-US" sz="4200" b="1" i="0">
              <a:solidFill>
                <a:srgbClr val="B30100"/>
              </a:solidFill>
              <a:latin typeface="微软雅黑" panose="020B0503020204020204" charset="-122"/>
              <a:ea typeface="微软雅黑" panose="020B0503020204020204" charset="-122"/>
            </a:endParaRPr>
          </a:p>
        </p:txBody>
      </p:sp>
      <p:sp>
        <p:nvSpPr>
          <p:cNvPr id="40" name="TextBox 8"/>
          <p:cNvSpPr txBox="1"/>
          <p:nvPr/>
        </p:nvSpPr>
        <p:spPr>
          <a:xfrm>
            <a:off x="14471650" y="3194685"/>
            <a:ext cx="4597400" cy="453390"/>
          </a:xfrm>
          <a:prstGeom prst="rect">
            <a:avLst/>
          </a:prstGeom>
          <a:noFill/>
        </p:spPr>
        <p:txBody>
          <a:bodyPr wrap="none" lIns="0" tIns="0" rIns="0" bIns="0"/>
          <a:lstStyle/>
          <a:p>
            <a:pPr algn="just">
              <a:lnSpc>
                <a:spcPct val="115000"/>
              </a:lnSpc>
              <a:spcBef>
                <a:spcPts val="0"/>
              </a:spcBef>
              <a:spcAft>
                <a:spcPts val="0"/>
              </a:spcAft>
            </a:pPr>
            <a:r>
              <a:rPr lang="zh-CN" altLang="en-US" sz="2200" b="0" i="0">
                <a:solidFill>
                  <a:srgbClr val="000000"/>
                </a:solidFill>
                <a:latin typeface="新愚公和谐宋-S" charset="-122"/>
                <a:ea typeface="新愚公和谐宋-S" charset="-122"/>
              </a:rPr>
              <a:t>品牌年轻客群（18-25岁）占比提升</a:t>
            </a:r>
            <a:endParaRPr lang="zh-CN" altLang="en-US" sz="2200" b="0" i="0">
              <a:solidFill>
                <a:srgbClr val="000000"/>
              </a:solidFill>
              <a:latin typeface="新愚公和谐宋-S" charset="-122"/>
              <a:ea typeface="新愚公和谐宋-S" charset="-122"/>
            </a:endParaRPr>
          </a:p>
        </p:txBody>
      </p:sp>
      <p:sp>
        <p:nvSpPr>
          <p:cNvPr id="41" name="TextBox 11"/>
          <p:cNvSpPr txBox="1"/>
          <p:nvPr/>
        </p:nvSpPr>
        <p:spPr>
          <a:xfrm>
            <a:off x="15462250" y="3880485"/>
            <a:ext cx="2573655" cy="1007110"/>
          </a:xfrm>
          <a:prstGeom prst="rect">
            <a:avLst/>
          </a:prstGeom>
          <a:noFill/>
        </p:spPr>
        <p:txBody>
          <a:bodyPr wrap="none" lIns="0" tIns="0" rIns="0" bIns="0"/>
          <a:lstStyle/>
          <a:p>
            <a:pPr algn="just">
              <a:lnSpc>
                <a:spcPct val="103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15%</a:t>
            </a:r>
            <a:endParaRPr sz="4200" b="1" i="0">
              <a:solidFill>
                <a:srgbClr val="B30100"/>
              </a:solidFill>
              <a:latin typeface="微软雅黑" panose="020B0503020204020204" charset="-122"/>
              <a:ea typeface="微软雅黑" panose="020B0503020204020204" charset="-122"/>
            </a:endParaRPr>
          </a:p>
        </p:txBody>
      </p:sp>
      <p:sp>
        <p:nvSpPr>
          <p:cNvPr id="42" name="TextBox 8"/>
          <p:cNvSpPr txBox="1"/>
          <p:nvPr/>
        </p:nvSpPr>
        <p:spPr>
          <a:xfrm>
            <a:off x="14624050" y="5023485"/>
            <a:ext cx="3797935" cy="453390"/>
          </a:xfrm>
          <a:prstGeom prst="rect">
            <a:avLst/>
          </a:prstGeom>
          <a:noFill/>
        </p:spPr>
        <p:txBody>
          <a:bodyPr wrap="none" lIns="0" tIns="0" rIns="0" bIns="0"/>
          <a:lstStyle/>
          <a:p>
            <a:pPr algn="just">
              <a:lnSpc>
                <a:spcPct val="115000"/>
              </a:lnSpc>
              <a:spcBef>
                <a:spcPts val="0"/>
              </a:spcBef>
              <a:spcAft>
                <a:spcPts val="0"/>
              </a:spcAft>
            </a:pPr>
            <a:r>
              <a:rPr lang="zh-CN" altLang="en-US" sz="2200" b="0" i="0">
                <a:solidFill>
                  <a:srgbClr val="000000"/>
                </a:solidFill>
                <a:latin typeface="新愚公和谐宋-S" charset="-122"/>
                <a:ea typeface="新愚公和谐宋-S" charset="-122"/>
              </a:rPr>
              <a:t>“科技文创”关联度词云占比</a:t>
            </a:r>
            <a:endParaRPr lang="zh-CN" altLang="en-US" sz="2200" b="0" i="0">
              <a:solidFill>
                <a:srgbClr val="000000"/>
              </a:solidFill>
              <a:latin typeface="新愚公和谐宋-S" charset="-122"/>
              <a:ea typeface="新愚公和谐宋-S" charset="-122"/>
            </a:endParaRPr>
          </a:p>
        </p:txBody>
      </p:sp>
      <p:sp>
        <p:nvSpPr>
          <p:cNvPr id="43" name="TextBox 11"/>
          <p:cNvSpPr txBox="1"/>
          <p:nvPr/>
        </p:nvSpPr>
        <p:spPr>
          <a:xfrm>
            <a:off x="15462250" y="5709285"/>
            <a:ext cx="2573655" cy="1007110"/>
          </a:xfrm>
          <a:prstGeom prst="rect">
            <a:avLst/>
          </a:prstGeom>
          <a:noFill/>
        </p:spPr>
        <p:txBody>
          <a:bodyPr wrap="none" lIns="0" tIns="0" rIns="0" bIns="0"/>
          <a:lstStyle/>
          <a:p>
            <a:pPr algn="just">
              <a:lnSpc>
                <a:spcPct val="103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40%</a:t>
            </a:r>
            <a:endParaRPr lang="en-US" altLang="en-US" sz="4200" b="1" i="0">
              <a:solidFill>
                <a:srgbClr val="B30100"/>
              </a:solidFill>
              <a:latin typeface="微软雅黑" panose="020B0503020204020204" charset="-122"/>
              <a:ea typeface="微软雅黑" panose="020B0503020204020204" charset="-122"/>
            </a:endParaRPr>
          </a:p>
        </p:txBody>
      </p:sp>
      <p:sp>
        <p:nvSpPr>
          <p:cNvPr id="44" name="TextBox 8"/>
          <p:cNvSpPr txBox="1"/>
          <p:nvPr/>
        </p:nvSpPr>
        <p:spPr>
          <a:xfrm>
            <a:off x="14243050" y="6938645"/>
            <a:ext cx="4907915" cy="453390"/>
          </a:xfrm>
          <a:prstGeom prst="rect">
            <a:avLst/>
          </a:prstGeom>
          <a:noFill/>
        </p:spPr>
        <p:txBody>
          <a:bodyPr wrap="none" lIns="0" tIns="0" rIns="0" bIns="0"/>
          <a:lstStyle/>
          <a:p>
            <a:pPr algn="just">
              <a:lnSpc>
                <a:spcPct val="115000"/>
              </a:lnSpc>
              <a:spcBef>
                <a:spcPts val="0"/>
              </a:spcBef>
              <a:spcAft>
                <a:spcPts val="0"/>
              </a:spcAft>
            </a:pPr>
            <a:r>
              <a:rPr lang="zh-CN" altLang="en-US" sz="2200" b="0" i="0">
                <a:solidFill>
                  <a:srgbClr val="000000"/>
                </a:solidFill>
                <a:latin typeface="新愚公和谐宋-S" charset="-122"/>
                <a:ea typeface="新愚公和谐宋-S" charset="-122"/>
              </a:rPr>
              <a:t>活动用户在联通</a:t>
            </a:r>
            <a:r>
              <a:rPr lang="en-US" altLang="zh-CN" sz="2200" b="0" i="0">
                <a:solidFill>
                  <a:srgbClr val="000000"/>
                </a:solidFill>
                <a:latin typeface="Arial" panose="020B0604020202020204" pitchFamily="34" charset="0"/>
                <a:ea typeface="新愚公和谐宋-S" charset="-122"/>
                <a:cs typeface="Arial" panose="020B0604020202020204" pitchFamily="34" charset="0"/>
              </a:rPr>
              <a:t>APP</a:t>
            </a:r>
            <a:r>
              <a:rPr lang="zh-CN" altLang="en-US" sz="2200" b="0" i="0">
                <a:solidFill>
                  <a:srgbClr val="000000"/>
                </a:solidFill>
                <a:latin typeface="新愚公和谐宋-S" charset="-122"/>
                <a:ea typeface="新愚公和谐宋-S" charset="-122"/>
              </a:rPr>
              <a:t>的30日留存率提升</a:t>
            </a:r>
            <a:endParaRPr lang="zh-CN" altLang="en-US" sz="2200" b="0" i="0">
              <a:solidFill>
                <a:srgbClr val="000000"/>
              </a:solidFill>
              <a:latin typeface="新愚公和谐宋-S" charset="-122"/>
              <a:ea typeface="新愚公和谐宋-S" charset="-122"/>
            </a:endParaRPr>
          </a:p>
        </p:txBody>
      </p:sp>
      <p:sp>
        <p:nvSpPr>
          <p:cNvPr id="45" name="TextBox 11"/>
          <p:cNvSpPr txBox="1"/>
          <p:nvPr/>
        </p:nvSpPr>
        <p:spPr>
          <a:xfrm>
            <a:off x="15411450" y="7614285"/>
            <a:ext cx="2573655" cy="1007110"/>
          </a:xfrm>
          <a:prstGeom prst="rect">
            <a:avLst/>
          </a:prstGeom>
          <a:noFill/>
        </p:spPr>
        <p:txBody>
          <a:bodyPr wrap="none" lIns="0" tIns="0" rIns="0" bIns="0"/>
          <a:lstStyle/>
          <a:p>
            <a:pPr algn="just">
              <a:lnSpc>
                <a:spcPct val="103000"/>
              </a:lnSpc>
              <a:spcBef>
                <a:spcPts val="0"/>
              </a:spcBef>
              <a:spcAft>
                <a:spcPts val="0"/>
              </a:spcAft>
            </a:pPr>
            <a:r>
              <a:rPr sz="4200" b="1" i="0">
                <a:solidFill>
                  <a:srgbClr val="B30100"/>
                </a:solidFill>
                <a:latin typeface="微软雅黑" panose="020B0503020204020204" charset="-122"/>
                <a:ea typeface="微软雅黑" panose="020B0503020204020204" charset="-122"/>
              </a:rPr>
              <a:t>≥</a:t>
            </a:r>
            <a:r>
              <a:rPr lang="en-US" altLang="en-US" sz="4200" b="1" i="0">
                <a:solidFill>
                  <a:srgbClr val="B30100"/>
                </a:solidFill>
                <a:latin typeface="微软雅黑" panose="020B0503020204020204" charset="-122"/>
                <a:ea typeface="微软雅黑" panose="020B0503020204020204" charset="-122"/>
              </a:rPr>
              <a:t>1</a:t>
            </a:r>
            <a:r>
              <a:rPr lang="en-US" altLang="en-US" sz="4200" b="1" i="0">
                <a:solidFill>
                  <a:srgbClr val="B30100"/>
                </a:solidFill>
                <a:latin typeface="微软雅黑" panose="020B0503020204020204" charset="-122"/>
                <a:ea typeface="微软雅黑" panose="020B0503020204020204" charset="-122"/>
              </a:rPr>
              <a:t>5%</a:t>
            </a:r>
            <a:endParaRPr lang="en-US" altLang="en-US" sz="4200" b="1" i="0">
              <a:solidFill>
                <a:srgbClr val="B30100"/>
              </a:solidFill>
              <a:latin typeface="微软雅黑" panose="020B0503020204020204" charset="-122"/>
              <a:ea typeface="微软雅黑" panose="020B0503020204020204" charset="-122"/>
            </a:endParaRPr>
          </a:p>
        </p:txBody>
      </p:sp>
      <p:sp>
        <p:nvSpPr>
          <p:cNvPr id="10"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30</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grpSp>
        <p:nvGrpSpPr>
          <p:cNvPr id="47" name="组合 46"/>
          <p:cNvGrpSpPr/>
          <p:nvPr/>
        </p:nvGrpSpPr>
        <p:grpSpPr>
          <a:xfrm>
            <a:off x="1746250" y="2458720"/>
            <a:ext cx="8510905" cy="7435850"/>
            <a:chOff x="7143" y="3400"/>
            <a:chExt cx="7020" cy="5438"/>
          </a:xfrm>
        </p:grpSpPr>
        <p:sp>
          <p:nvSpPr>
            <p:cNvPr id="48" name="等腰三角形 47"/>
            <p:cNvSpPr/>
            <p:nvPr/>
          </p:nvSpPr>
          <p:spPr>
            <a:xfrm>
              <a:off x="9716" y="3400"/>
              <a:ext cx="1875" cy="1475"/>
            </a:xfrm>
            <a:prstGeom prst="triangle">
              <a:avLst/>
            </a:prstGeom>
            <a:gradFill>
              <a:gsLst>
                <a:gs pos="64000">
                  <a:srgbClr val="EFE3BB"/>
                </a:gs>
                <a:gs pos="0">
                  <a:srgbClr val="D7BA7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latin typeface="Arial" panose="020B0604020202020204" pitchFamily="34" charset="0"/>
                <a:ea typeface="Arial" panose="020B0604020202020204" pitchFamily="34" charset="0"/>
                <a:cs typeface="+mn-ea"/>
              </a:endParaRPr>
            </a:p>
          </p:txBody>
        </p:sp>
        <p:sp>
          <p:nvSpPr>
            <p:cNvPr id="49" name="梯形 48"/>
            <p:cNvSpPr/>
            <p:nvPr/>
          </p:nvSpPr>
          <p:spPr>
            <a:xfrm>
              <a:off x="8461" y="5529"/>
              <a:ext cx="4458" cy="1299"/>
            </a:xfrm>
            <a:prstGeom prst="trapezoid">
              <a:avLst>
                <a:gd name="adj" fmla="val 66514"/>
              </a:avLst>
            </a:prstGeom>
            <a:gradFill>
              <a:gsLst>
                <a:gs pos="64000">
                  <a:srgbClr val="EFE3BB"/>
                </a:gs>
                <a:gs pos="0">
                  <a:srgbClr val="D7BA7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latin typeface="Arial" panose="020B0604020202020204" pitchFamily="34" charset="0"/>
                <a:ea typeface="Arial" panose="020B0604020202020204" pitchFamily="34" charset="0"/>
                <a:cs typeface="+mn-ea"/>
              </a:endParaRPr>
            </a:p>
          </p:txBody>
        </p:sp>
        <p:sp>
          <p:nvSpPr>
            <p:cNvPr id="50" name="梯形 49"/>
            <p:cNvSpPr/>
            <p:nvPr/>
          </p:nvSpPr>
          <p:spPr>
            <a:xfrm>
              <a:off x="7143" y="7540"/>
              <a:ext cx="7021" cy="1299"/>
            </a:xfrm>
            <a:prstGeom prst="trapezoid">
              <a:avLst>
                <a:gd name="adj" fmla="val 66514"/>
              </a:avLst>
            </a:prstGeom>
            <a:gradFill>
              <a:gsLst>
                <a:gs pos="64000">
                  <a:srgbClr val="EFE3BB"/>
                </a:gs>
                <a:gs pos="0">
                  <a:srgbClr val="D7BA7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latin typeface="Arial" panose="020B0604020202020204" pitchFamily="34" charset="0"/>
                <a:ea typeface="Arial" panose="020B0604020202020204" pitchFamily="34" charset="0"/>
                <a:cs typeface="+mn-ea"/>
              </a:endParaRPr>
            </a:p>
          </p:txBody>
        </p:sp>
      </p:grpSp>
      <p:pic>
        <p:nvPicPr>
          <p:cNvPr id="2" name="图片 1" descr="image (28)"/>
          <p:cNvPicPr>
            <a:picLocks noChangeAspect="1"/>
          </p:cNvPicPr>
          <p:nvPr/>
        </p:nvPicPr>
        <p:blipFill>
          <a:blip r:embed="rId2"/>
          <a:stretch>
            <a:fillRect/>
          </a:stretch>
        </p:blipFill>
        <p:spPr>
          <a:xfrm>
            <a:off x="15463404" y="408761"/>
            <a:ext cx="3567431" cy="1470112"/>
          </a:xfrm>
          <a:prstGeom prst="rect">
            <a:avLst/>
          </a:prstGeom>
        </p:spPr>
      </p:pic>
      <p:sp>
        <p:nvSpPr>
          <p:cNvPr id="13" name="TextBox 8"/>
          <p:cNvSpPr txBox="1"/>
          <p:nvPr/>
        </p:nvSpPr>
        <p:spPr>
          <a:xfrm>
            <a:off x="2642870" y="1616075"/>
            <a:ext cx="6679565" cy="636270"/>
          </a:xfrm>
          <a:prstGeom prst="rect">
            <a:avLst/>
          </a:prstGeom>
          <a:noFill/>
        </p:spPr>
        <p:txBody>
          <a:bodyPr wrap="none" lIns="0" tIns="0" rIns="0" bIns="0"/>
          <a:lstStyle/>
          <a:p>
            <a:pPr algn="ctr">
              <a:lnSpc>
                <a:spcPct val="116000"/>
              </a:lnSpc>
              <a:spcBef>
                <a:spcPts val="0"/>
              </a:spcBef>
              <a:spcAft>
                <a:spcPts val="0"/>
              </a:spcAft>
            </a:pPr>
            <a:r>
              <a:rPr lang="en-US" altLang="zh-CN" sz="4200" b="1" i="0">
                <a:solidFill>
                  <a:srgbClr val="B30100"/>
                </a:solidFill>
                <a:latin typeface="Arial" panose="020B0604020202020204" pitchFamily="34" charset="0"/>
                <a:ea typeface="新愚公和谐宋-S" charset="-122"/>
                <a:cs typeface="Arial" panose="020B0604020202020204" pitchFamily="34" charset="0"/>
              </a:rPr>
              <a:t>KPI</a:t>
            </a:r>
            <a:r>
              <a:rPr lang="zh-CN" altLang="en-US" sz="4200" b="1" i="0">
                <a:solidFill>
                  <a:srgbClr val="B30100"/>
                </a:solidFill>
                <a:latin typeface="新愚公和谐宋-S" charset="-122"/>
                <a:ea typeface="新愚公和谐宋-S" charset="-122"/>
              </a:rPr>
              <a:t>评价体系与执行效能评估</a:t>
            </a:r>
            <a:endParaRPr lang="zh-CN" altLang="en-US" sz="4200" b="1" i="0">
              <a:solidFill>
                <a:srgbClr val="B30100"/>
              </a:solidFill>
              <a:latin typeface="新愚公和谐宋-S" charset="-122"/>
              <a:ea typeface="新愚公和谐宋-S" charset="-122"/>
            </a:endParaRPr>
          </a:p>
        </p:txBody>
      </p:sp>
      <p:sp>
        <p:nvSpPr>
          <p:cNvPr id="14" name="TextBox 9"/>
          <p:cNvSpPr txBox="1"/>
          <p:nvPr/>
        </p:nvSpPr>
        <p:spPr>
          <a:xfrm>
            <a:off x="14429681" y="1768690"/>
            <a:ext cx="2300348" cy="636105"/>
          </a:xfrm>
          <a:prstGeom prst="rect">
            <a:avLst/>
          </a:prstGeom>
          <a:noFill/>
        </p:spPr>
        <p:txBody>
          <a:bodyPr wrap="none" lIns="0" tIns="0" rIns="0" bIns="0"/>
          <a:lstStyle/>
          <a:p>
            <a:pPr algn="just">
              <a:lnSpc>
                <a:spcPct val="113000"/>
              </a:lnSpc>
              <a:spcBef>
                <a:spcPts val="0"/>
              </a:spcBef>
              <a:spcAft>
                <a:spcPts val="0"/>
              </a:spcAft>
            </a:pPr>
            <a:r>
              <a:rPr lang="zh-CN" altLang="en-US" sz="4200" b="1" i="0">
                <a:solidFill>
                  <a:srgbClr val="B30100"/>
                </a:solidFill>
                <a:latin typeface="新愚公和谐宋-S" charset="-122"/>
                <a:ea typeface="新愚公和谐宋-S" charset="-122"/>
              </a:rPr>
              <a:t>验证逻辑</a:t>
            </a:r>
            <a:endParaRPr lang="zh-CN" altLang="en-US" sz="4200" b="1" i="0">
              <a:solidFill>
                <a:srgbClr val="B30100"/>
              </a:solidFill>
              <a:latin typeface="新愚公和谐宋-S" charset="-122"/>
              <a:ea typeface="新愚公和谐宋-S" charset="-122"/>
            </a:endParaRPr>
          </a:p>
        </p:txBody>
      </p:sp>
      <p:sp>
        <p:nvSpPr>
          <p:cNvPr id="16" name="TextBox 11"/>
          <p:cNvSpPr txBox="1"/>
          <p:nvPr/>
        </p:nvSpPr>
        <p:spPr>
          <a:xfrm>
            <a:off x="4946650" y="3368675"/>
            <a:ext cx="2075180" cy="767715"/>
          </a:xfrm>
          <a:prstGeom prst="rect">
            <a:avLst/>
          </a:prstGeom>
          <a:noFill/>
        </p:spPr>
        <p:txBody>
          <a:bodyPr wrap="none" lIns="0" tIns="0" rIns="0" bIns="0"/>
          <a:lstStyle/>
          <a:p>
            <a:pPr algn="ctr">
              <a:lnSpc>
                <a:spcPct val="116000"/>
              </a:lnSpc>
              <a:spcBef>
                <a:spcPts val="0"/>
              </a:spcBef>
              <a:spcAft>
                <a:spcPts val="0"/>
              </a:spcAft>
            </a:pPr>
            <a:r>
              <a:rPr sz="4200" b="1" i="0">
                <a:solidFill>
                  <a:srgbClr val="343435"/>
                </a:solidFill>
                <a:latin typeface="新愚公和谐宋-S" charset="-122"/>
                <a:ea typeface="新愚公和谐宋-S" charset="-122"/>
              </a:rPr>
              <a:t>品牌层</a:t>
            </a:r>
            <a:endParaRPr sz="4200" b="1" i="0">
              <a:solidFill>
                <a:srgbClr val="343435"/>
              </a:solidFill>
              <a:latin typeface="新愚公和谐宋-S" charset="-122"/>
              <a:ea typeface="新愚公和谐宋-S" charset="-122"/>
            </a:endParaRPr>
          </a:p>
        </p:txBody>
      </p:sp>
      <p:sp>
        <p:nvSpPr>
          <p:cNvPr id="31" name="TextBox 12"/>
          <p:cNvSpPr txBox="1"/>
          <p:nvPr/>
        </p:nvSpPr>
        <p:spPr>
          <a:xfrm>
            <a:off x="4337050" y="4681855"/>
            <a:ext cx="3597910" cy="1326515"/>
          </a:xfrm>
          <a:prstGeom prst="rect">
            <a:avLst/>
          </a:prstGeom>
          <a:noFill/>
        </p:spPr>
        <p:txBody>
          <a:bodyPr wrap="none" lIns="0" tIns="0" rIns="0" bIns="0"/>
          <a:lstStyle/>
          <a:p>
            <a:pPr algn="just">
              <a:lnSpc>
                <a:spcPct val="132000"/>
              </a:lnSpc>
              <a:spcBef>
                <a:spcPts val="0"/>
              </a:spcBef>
              <a:spcAft>
                <a:spcPts val="0"/>
              </a:spcAft>
            </a:pPr>
            <a:r>
              <a:rPr lang="zh-CN" altLang="en-US" sz="2200" b="0" i="0">
                <a:solidFill>
                  <a:srgbClr val="343435"/>
                </a:solidFill>
                <a:latin typeface="新愚公和谐宋-S" charset="-122"/>
                <a:ea typeface="新愚公和谐宋-S" charset="-122"/>
                <a:cs typeface="新愚公和谐宋-S" charset="-122"/>
              </a:rPr>
              <a:t>8-25岁客群占比提升≥15%</a:t>
            </a:r>
            <a:endParaRPr lang="zh-CN" altLang="en-US" sz="2200" b="0" i="0">
              <a:solidFill>
                <a:srgbClr val="343435"/>
              </a:solidFill>
              <a:latin typeface="新愚公和谐宋-S" charset="-122"/>
              <a:ea typeface="新愚公和谐宋-S" charset="-122"/>
              <a:cs typeface="新愚公和谐宋-S" charset="-122"/>
            </a:endParaRPr>
          </a:p>
        </p:txBody>
      </p:sp>
      <p:sp>
        <p:nvSpPr>
          <p:cNvPr id="35" name="TextBox 14"/>
          <p:cNvSpPr txBox="1"/>
          <p:nvPr/>
        </p:nvSpPr>
        <p:spPr>
          <a:xfrm>
            <a:off x="5022850" y="5883275"/>
            <a:ext cx="2075180" cy="767715"/>
          </a:xfrm>
          <a:prstGeom prst="rect">
            <a:avLst/>
          </a:prstGeom>
          <a:noFill/>
        </p:spPr>
        <p:txBody>
          <a:bodyPr wrap="none" lIns="0" tIns="0" rIns="0" bIns="0"/>
          <a:lstStyle/>
          <a:p>
            <a:pPr algn="ctr">
              <a:lnSpc>
                <a:spcPct val="116000"/>
              </a:lnSpc>
              <a:spcBef>
                <a:spcPts val="0"/>
              </a:spcBef>
              <a:spcAft>
                <a:spcPts val="0"/>
              </a:spcAft>
            </a:pPr>
            <a:r>
              <a:rPr sz="4200" b="1" i="0">
                <a:solidFill>
                  <a:srgbClr val="343435"/>
                </a:solidFill>
                <a:latin typeface="新愚公和谐宋-S" charset="-122"/>
                <a:ea typeface="新愚公和谐宋-S" charset="-122"/>
              </a:rPr>
              <a:t>创新层</a:t>
            </a:r>
            <a:endParaRPr sz="4200" b="1" i="0">
              <a:solidFill>
                <a:srgbClr val="343435"/>
              </a:solidFill>
              <a:latin typeface="新愚公和谐宋-S" charset="-122"/>
              <a:ea typeface="新愚公和谐宋-S" charset="-122"/>
            </a:endParaRPr>
          </a:p>
        </p:txBody>
      </p:sp>
      <p:sp>
        <p:nvSpPr>
          <p:cNvPr id="38" name="TextBox 17"/>
          <p:cNvSpPr txBox="1"/>
          <p:nvPr/>
        </p:nvSpPr>
        <p:spPr>
          <a:xfrm>
            <a:off x="4966335" y="8609330"/>
            <a:ext cx="2131695" cy="703580"/>
          </a:xfrm>
          <a:prstGeom prst="rect">
            <a:avLst/>
          </a:prstGeom>
          <a:noFill/>
        </p:spPr>
        <p:txBody>
          <a:bodyPr wrap="none" lIns="0" tIns="0" rIns="0" bIns="0"/>
          <a:lstStyle/>
          <a:p>
            <a:pPr algn="ctr">
              <a:lnSpc>
                <a:spcPct val="103000"/>
              </a:lnSpc>
              <a:spcBef>
                <a:spcPts val="0"/>
              </a:spcBef>
              <a:spcAft>
                <a:spcPts val="0"/>
              </a:spcAft>
            </a:pPr>
            <a:r>
              <a:rPr sz="4200" b="1" i="0">
                <a:solidFill>
                  <a:srgbClr val="343435"/>
                </a:solidFill>
                <a:latin typeface="新愚公和谐宋-S" charset="-122"/>
                <a:ea typeface="新愚公和谐宋-S" charset="-122"/>
              </a:rPr>
              <a:t>商业层</a:t>
            </a:r>
            <a:endParaRPr sz="4200" b="1" i="0">
              <a:solidFill>
                <a:srgbClr val="343435"/>
              </a:solidFill>
              <a:latin typeface="新愚公和谐宋-S" charset="-122"/>
              <a:ea typeface="新愚公和谐宋-S" charset="-122"/>
            </a:endParaRPr>
          </a:p>
        </p:txBody>
      </p:sp>
      <p:sp>
        <p:nvSpPr>
          <p:cNvPr id="5" name="矩形 4"/>
          <p:cNvSpPr/>
          <p:nvPr/>
        </p:nvSpPr>
        <p:spPr>
          <a:xfrm>
            <a:off x="0" y="1082039"/>
            <a:ext cx="15463404"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latin typeface="Arial" panose="020B0604020202020204" pitchFamily="34" charset="0"/>
              <a:ea typeface="Arial" panose="020B0604020202020204" pitchFamily="34" charset="0"/>
              <a:cs typeface="+mn-ea"/>
            </a:endParaRPr>
          </a:p>
        </p:txBody>
      </p:sp>
      <p:sp>
        <p:nvSpPr>
          <p:cNvPr id="6" name="矩形 5"/>
          <p:cNvSpPr/>
          <p:nvPr/>
        </p:nvSpPr>
        <p:spPr>
          <a:xfrm>
            <a:off x="19102036" y="1082039"/>
            <a:ext cx="1001017"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latin typeface="Arial" panose="020B0604020202020204" pitchFamily="34" charset="0"/>
              <a:ea typeface="Arial" panose="020B0604020202020204" pitchFamily="34" charset="0"/>
              <a:cs typeface="+mn-ea"/>
            </a:endParaRPr>
          </a:p>
        </p:txBody>
      </p:sp>
      <p:sp>
        <p:nvSpPr>
          <p:cNvPr id="3" name="文本框 2"/>
          <p:cNvSpPr txBox="1"/>
          <p:nvPr>
            <p:custDataLst>
              <p:tags r:id="rId3"/>
            </p:custDataLst>
          </p:nvPr>
        </p:nvSpPr>
        <p:spPr>
          <a:xfrm>
            <a:off x="2152650" y="7331075"/>
            <a:ext cx="7967345" cy="598805"/>
          </a:xfrm>
          <a:prstGeom prst="rect">
            <a:avLst/>
          </a:prstGeom>
          <a:noFill/>
        </p:spPr>
        <p:txBody>
          <a:bodyPr wrap="square" rtlCol="0">
            <a:spAutoFit/>
          </a:bodyPr>
          <a:p>
            <a:pPr indent="0" fontAlgn="auto">
              <a:lnSpc>
                <a:spcPct val="150000"/>
              </a:lnSpc>
            </a:pPr>
            <a:r>
              <a:rPr lang="zh-CN" altLang="en-US" sz="2200" b="0" i="0">
                <a:solidFill>
                  <a:srgbClr val="343435"/>
                </a:solidFill>
                <a:latin typeface="新愚公和谐宋-S" charset="-122"/>
                <a:ea typeface="新愚公和谐宋-S" charset="-122"/>
                <a:cs typeface="新愚公和谐宋-S" charset="-122"/>
                <a:sym typeface="+mn-ea"/>
              </a:rPr>
              <a:t>“科技文创”关联占比≥40%、平均互动时长≥90秒</a:t>
            </a:r>
            <a:endParaRPr lang="zh-CN" altLang="en-US" sz="2200" b="0" i="0">
              <a:solidFill>
                <a:srgbClr val="343435"/>
              </a:solidFill>
              <a:latin typeface="新愚公和谐宋-S" charset="-122"/>
              <a:ea typeface="新愚公和谐宋-S" charset="-122"/>
              <a:cs typeface="新愚公和谐宋-S" charset="-122"/>
              <a:sym typeface="+mn-ea"/>
            </a:endParaRPr>
          </a:p>
        </p:txBody>
      </p:sp>
      <p:sp>
        <p:nvSpPr>
          <p:cNvPr id="4" name="文本框 3"/>
          <p:cNvSpPr txBox="1"/>
          <p:nvPr>
            <p:custDataLst>
              <p:tags r:id="rId4"/>
            </p:custDataLst>
          </p:nvPr>
        </p:nvSpPr>
        <p:spPr>
          <a:xfrm>
            <a:off x="3194050" y="10068560"/>
            <a:ext cx="5884545" cy="598805"/>
          </a:xfrm>
          <a:prstGeom prst="rect">
            <a:avLst/>
          </a:prstGeom>
          <a:noFill/>
        </p:spPr>
        <p:txBody>
          <a:bodyPr wrap="square" rtlCol="0">
            <a:spAutoFit/>
          </a:bodyPr>
          <a:p>
            <a:pPr indent="0" fontAlgn="auto">
              <a:lnSpc>
                <a:spcPct val="150000"/>
              </a:lnSpc>
            </a:pPr>
            <a:r>
              <a:rPr lang="zh-CN" altLang="en-US" sz="2200" b="0" i="0">
                <a:solidFill>
                  <a:srgbClr val="343435"/>
                </a:solidFill>
                <a:latin typeface="新愚公和谐宋-S" charset="-122"/>
                <a:ea typeface="新愚公和谐宋-S" charset="-122"/>
                <a:cs typeface="新愚公和谐宋-S" charset="-122"/>
                <a:sym typeface="+mn-ea"/>
              </a:rPr>
              <a:t>总销量0.5-0.8万件、新会员转化占比≥10%</a:t>
            </a:r>
            <a:endParaRPr lang="zh-CN" altLang="en-US" sz="2200" b="0" i="0">
              <a:solidFill>
                <a:srgbClr val="343435"/>
              </a:solidFill>
              <a:latin typeface="新愚公和谐宋-S" charset="-122"/>
              <a:ea typeface="新愚公和谐宋-S" charset="-122"/>
              <a:cs typeface="新愚公和谐宋-S" charset="-122"/>
              <a:sym typeface="+mn-ea"/>
            </a:endParaRPr>
          </a:p>
        </p:txBody>
      </p:sp>
      <p:sp>
        <p:nvSpPr>
          <p:cNvPr id="7" name="文本框 6"/>
          <p:cNvSpPr txBox="1"/>
          <p:nvPr>
            <p:custDataLst>
              <p:tags r:id="rId5"/>
            </p:custDataLst>
          </p:nvPr>
        </p:nvSpPr>
        <p:spPr>
          <a:xfrm>
            <a:off x="13252450" y="3398520"/>
            <a:ext cx="4291965" cy="607695"/>
          </a:xfrm>
          <a:prstGeom prst="rect">
            <a:avLst/>
          </a:prstGeom>
          <a:noFill/>
        </p:spPr>
        <p:txBody>
          <a:bodyPr wrap="square" rtlCol="0">
            <a:noAutofit/>
          </a:bodyPr>
          <a:p>
            <a:pPr>
              <a:lnSpc>
                <a:spcPct val="132000"/>
              </a:lnSpc>
              <a:spcBef>
                <a:spcPts val="0"/>
              </a:spcBef>
              <a:spcAft>
                <a:spcPts val="0"/>
              </a:spcAft>
            </a:pPr>
            <a:r>
              <a:rPr lang="zh-CN" altLang="en-US" sz="2200" b="0" i="0">
                <a:solidFill>
                  <a:srgbClr val="343435"/>
                </a:solidFill>
                <a:latin typeface="新愚公和谐宋-S" charset="-122"/>
                <a:ea typeface="新愚公和谐宋-S" charset="-122"/>
                <a:cs typeface="新愚公和谐宋-S" charset="-122"/>
                <a:sym typeface="+mn-ea"/>
              </a:rPr>
              <a:t>验证品牌心智的年轻化重塑效果</a:t>
            </a:r>
            <a:endParaRPr lang="zh-CN" altLang="en-US" sz="2200" b="0" i="0">
              <a:solidFill>
                <a:srgbClr val="343435"/>
              </a:solidFill>
              <a:latin typeface="新愚公和谐宋-S" charset="-122"/>
              <a:ea typeface="新愚公和谐宋-S" charset="-122"/>
              <a:cs typeface="新愚公和谐宋-S" charset="-122"/>
              <a:sym typeface="+mn-ea"/>
            </a:endParaRPr>
          </a:p>
        </p:txBody>
      </p:sp>
      <p:sp>
        <p:nvSpPr>
          <p:cNvPr id="9"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2"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9"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30"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cxnSp>
        <p:nvCxnSpPr>
          <p:cNvPr id="17" name="直接箭头连接符 16"/>
          <p:cNvCxnSpPr/>
          <p:nvPr/>
        </p:nvCxnSpPr>
        <p:spPr>
          <a:xfrm flipV="1">
            <a:off x="8749030" y="3673475"/>
            <a:ext cx="3408045" cy="6350"/>
          </a:xfrm>
          <a:prstGeom prst="straightConnector1">
            <a:avLst/>
          </a:prstGeom>
          <a:ln w="76200">
            <a:solidFill>
              <a:srgbClr val="B30100"/>
            </a:solidFill>
            <a:tailEnd type="arrow"/>
          </a:ln>
        </p:spPr>
        <p:style>
          <a:lnRef idx="2">
            <a:schemeClr val="accent1"/>
          </a:lnRef>
          <a:fillRef idx="0">
            <a:srgbClr val="FFFFFF"/>
          </a:fillRef>
          <a:effectRef idx="0">
            <a:srgbClr val="FFFFFF"/>
          </a:effectRef>
          <a:fontRef idx="minor">
            <a:schemeClr val="tx1"/>
          </a:fontRef>
        </p:style>
      </p:cxnSp>
      <p:sp>
        <p:nvSpPr>
          <p:cNvPr id="20" name="文本框 19"/>
          <p:cNvSpPr txBox="1"/>
          <p:nvPr>
            <p:custDataLst>
              <p:tags r:id="rId6"/>
            </p:custDataLst>
          </p:nvPr>
        </p:nvSpPr>
        <p:spPr>
          <a:xfrm>
            <a:off x="14001115" y="5883275"/>
            <a:ext cx="4591050" cy="598805"/>
          </a:xfrm>
          <a:prstGeom prst="rect">
            <a:avLst/>
          </a:prstGeom>
          <a:noFill/>
        </p:spPr>
        <p:txBody>
          <a:bodyPr wrap="square" rtlCol="0">
            <a:spAutoFit/>
          </a:bodyPr>
          <a:p>
            <a:pPr indent="0" fontAlgn="auto">
              <a:lnSpc>
                <a:spcPct val="150000"/>
              </a:lnSpc>
            </a:pPr>
            <a:r>
              <a:rPr lang="zh-CN" altLang="en-US" sz="2200" b="0" i="0">
                <a:solidFill>
                  <a:srgbClr val="343435"/>
                </a:solidFill>
                <a:latin typeface="新愚公和谐宋-S" charset="-122"/>
                <a:ea typeface="新愚公和谐宋-S" charset="-122"/>
                <a:cs typeface="新愚公和谐宋-S" charset="-122"/>
                <a:sym typeface="+mn-ea"/>
              </a:rPr>
              <a:t>评估内容互动深度与社交扩散效能</a:t>
            </a:r>
            <a:endParaRPr lang="zh-CN" altLang="en-US" sz="2200" b="0" i="0">
              <a:solidFill>
                <a:srgbClr val="343435"/>
              </a:solidFill>
              <a:latin typeface="新愚公和谐宋-S" charset="-122"/>
              <a:ea typeface="新愚公和谐宋-S" charset="-122"/>
              <a:cs typeface="新愚公和谐宋-S" charset="-122"/>
              <a:sym typeface="+mn-ea"/>
            </a:endParaRPr>
          </a:p>
        </p:txBody>
      </p:sp>
      <p:cxnSp>
        <p:nvCxnSpPr>
          <p:cNvPr id="21" name="直接箭头连接符 20"/>
          <p:cNvCxnSpPr/>
          <p:nvPr/>
        </p:nvCxnSpPr>
        <p:spPr>
          <a:xfrm flipV="1">
            <a:off x="9671050" y="6259830"/>
            <a:ext cx="3408045" cy="6350"/>
          </a:xfrm>
          <a:prstGeom prst="straightConnector1">
            <a:avLst/>
          </a:prstGeom>
          <a:ln w="76200">
            <a:solidFill>
              <a:srgbClr val="B30100"/>
            </a:solidFill>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p:nvPr/>
        </p:nvCxnSpPr>
        <p:spPr>
          <a:xfrm flipV="1">
            <a:off x="10737850" y="8949055"/>
            <a:ext cx="3408045" cy="6350"/>
          </a:xfrm>
          <a:prstGeom prst="straightConnector1">
            <a:avLst/>
          </a:prstGeom>
          <a:ln w="76200">
            <a:solidFill>
              <a:srgbClr val="B30100"/>
            </a:solidFill>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custDataLst>
              <p:tags r:id="rId7"/>
            </p:custDataLst>
          </p:nvPr>
        </p:nvSpPr>
        <p:spPr>
          <a:xfrm>
            <a:off x="15081250" y="8609330"/>
            <a:ext cx="4591050" cy="598805"/>
          </a:xfrm>
          <a:prstGeom prst="rect">
            <a:avLst/>
          </a:prstGeom>
          <a:noFill/>
        </p:spPr>
        <p:txBody>
          <a:bodyPr wrap="square" rtlCol="0">
            <a:spAutoFit/>
          </a:bodyPr>
          <a:p>
            <a:pPr indent="0" fontAlgn="auto">
              <a:lnSpc>
                <a:spcPct val="150000"/>
              </a:lnSpc>
            </a:pPr>
            <a:r>
              <a:rPr lang="zh-CN" altLang="en-US" sz="2200" b="0" i="0">
                <a:solidFill>
                  <a:srgbClr val="343435"/>
                </a:solidFill>
                <a:latin typeface="新愚公和谐宋-S" charset="-122"/>
                <a:ea typeface="新愚公和谐宋-S" charset="-122"/>
                <a:cs typeface="新愚公和谐宋-S" charset="-122"/>
                <a:sym typeface="+mn-ea"/>
              </a:rPr>
              <a:t>考核线上线下闭环的</a:t>
            </a:r>
            <a:r>
              <a:rPr lang="zh-CN" altLang="en-US" sz="2200" b="0" i="0">
                <a:solidFill>
                  <a:srgbClr val="343435"/>
                </a:solidFill>
                <a:latin typeface="新愚公和谐宋-S" charset="-122"/>
                <a:ea typeface="新愚公和谐宋-S" charset="-122"/>
                <a:cs typeface="新愚公和谐宋-S" charset="-122"/>
                <a:sym typeface="+mn-ea"/>
              </a:rPr>
              <a:t>商业价值</a:t>
            </a:r>
            <a:endParaRPr lang="zh-CN" altLang="en-US" sz="2200" b="0" i="0">
              <a:solidFill>
                <a:srgbClr val="343435"/>
              </a:solidFill>
              <a:latin typeface="新愚公和谐宋-S" charset="-122"/>
              <a:ea typeface="新愚公和谐宋-S" charset="-122"/>
              <a:cs typeface="新愚公和谐宋-S" charset="-122"/>
              <a:sym typeface="+mn-ea"/>
            </a:endParaRPr>
          </a:p>
        </p:txBody>
      </p:sp>
      <p:sp>
        <p:nvSpPr>
          <p:cNvPr id="8"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31</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12"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13"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4"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5"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sp>
        <p:nvSpPr>
          <p:cNvPr id="19"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32</a:t>
            </a:r>
            <a:endParaRPr lang="en-US" altLang="en-US" sz="1800" b="1" spc="55" dirty="0">
              <a:solidFill>
                <a:srgbClr val="000204"/>
              </a:solidFill>
              <a:latin typeface="Arial" panose="020B0604020202020204"/>
              <a:cs typeface="Arial" panose="020B0604020202020204"/>
            </a:endParaRPr>
          </a:p>
        </p:txBody>
      </p:sp>
      <p:sp>
        <p:nvSpPr>
          <p:cNvPr id="46" name="文本框 45"/>
          <p:cNvSpPr txBox="1"/>
          <p:nvPr/>
        </p:nvSpPr>
        <p:spPr>
          <a:xfrm>
            <a:off x="8604250" y="1165225"/>
            <a:ext cx="3051810" cy="1027430"/>
          </a:xfrm>
          <a:prstGeom prst="rect">
            <a:avLst/>
          </a:prstGeom>
          <a:noFill/>
        </p:spPr>
        <p:txBody>
          <a:bodyPr wrap="square" rtlCol="0">
            <a:noAutofit/>
          </a:bodyPr>
          <a:p>
            <a:r>
              <a:rPr lang="zh-CN" altLang="en-US" sz="4200">
                <a:solidFill>
                  <a:srgbClr val="343435"/>
                </a:solidFill>
                <a:latin typeface="新愚公和谐宋-S" charset="-122"/>
                <a:ea typeface="新愚公和谐宋-S" charset="-122"/>
              </a:rPr>
              <a:t>风险与</a:t>
            </a:r>
            <a:r>
              <a:rPr lang="zh-CN" altLang="en-US" sz="4200">
                <a:solidFill>
                  <a:srgbClr val="343435"/>
                </a:solidFill>
                <a:latin typeface="新愚公和谐宋-S" charset="-122"/>
                <a:ea typeface="新愚公和谐宋-S" charset="-122"/>
              </a:rPr>
              <a:t>应对</a:t>
            </a:r>
            <a:endParaRPr lang="zh-CN" altLang="en-US" sz="4200">
              <a:solidFill>
                <a:srgbClr val="343435"/>
              </a:solidFill>
              <a:latin typeface="新愚公和谐宋-S" charset="-122"/>
              <a:ea typeface="新愚公和谐宋-S" charset="-122"/>
            </a:endParaRPr>
          </a:p>
        </p:txBody>
      </p:sp>
      <p:sp>
        <p:nvSpPr>
          <p:cNvPr id="11" name="圆角矩形 10"/>
          <p:cNvSpPr/>
          <p:nvPr/>
        </p:nvSpPr>
        <p:spPr>
          <a:xfrm>
            <a:off x="1136650" y="2073275"/>
            <a:ext cx="5192395" cy="3508375"/>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3" name="圆角矩形 2"/>
          <p:cNvSpPr/>
          <p:nvPr/>
        </p:nvSpPr>
        <p:spPr>
          <a:xfrm>
            <a:off x="7385050" y="2073275"/>
            <a:ext cx="5192395" cy="3508375"/>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4" name="圆角矩形 3"/>
          <p:cNvSpPr/>
          <p:nvPr/>
        </p:nvSpPr>
        <p:spPr>
          <a:xfrm>
            <a:off x="13709650" y="1997075"/>
            <a:ext cx="5192395" cy="3508375"/>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5" name="圆角矩形 4"/>
          <p:cNvSpPr/>
          <p:nvPr/>
        </p:nvSpPr>
        <p:spPr>
          <a:xfrm>
            <a:off x="3879850" y="6035675"/>
            <a:ext cx="5192395" cy="3508375"/>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6" name="圆角矩形 5"/>
          <p:cNvSpPr/>
          <p:nvPr/>
        </p:nvSpPr>
        <p:spPr>
          <a:xfrm>
            <a:off x="10737850" y="6035675"/>
            <a:ext cx="5192395" cy="3508375"/>
          </a:xfrm>
          <a:prstGeom prst="roundRect">
            <a:avLst/>
          </a:prstGeom>
          <a:solidFill>
            <a:srgbClr val="FBF4D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7" name="文本框 6"/>
          <p:cNvSpPr txBox="1"/>
          <p:nvPr/>
        </p:nvSpPr>
        <p:spPr>
          <a:xfrm>
            <a:off x="1517650" y="2192655"/>
            <a:ext cx="4473575" cy="3164205"/>
          </a:xfrm>
          <a:prstGeom prst="rect">
            <a:avLst/>
          </a:prstGeom>
          <a:noFill/>
        </p:spPr>
        <p:txBody>
          <a:bodyPr wrap="square" rtlCol="0">
            <a:noAutofit/>
          </a:bodyPr>
          <a:p>
            <a:pPr marL="0" indent="0" eaLnBrk="1" fontAlgn="auto" latinLnBrk="0" hangingPunct="1">
              <a:lnSpc>
                <a:spcPct val="150000"/>
              </a:lnSpc>
            </a:pPr>
            <a:r>
              <a:rPr lang="zh-CN" altLang="en-US" sz="2200" u="sng">
                <a:latin typeface="新愚公和谐宋-S" charset="-122"/>
                <a:ea typeface="新愚公和谐宋-S" charset="-122"/>
                <a:cs typeface="新愚公和谐宋-S" charset="-122"/>
              </a:rPr>
              <a:t>供应链风险：</a:t>
            </a:r>
            <a:endParaRPr lang="zh-CN" altLang="en-US" sz="2200" u="sng">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latin typeface="新愚公和谐宋-S" charset="-122"/>
                <a:ea typeface="新愚公和谐宋-S" charset="-122"/>
                <a:cs typeface="新愚公和谐宋-S" charset="-122"/>
              </a:rPr>
              <a:t>针对多品类生产，项目组已完成核心供应商筛选，建立“备用机制”。通过预留</a:t>
            </a:r>
            <a:r>
              <a:rPr lang="en-US" altLang="zh-CN" sz="2200">
                <a:latin typeface="新愚公和谐宋-S" charset="-122"/>
                <a:ea typeface="新愚公和谐宋-S" charset="-122"/>
                <a:cs typeface="新愚公和谐宋-S" charset="-122"/>
              </a:rPr>
              <a:t>1</a:t>
            </a:r>
            <a:r>
              <a:rPr lang="zh-CN" altLang="en-US" sz="2200">
                <a:latin typeface="新愚公和谐宋-S" charset="-122"/>
                <a:ea typeface="新愚公和谐宋-S" charset="-122"/>
                <a:cs typeface="新愚公和谐宋-S" charset="-122"/>
              </a:rPr>
              <a:t>5%生产缓冲周期与动态库存监测系统，实时联动线上线下库存，从源头规避断货风险。</a:t>
            </a:r>
            <a:endParaRPr lang="en-US" altLang="zh-CN" sz="2200">
              <a:latin typeface="新愚公和谐宋-S" charset="-122"/>
              <a:ea typeface="新愚公和谐宋-S" charset="-122"/>
              <a:cs typeface="新愚公和谐宋-S" charset="-122"/>
            </a:endParaRPr>
          </a:p>
        </p:txBody>
      </p:sp>
      <p:sp>
        <p:nvSpPr>
          <p:cNvPr id="8" name="文本框 7"/>
          <p:cNvSpPr txBox="1"/>
          <p:nvPr/>
        </p:nvSpPr>
        <p:spPr>
          <a:xfrm>
            <a:off x="7766050" y="2192655"/>
            <a:ext cx="4473575" cy="3164205"/>
          </a:xfrm>
          <a:prstGeom prst="rect">
            <a:avLst/>
          </a:prstGeom>
          <a:noFill/>
        </p:spPr>
        <p:txBody>
          <a:bodyPr wrap="square" rtlCol="0">
            <a:noAutofit/>
          </a:bodyPr>
          <a:p>
            <a:pPr marL="0" indent="0" eaLnBrk="1" fontAlgn="auto" latinLnBrk="0" hangingPunct="1">
              <a:lnSpc>
                <a:spcPct val="150000"/>
              </a:lnSpc>
            </a:pPr>
            <a:r>
              <a:rPr lang="zh-CN" altLang="en-US" sz="2200" u="sng">
                <a:latin typeface="新愚公和谐宋-S" charset="-122"/>
                <a:ea typeface="新愚公和谐宋-S" charset="-122"/>
                <a:cs typeface="新愚公和谐宋-S" charset="-122"/>
              </a:rPr>
              <a:t>技术运行风险：</a:t>
            </a:r>
            <a:endParaRPr lang="zh-CN" altLang="en-US" sz="2200" u="sng">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latin typeface="新愚公和谐宋-S" charset="-122"/>
                <a:ea typeface="新愚公和谐宋-S" charset="-122"/>
                <a:cs typeface="新愚公和谐宋-S" charset="-122"/>
              </a:rPr>
              <a:t>为保障功能流畅，上线前将进行多轮压力测试并配置弹性服务器。预设“技术降级预案”，若系统高负载将自动切换至轻量版页面，确保极端情况下业务流程稳定运行。</a:t>
            </a:r>
            <a:endParaRPr lang="zh-CN" altLang="en-US" sz="2200">
              <a:latin typeface="新愚公和谐宋-S" charset="-122"/>
              <a:ea typeface="新愚公和谐宋-S" charset="-122"/>
              <a:cs typeface="新愚公和谐宋-S" charset="-122"/>
            </a:endParaRPr>
          </a:p>
        </p:txBody>
      </p:sp>
      <p:sp>
        <p:nvSpPr>
          <p:cNvPr id="9" name="文本框 8"/>
          <p:cNvSpPr txBox="1"/>
          <p:nvPr/>
        </p:nvSpPr>
        <p:spPr>
          <a:xfrm>
            <a:off x="14090650" y="2149475"/>
            <a:ext cx="4473575" cy="3164205"/>
          </a:xfrm>
          <a:prstGeom prst="rect">
            <a:avLst/>
          </a:prstGeom>
          <a:noFill/>
        </p:spPr>
        <p:txBody>
          <a:bodyPr wrap="square" rtlCol="0">
            <a:noAutofit/>
          </a:bodyPr>
          <a:p>
            <a:pPr marL="0" indent="0" eaLnBrk="1" fontAlgn="auto" latinLnBrk="0" hangingPunct="1">
              <a:lnSpc>
                <a:spcPct val="150000"/>
              </a:lnSpc>
            </a:pPr>
            <a:r>
              <a:rPr lang="zh-CN" altLang="en-US" sz="2200" u="sng">
                <a:latin typeface="新愚公和谐宋-S" charset="-122"/>
                <a:ea typeface="新愚公和谐宋-S" charset="-122"/>
                <a:cs typeface="新愚公和谐宋-S" charset="-122"/>
              </a:rPr>
              <a:t>传播热度风险：</a:t>
            </a:r>
            <a:endParaRPr lang="zh-CN" altLang="en-US" sz="2200" u="sng">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latin typeface="新愚公和谐宋-S" charset="-122"/>
                <a:ea typeface="新愚公和谐宋-S" charset="-122"/>
                <a:cs typeface="新愚公和谐宋-S" charset="-122"/>
              </a:rPr>
              <a:t>建立“每日数据复盘”机制，依托舆情看板实时监控。根据流量反馈动态调整投放策略，持续利用达人二次创作与剧情更新注入社交货币，确保全周期传播热度。</a:t>
            </a:r>
            <a:endParaRPr lang="zh-CN" altLang="en-US" sz="2200">
              <a:latin typeface="新愚公和谐宋-S" charset="-122"/>
              <a:ea typeface="新愚公和谐宋-S" charset="-122"/>
              <a:cs typeface="新愚公和谐宋-S" charset="-122"/>
            </a:endParaRPr>
          </a:p>
        </p:txBody>
      </p:sp>
      <p:sp>
        <p:nvSpPr>
          <p:cNvPr id="10" name="文本框 9"/>
          <p:cNvSpPr txBox="1"/>
          <p:nvPr/>
        </p:nvSpPr>
        <p:spPr>
          <a:xfrm>
            <a:off x="4260850" y="6207760"/>
            <a:ext cx="4473575" cy="3164205"/>
          </a:xfrm>
          <a:prstGeom prst="rect">
            <a:avLst/>
          </a:prstGeom>
          <a:noFill/>
        </p:spPr>
        <p:txBody>
          <a:bodyPr wrap="square" rtlCol="0">
            <a:noAutofit/>
          </a:bodyPr>
          <a:p>
            <a:pPr marL="0" indent="0" eaLnBrk="1" fontAlgn="auto" latinLnBrk="0" hangingPunct="1">
              <a:lnSpc>
                <a:spcPct val="150000"/>
              </a:lnSpc>
            </a:pPr>
            <a:r>
              <a:rPr lang="zh-CN" altLang="en-US" sz="2200" u="sng">
                <a:latin typeface="新愚公和谐宋-S" charset="-122"/>
                <a:ea typeface="新愚公和谐宋-S" charset="-122"/>
                <a:cs typeface="新愚公和谐宋-S" charset="-122"/>
              </a:rPr>
              <a:t>用户体验风险：</a:t>
            </a:r>
            <a:endParaRPr lang="zh-CN" altLang="en-US" sz="2200" u="sng">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latin typeface="新愚公和谐宋-S" charset="-122"/>
                <a:ea typeface="新愚公和谐宋-S" charset="-122"/>
                <a:cs typeface="新愚公和谐宋-S" charset="-122"/>
              </a:rPr>
              <a:t>构建“低门槛、高反馈”链路，优化</a:t>
            </a:r>
            <a:r>
              <a:rPr lang="en-US" altLang="zh-CN" sz="2200">
                <a:latin typeface="Arial" panose="020B0604020202020204" pitchFamily="34" charset="0"/>
                <a:ea typeface="新愚公和谐宋-S" charset="-122"/>
                <a:cs typeface="Arial" panose="020B0604020202020204" pitchFamily="34" charset="0"/>
              </a:rPr>
              <a:t>UI</a:t>
            </a:r>
            <a:r>
              <a:rPr lang="en-US" altLang="zh-CN" sz="2200">
                <a:latin typeface="新愚公和谐宋-S" charset="-122"/>
                <a:ea typeface="新愚公和谐宋-S" charset="-122"/>
                <a:cs typeface="Arial" panose="020B0604020202020204" pitchFamily="34" charset="0"/>
              </a:rPr>
              <a:t>/</a:t>
            </a:r>
            <a:r>
              <a:rPr lang="en-US" altLang="zh-CN" sz="2200">
                <a:latin typeface="Arial" panose="020B0604020202020204" pitchFamily="34" charset="0"/>
                <a:ea typeface="新愚公和谐宋-S" charset="-122"/>
                <a:cs typeface="Arial" panose="020B0604020202020204" pitchFamily="34" charset="0"/>
              </a:rPr>
              <a:t>UX</a:t>
            </a:r>
            <a:r>
              <a:rPr lang="zh-CN" altLang="en-US" sz="2200">
                <a:latin typeface="新愚公和谐宋-S" charset="-122"/>
                <a:ea typeface="新愚公和谐宋-S" charset="-122"/>
                <a:cs typeface="新愚公和谐宋-S" charset="-122"/>
              </a:rPr>
              <a:t>简化操作，并增加智能引导。设置“快速反馈通道”，实现问题2小时内响应与处理，保障用户的沉浸式体验。</a:t>
            </a:r>
            <a:endParaRPr lang="zh-CN" altLang="en-US" sz="2200">
              <a:latin typeface="新愚公和谐宋-S" charset="-122"/>
              <a:ea typeface="新愚公和谐宋-S" charset="-122"/>
              <a:cs typeface="新愚公和谐宋-S" charset="-122"/>
            </a:endParaRPr>
          </a:p>
        </p:txBody>
      </p:sp>
      <p:sp>
        <p:nvSpPr>
          <p:cNvPr id="16" name="文本框 15"/>
          <p:cNvSpPr txBox="1"/>
          <p:nvPr/>
        </p:nvSpPr>
        <p:spPr>
          <a:xfrm>
            <a:off x="11097260" y="6207760"/>
            <a:ext cx="4473575" cy="3164205"/>
          </a:xfrm>
          <a:prstGeom prst="rect">
            <a:avLst/>
          </a:prstGeom>
          <a:noFill/>
        </p:spPr>
        <p:txBody>
          <a:bodyPr wrap="square" rtlCol="0">
            <a:noAutofit/>
          </a:bodyPr>
          <a:p>
            <a:pPr marL="0" indent="0" eaLnBrk="1" fontAlgn="auto" latinLnBrk="0" hangingPunct="1">
              <a:lnSpc>
                <a:spcPct val="150000"/>
              </a:lnSpc>
            </a:pPr>
            <a:r>
              <a:rPr lang="zh-CN" altLang="en-US" sz="2200" u="sng">
                <a:latin typeface="新愚公和谐宋-S" charset="-122"/>
                <a:ea typeface="新愚公和谐宋-S" charset="-122"/>
                <a:cs typeface="新愚公和谐宋-S" charset="-122"/>
              </a:rPr>
              <a:t>品牌舆情风险：</a:t>
            </a:r>
            <a:endParaRPr lang="zh-CN" altLang="en-US" sz="2200" u="sng">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latin typeface="新愚公和谐宋-S" charset="-122"/>
                <a:ea typeface="新愚公和谐宋-S" charset="-122"/>
                <a:cs typeface="新愚公和谐宋-S" charset="-122"/>
              </a:rPr>
              <a:t>活动严格执行“内容双重审核机制”，所有物料均需经联通品牌部与河南博物院联合审校。通过制度化合规闭环，确保文化表达准确，维护正面稳健的品牌形象。</a:t>
            </a:r>
            <a:endParaRPr lang="zh-CN" altLang="en-US" sz="2200">
              <a:latin typeface="新愚公和谐宋-S" charset="-122"/>
              <a:ea typeface="新愚公和谐宋-S" charset="-122"/>
              <a:cs typeface="新愚公和谐宋-S" charset="-122"/>
            </a:endParaRPr>
          </a:p>
        </p:txBody>
      </p:sp>
      <p:sp>
        <p:nvSpPr>
          <p:cNvPr id="45" name="圆角矩形 44"/>
          <p:cNvSpPr/>
          <p:nvPr/>
        </p:nvSpPr>
        <p:spPr>
          <a:xfrm>
            <a:off x="-324485" y="9886315"/>
            <a:ext cx="20598765" cy="1627505"/>
          </a:xfrm>
          <a:prstGeom prst="roundRect">
            <a:avLst/>
          </a:prstGeom>
          <a:solidFill>
            <a:srgbClr val="C0504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p>
        </p:txBody>
      </p:sp>
      <p:sp>
        <p:nvSpPr>
          <p:cNvPr id="44" name="文本框 43"/>
          <p:cNvSpPr txBox="1"/>
          <p:nvPr/>
        </p:nvSpPr>
        <p:spPr>
          <a:xfrm>
            <a:off x="984250" y="9998075"/>
            <a:ext cx="18007965" cy="1350010"/>
          </a:xfrm>
          <a:prstGeom prst="rect">
            <a:avLst/>
          </a:prstGeom>
          <a:noFill/>
        </p:spPr>
        <p:txBody>
          <a:bodyPr wrap="square" rtlCol="0">
            <a:noAutofit/>
          </a:bodyPr>
          <a:p>
            <a:pPr marL="0" indent="0" eaLnBrk="1" fontAlgn="auto" latinLnBrk="0" hangingPunct="1">
              <a:lnSpc>
                <a:spcPct val="150000"/>
              </a:lnSpc>
            </a:pPr>
            <a:r>
              <a:rPr lang="zh-CN" altLang="en-US" sz="2200">
                <a:solidFill>
                  <a:schemeClr val="bg1"/>
                </a:solidFill>
                <a:latin typeface="新愚公和谐宋-S" charset="-122"/>
                <a:ea typeface="新愚公和谐宋-S" charset="-122"/>
                <a:cs typeface="新愚公和谐宋-S" charset="-122"/>
              </a:rPr>
              <a:t>总结：项目组通过“五维闭环风险模型”，从供应链、技术、传播、体验及舆情五个维度建立了预防与应急机制，确保项目全链路的稳健执行与品牌安全。</a:t>
            </a:r>
            <a:endParaRPr lang="zh-CN" altLang="en-US" sz="2200">
              <a:solidFill>
                <a:schemeClr val="bg1"/>
              </a:solidFill>
              <a:latin typeface="新愚公和谐宋-S" charset="-122"/>
              <a:ea typeface="新愚公和谐宋-S" charset="-122"/>
              <a:cs typeface="新愚公和谐宋-S"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Picture 1" descr="image.png"/>
          <p:cNvPicPr>
            <a:picLocks noChangeAspect="1"/>
          </p:cNvPicPr>
          <p:nvPr/>
        </p:nvPicPr>
        <p:blipFill>
          <a:blip r:embed="rId1"/>
          <a:srcRect b="46546"/>
          <a:stretch>
            <a:fillRect/>
          </a:stretch>
        </p:blipFill>
        <p:spPr>
          <a:xfrm>
            <a:off x="-1047" y="-138866"/>
            <a:ext cx="20104100" cy="11447819"/>
          </a:xfrm>
          <a:prstGeom prst="rect">
            <a:avLst/>
          </a:prstGeom>
        </p:spPr>
      </p:pic>
      <p:pic>
        <p:nvPicPr>
          <p:cNvPr id="2" name="图片 1" descr="image (28)"/>
          <p:cNvPicPr>
            <a:picLocks noChangeAspect="1"/>
          </p:cNvPicPr>
          <p:nvPr/>
        </p:nvPicPr>
        <p:blipFill>
          <a:blip r:embed="rId2"/>
          <a:stretch>
            <a:fillRect/>
          </a:stretch>
        </p:blipFill>
        <p:spPr>
          <a:xfrm>
            <a:off x="15463404" y="408761"/>
            <a:ext cx="3567431" cy="1470112"/>
          </a:xfrm>
          <a:prstGeom prst="rect">
            <a:avLst/>
          </a:prstGeom>
        </p:spPr>
      </p:pic>
      <p:sp>
        <p:nvSpPr>
          <p:cNvPr id="6" name="剪去同侧角的矩形 5"/>
          <p:cNvSpPr/>
          <p:nvPr>
            <p:custDataLst>
              <p:tags r:id="rId3"/>
            </p:custDataLst>
          </p:nvPr>
        </p:nvSpPr>
        <p:spPr>
          <a:xfrm>
            <a:off x="2588403" y="7649379"/>
            <a:ext cx="15049804" cy="2303595"/>
          </a:xfrm>
          <a:prstGeom prst="snip2SameRect">
            <a:avLst/>
          </a:prstGeom>
          <a:solidFill>
            <a:srgbClr val="B30100"/>
          </a:solidFill>
          <a:ln>
            <a:noFill/>
          </a:ln>
        </p:spPr>
        <p:style>
          <a:lnRef idx="1">
            <a:schemeClr val="accent1"/>
          </a:lnRef>
          <a:fillRef idx="3">
            <a:schemeClr val="accent1"/>
          </a:fillRef>
          <a:effectRef idx="2">
            <a:schemeClr val="accent1"/>
          </a:effectRef>
          <a:fontRef idx="minor">
            <a:schemeClr val="lt1"/>
          </a:fontRef>
        </p:style>
        <p:txBody>
          <a:bodyPr/>
          <a:p>
            <a:endParaRPr lang="zh-CN" altLang="en-US" sz="100">
              <a:solidFill>
                <a:srgbClr val="E60027"/>
              </a:solidFill>
            </a:endParaRPr>
          </a:p>
        </p:txBody>
      </p:sp>
      <p:sp>
        <p:nvSpPr>
          <p:cNvPr id="7" name="文本框 6"/>
          <p:cNvSpPr txBox="1"/>
          <p:nvPr/>
        </p:nvSpPr>
        <p:spPr>
          <a:xfrm>
            <a:off x="5708650" y="7940675"/>
            <a:ext cx="9067165" cy="1690370"/>
          </a:xfrm>
          <a:prstGeom prst="rect">
            <a:avLst/>
          </a:prstGeom>
          <a:noFill/>
        </p:spPr>
        <p:txBody>
          <a:bodyPr wrap="square" rtlCol="0" anchor="t">
            <a:noAutofit/>
          </a:bodyPr>
          <a:p>
            <a:pPr algn="ctr">
              <a:lnSpc>
                <a:spcPct val="118000"/>
              </a:lnSpc>
              <a:spcBef>
                <a:spcPts val="0"/>
              </a:spcBef>
              <a:spcAft>
                <a:spcPts val="0"/>
              </a:spcAft>
            </a:pPr>
            <a:r>
              <a:rPr lang="zh-CN" altLang="en-US" sz="4200" b="1">
                <a:solidFill>
                  <a:srgbClr val="FEFEFA"/>
                </a:solidFill>
                <a:latin typeface="微软雅黑" panose="020B0503020204020204" charset="-122"/>
                <a:ea typeface="微软雅黑" panose="020B0503020204020204" charset="-122"/>
                <a:sym typeface="+mn-ea"/>
              </a:rPr>
              <a:t>以科技为媒介，以文化为内容，</a:t>
            </a:r>
            <a:endParaRPr lang="zh-CN" altLang="en-US" sz="4200" b="1">
              <a:solidFill>
                <a:srgbClr val="FEFEFA"/>
              </a:solidFill>
              <a:latin typeface="微软雅黑" panose="020B0503020204020204" charset="-122"/>
              <a:ea typeface="微软雅黑" panose="020B0503020204020204" charset="-122"/>
              <a:sym typeface="+mn-ea"/>
            </a:endParaRPr>
          </a:p>
          <a:p>
            <a:pPr algn="ctr">
              <a:lnSpc>
                <a:spcPct val="118000"/>
              </a:lnSpc>
              <a:spcBef>
                <a:spcPts val="0"/>
              </a:spcBef>
              <a:spcAft>
                <a:spcPts val="0"/>
              </a:spcAft>
            </a:pPr>
            <a:r>
              <a:rPr lang="zh-CN" altLang="en-US" sz="4200" b="1">
                <a:solidFill>
                  <a:srgbClr val="FEFEFA"/>
                </a:solidFill>
                <a:latin typeface="微软雅黑" panose="020B0503020204020204" charset="-122"/>
                <a:ea typeface="微软雅黑" panose="020B0503020204020204" charset="-122"/>
                <a:sym typeface="+mn-ea"/>
              </a:rPr>
              <a:t>联通文创正重塑年轻一代的品牌连接。</a:t>
            </a:r>
            <a:endParaRPr lang="zh-CN" altLang="en-US" sz="4200" b="1">
              <a:solidFill>
                <a:srgbClr val="FEFEFA"/>
              </a:solidFill>
              <a:latin typeface="微软雅黑" panose="020B0503020204020204" charset="-122"/>
              <a:ea typeface="微软雅黑" panose="020B0503020204020204" charset="-122"/>
              <a:sym typeface="+mn-ea"/>
            </a:endParaRPr>
          </a:p>
        </p:txBody>
      </p:sp>
      <p:cxnSp>
        <p:nvCxnSpPr>
          <p:cNvPr id="32" name="直接连接符 31"/>
          <p:cNvCxnSpPr/>
          <p:nvPr>
            <p:custDataLst>
              <p:tags r:id="rId4"/>
            </p:custDataLst>
          </p:nvPr>
        </p:nvCxnSpPr>
        <p:spPr>
          <a:xfrm flipH="1" flipV="1">
            <a:off x="12753538" y="2469432"/>
            <a:ext cx="9424" cy="4179977"/>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cxnSp>
        <p:nvCxnSpPr>
          <p:cNvPr id="9" name="直接连接符 8"/>
          <p:cNvCxnSpPr/>
          <p:nvPr>
            <p:custDataLst>
              <p:tags r:id="rId5"/>
            </p:custDataLst>
          </p:nvPr>
        </p:nvCxnSpPr>
        <p:spPr>
          <a:xfrm flipH="1" flipV="1">
            <a:off x="7535896" y="2469432"/>
            <a:ext cx="9424" cy="4179977"/>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sp>
        <p:nvSpPr>
          <p:cNvPr id="10" name="矩形 9"/>
          <p:cNvSpPr/>
          <p:nvPr/>
        </p:nvSpPr>
        <p:spPr>
          <a:xfrm>
            <a:off x="0" y="1082039"/>
            <a:ext cx="15463404"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17" name="矩形 16"/>
          <p:cNvSpPr/>
          <p:nvPr/>
        </p:nvSpPr>
        <p:spPr>
          <a:xfrm>
            <a:off x="19102036" y="1082039"/>
            <a:ext cx="1001017" cy="125651"/>
          </a:xfrm>
          <a:prstGeom prst="rect">
            <a:avLst/>
          </a:prstGeom>
          <a:solidFill>
            <a:srgbClr val="B301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
              <a:solidFill>
                <a:srgbClr val="B30100"/>
              </a:solidFill>
            </a:endParaRPr>
          </a:p>
        </p:txBody>
      </p:sp>
      <p:sp>
        <p:nvSpPr>
          <p:cNvPr id="3" name="object 12"/>
          <p:cNvSpPr txBox="1"/>
          <p:nvPr/>
        </p:nvSpPr>
        <p:spPr>
          <a:xfrm>
            <a:off x="617855" y="385445"/>
            <a:ext cx="327596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rPr>
              <a:t>市场分析</a:t>
            </a:r>
            <a:endParaRPr lang="zh-CN" altLang="en-US" sz="3200" b="0" u="none" spc="-10" dirty="0">
              <a:solidFill>
                <a:srgbClr val="8E9192"/>
              </a:solidFill>
              <a:uFill>
                <a:solidFill>
                  <a:srgbClr val="ED1B35"/>
                </a:solidFill>
              </a:uFill>
              <a:latin typeface="新愚公和谐宋-S" charset="-122"/>
              <a:ea typeface="新愚公和谐宋-S" charset="-122"/>
              <a:cs typeface="Arial" panose="020B0604020202020204"/>
            </a:endParaRPr>
          </a:p>
        </p:txBody>
      </p:sp>
      <p:sp>
        <p:nvSpPr>
          <p:cNvPr id="4" name="object 13"/>
          <p:cNvSpPr txBox="1"/>
          <p:nvPr/>
        </p:nvSpPr>
        <p:spPr>
          <a:xfrm>
            <a:off x="2660650" y="385445"/>
            <a:ext cx="238823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用户</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分析</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18" name="object 14"/>
          <p:cNvSpPr txBox="1"/>
          <p:nvPr/>
        </p:nvSpPr>
        <p:spPr>
          <a:xfrm>
            <a:off x="4718050" y="385445"/>
            <a:ext cx="219900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创意</a:t>
            </a:r>
            <a:r>
              <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rPr>
              <a:t>呈现</a:t>
            </a:r>
            <a:endParaRPr lang="zh-CN" altLang="en-US" sz="3200" b="0" u="none" strike="noStrike" kern="0" cap="none" spc="-10" normalizeH="0" dirty="0">
              <a:solidFill>
                <a:srgbClr val="8E9192"/>
              </a:solidFill>
              <a:uFill>
                <a:solidFill>
                  <a:srgbClr val="FF0000"/>
                </a:solidFill>
              </a:uFill>
              <a:latin typeface="新愚公和谐宋-S" charset="-122"/>
              <a:ea typeface="新愚公和谐宋-S" charset="-122"/>
              <a:cs typeface="Arial" panose="020B0604020202020204"/>
            </a:endParaRPr>
          </a:p>
        </p:txBody>
      </p:sp>
      <p:sp>
        <p:nvSpPr>
          <p:cNvPr id="20" name="object 15"/>
          <p:cNvSpPr txBox="1"/>
          <p:nvPr/>
        </p:nvSpPr>
        <p:spPr>
          <a:xfrm>
            <a:off x="6775450" y="385445"/>
            <a:ext cx="2741295" cy="779780"/>
          </a:xfrm>
          <a:prstGeom prst="rect">
            <a:avLst/>
          </a:prstGeom>
        </p:spPr>
        <p:txBody>
          <a:bodyPr vert="horz" wrap="square" lIns="0" tIns="17780" rIns="0" bIns="0" rtlCol="0">
            <a:noAutofit/>
          </a:bodyPr>
          <a:lstStyle/>
          <a:p>
            <a:pPr marL="12700">
              <a:lnSpc>
                <a:spcPct val="100000"/>
              </a:lnSpc>
              <a:spcBef>
                <a:spcPts val="140"/>
              </a:spcBef>
            </a:pPr>
            <a:r>
              <a:rPr lang="zh-CN" altLang="en-US" sz="3200" b="1" u="sng" strike="noStrike" kern="0" cap="none" spc="-10" normalizeH="0" dirty="0">
                <a:solidFill>
                  <a:srgbClr val="343435"/>
                </a:solidFill>
                <a:uFill>
                  <a:solidFill>
                    <a:srgbClr val="FF0000"/>
                  </a:solidFill>
                </a:uFill>
                <a:latin typeface="新愚公和谐宋-S" charset="-122"/>
                <a:ea typeface="新愚公和谐宋-S" charset="-122"/>
                <a:cs typeface="Arial" panose="020B0604020202020204"/>
              </a:rPr>
              <a:t>媒介排期</a:t>
            </a:r>
            <a:r>
              <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rPr>
              <a:t> </a:t>
            </a:r>
            <a:endParaRPr lang="en-US" altLang="zh-CN" sz="3200" b="1" u="sng" strike="noStrike" kern="0" cap="none" spc="-10" normalizeH="0" dirty="0">
              <a:solidFill>
                <a:schemeClr val="tx1"/>
              </a:solidFill>
              <a:uFill>
                <a:solidFill>
                  <a:srgbClr val="FF0000"/>
                </a:solidFill>
              </a:uFill>
              <a:latin typeface="Arial" panose="020B0604020202020204"/>
              <a:cs typeface="Arial" panose="020B0604020202020204"/>
            </a:endParaRPr>
          </a:p>
        </p:txBody>
      </p:sp>
      <p:sp>
        <p:nvSpPr>
          <p:cNvPr id="21" name="TextBox 11"/>
          <p:cNvSpPr txBox="1"/>
          <p:nvPr/>
        </p:nvSpPr>
        <p:spPr>
          <a:xfrm>
            <a:off x="3651250" y="2073275"/>
            <a:ext cx="2075180" cy="767715"/>
          </a:xfrm>
          <a:prstGeom prst="rect">
            <a:avLst/>
          </a:prstGeom>
          <a:noFill/>
        </p:spPr>
        <p:txBody>
          <a:bodyPr wrap="none" lIns="0" tIns="0" rIns="0" bIns="0"/>
          <a:lstStyle/>
          <a:p>
            <a:pPr algn="ctr">
              <a:lnSpc>
                <a:spcPct val="116000"/>
              </a:lnSpc>
              <a:spcBef>
                <a:spcPts val="0"/>
              </a:spcBef>
              <a:spcAft>
                <a:spcPts val="0"/>
              </a:spcAft>
            </a:pPr>
            <a:r>
              <a:rPr lang="zh-CN" altLang="en-US" sz="4200" b="1" i="0">
                <a:solidFill>
                  <a:srgbClr val="343435"/>
                </a:solidFill>
                <a:latin typeface="新愚公和谐宋-S" charset="-122"/>
                <a:ea typeface="新愚公和谐宋-S" charset="-122"/>
              </a:rPr>
              <a:t>亮点一</a:t>
            </a:r>
            <a:endParaRPr lang="zh-CN" altLang="en-US" sz="4200" b="1" i="0">
              <a:solidFill>
                <a:srgbClr val="343435"/>
              </a:solidFill>
              <a:latin typeface="新愚公和谐宋-S" charset="-122"/>
              <a:ea typeface="新愚公和谐宋-S" charset="-122"/>
            </a:endParaRPr>
          </a:p>
        </p:txBody>
      </p:sp>
      <p:sp>
        <p:nvSpPr>
          <p:cNvPr id="24" name="文本框 23"/>
          <p:cNvSpPr txBox="1"/>
          <p:nvPr/>
        </p:nvSpPr>
        <p:spPr>
          <a:xfrm>
            <a:off x="2660650" y="2987675"/>
            <a:ext cx="4305300" cy="3756025"/>
          </a:xfrm>
          <a:prstGeom prst="rect">
            <a:avLst/>
          </a:prstGeom>
          <a:noFill/>
        </p:spPr>
        <p:txBody>
          <a:bodyPr wrap="square" rtlCol="0">
            <a:noAutofit/>
          </a:bodyPr>
          <a:p>
            <a:pPr marL="0" indent="0" eaLnBrk="1" fontAlgn="auto" latinLnBrk="0" hangingPunct="1">
              <a:lnSpc>
                <a:spcPct val="150000"/>
              </a:lnSpc>
            </a:pPr>
            <a:r>
              <a:rPr lang="en-US" altLang="zh-CN" sz="2200" u="sng">
                <a:solidFill>
                  <a:srgbClr val="343435"/>
                </a:solidFill>
                <a:latin typeface="Arial" panose="020B0604020202020204" pitchFamily="34" charset="0"/>
                <a:ea typeface="新愚公和谐宋-S" charset="-122"/>
                <a:cs typeface="Arial" panose="020B0604020202020204" pitchFamily="34" charset="0"/>
              </a:rPr>
              <a:t>OMO</a:t>
            </a:r>
            <a:r>
              <a:rPr lang="zh-CN" altLang="en-US" sz="2200" u="sng">
                <a:solidFill>
                  <a:srgbClr val="343435"/>
                </a:solidFill>
                <a:latin typeface="新愚公和谐宋-S" charset="-122"/>
                <a:ea typeface="新愚公和谐宋-S" charset="-122"/>
                <a:cs typeface="新愚公和谐宋-S" charset="-122"/>
              </a:rPr>
              <a:t>闭环重塑心智</a:t>
            </a:r>
            <a:r>
              <a:rPr lang="en-US" altLang="zh-CN" sz="2200" u="sng">
                <a:solidFill>
                  <a:srgbClr val="343435"/>
                </a:solidFill>
                <a:latin typeface="新愚公和谐宋-S" charset="-122"/>
                <a:ea typeface="新愚公和谐宋-S" charset="-122"/>
                <a:cs typeface="新愚公和谐宋-S" charset="-122"/>
              </a:rPr>
              <a:t>:</a:t>
            </a:r>
            <a:endParaRPr lang="zh-CN" altLang="en-US" sz="2200" u="sng">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跳出了单纯的广告曝光，通过“积分+微支付”打通线上</a:t>
            </a:r>
            <a:r>
              <a:rPr lang="en-US" altLang="zh-CN" sz="2200">
                <a:solidFill>
                  <a:srgbClr val="343435"/>
                </a:solidFill>
                <a:latin typeface="Arial" panose="020B0604020202020204" pitchFamily="34" charset="0"/>
                <a:ea typeface="新愚公和谐宋-S" charset="-122"/>
                <a:cs typeface="Arial" panose="020B0604020202020204" pitchFamily="34" charset="0"/>
              </a:rPr>
              <a:t>APP</a:t>
            </a:r>
            <a:r>
              <a:rPr lang="zh-CN" altLang="en-US" sz="2200">
                <a:solidFill>
                  <a:srgbClr val="343435"/>
                </a:solidFill>
                <a:latin typeface="新愚公和谐宋-S" charset="-122"/>
                <a:ea typeface="新愚公和谐宋-S" charset="-122"/>
                <a:cs typeface="新愚公和谐宋-S" charset="-122"/>
              </a:rPr>
              <a:t>与线下营业厅，将博物馆文创转化为联通可持续的用户资产，实现了“流量”向“留量”的跨越。</a:t>
            </a:r>
            <a:endParaRPr lang="zh-CN" altLang="en-US" sz="2200">
              <a:solidFill>
                <a:srgbClr val="343435"/>
              </a:solidFill>
              <a:latin typeface="新愚公和谐宋-S" charset="-122"/>
              <a:ea typeface="新愚公和谐宋-S" charset="-122"/>
              <a:cs typeface="新愚公和谐宋-S" charset="-122"/>
            </a:endParaRPr>
          </a:p>
        </p:txBody>
      </p:sp>
      <p:sp>
        <p:nvSpPr>
          <p:cNvPr id="25" name="TextBox 11"/>
          <p:cNvSpPr txBox="1"/>
          <p:nvPr/>
        </p:nvSpPr>
        <p:spPr>
          <a:xfrm>
            <a:off x="9137650" y="2200275"/>
            <a:ext cx="2075180" cy="767715"/>
          </a:xfrm>
          <a:prstGeom prst="rect">
            <a:avLst/>
          </a:prstGeom>
          <a:noFill/>
        </p:spPr>
        <p:txBody>
          <a:bodyPr wrap="none" lIns="0" tIns="0" rIns="0" bIns="0"/>
          <a:lstStyle/>
          <a:p>
            <a:pPr algn="ctr">
              <a:lnSpc>
                <a:spcPct val="116000"/>
              </a:lnSpc>
              <a:spcBef>
                <a:spcPts val="0"/>
              </a:spcBef>
              <a:spcAft>
                <a:spcPts val="0"/>
              </a:spcAft>
            </a:pPr>
            <a:r>
              <a:rPr lang="zh-CN" altLang="en-US" sz="4200" b="1" i="0">
                <a:solidFill>
                  <a:srgbClr val="343435"/>
                </a:solidFill>
                <a:latin typeface="新愚公和谐宋-S" charset="-122"/>
                <a:ea typeface="新愚公和谐宋-S" charset="-122"/>
              </a:rPr>
              <a:t>亮点</a:t>
            </a:r>
            <a:r>
              <a:rPr lang="zh-CN" altLang="en-US" sz="4200" b="1" i="0">
                <a:solidFill>
                  <a:srgbClr val="343435"/>
                </a:solidFill>
                <a:latin typeface="新愚公和谐宋-S" charset="-122"/>
                <a:ea typeface="新愚公和谐宋-S" charset="-122"/>
              </a:rPr>
              <a:t>二</a:t>
            </a:r>
            <a:endParaRPr lang="zh-CN" altLang="en-US" sz="4200" b="1" i="0">
              <a:solidFill>
                <a:srgbClr val="343435"/>
              </a:solidFill>
              <a:latin typeface="新愚公和谐宋-S" charset="-122"/>
              <a:ea typeface="新愚公和谐宋-S" charset="-122"/>
            </a:endParaRPr>
          </a:p>
        </p:txBody>
      </p:sp>
      <p:sp>
        <p:nvSpPr>
          <p:cNvPr id="27" name="文本框 26"/>
          <p:cNvSpPr txBox="1"/>
          <p:nvPr/>
        </p:nvSpPr>
        <p:spPr>
          <a:xfrm>
            <a:off x="8070850" y="3044190"/>
            <a:ext cx="4305300" cy="3194685"/>
          </a:xfrm>
          <a:prstGeom prst="rect">
            <a:avLst/>
          </a:prstGeom>
          <a:noFill/>
        </p:spPr>
        <p:txBody>
          <a:bodyPr wrap="square" rtlCol="0">
            <a:noAutofit/>
          </a:bodyPr>
          <a:p>
            <a:pPr marL="0" indent="0" eaLnBrk="1" fontAlgn="auto" latinLnBrk="0" hangingPunct="1">
              <a:lnSpc>
                <a:spcPct val="150000"/>
              </a:lnSpc>
            </a:pPr>
            <a:r>
              <a:rPr lang="zh-CN" altLang="en-US" sz="2200" u="sng">
                <a:solidFill>
                  <a:srgbClr val="343435"/>
                </a:solidFill>
                <a:latin typeface="新愚公和谐宋-S" charset="-122"/>
                <a:ea typeface="新愚公和谐宋-S" charset="-122"/>
                <a:cs typeface="新愚公和谐宋-S" charset="-122"/>
              </a:rPr>
              <a:t>精细化运营闭环</a:t>
            </a:r>
            <a:r>
              <a:rPr lang="en-US" altLang="zh-CN" sz="2200" u="sng">
                <a:solidFill>
                  <a:srgbClr val="343435"/>
                </a:solidFill>
                <a:latin typeface="新愚公和谐宋-S" charset="-122"/>
                <a:ea typeface="新愚公和谐宋-S" charset="-122"/>
                <a:cs typeface="新愚公和谐宋-S" charset="-122"/>
              </a:rPr>
              <a:t>:</a:t>
            </a:r>
            <a:endParaRPr lang="zh-CN" altLang="en-US" sz="2200" u="sng">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从品牌（年轻化认知）、创新（互动深度）、商业（销量/留存）三个层级设立量化 </a:t>
            </a:r>
            <a:r>
              <a:rPr lang="en-US" altLang="zh-CN" sz="2200">
                <a:solidFill>
                  <a:srgbClr val="343435"/>
                </a:solidFill>
                <a:latin typeface="新愚公和谐宋-S" charset="-122"/>
                <a:ea typeface="新愚公和谐宋-S" charset="-122"/>
                <a:cs typeface="新愚公和谐宋-S" charset="-122"/>
              </a:rPr>
              <a:t>KPI，</a:t>
            </a:r>
            <a:r>
              <a:rPr lang="zh-CN" altLang="en-US" sz="2200">
                <a:solidFill>
                  <a:srgbClr val="343435"/>
                </a:solidFill>
                <a:latin typeface="新愚公和谐宋-S" charset="-122"/>
                <a:ea typeface="新愚公和谐宋-S" charset="-122"/>
                <a:cs typeface="新愚公和谐宋-S" charset="-122"/>
              </a:rPr>
              <a:t>确保了每一分预算投放都有可考核、可追踪的闭环执行效能。</a:t>
            </a:r>
            <a:endParaRPr lang="zh-CN" altLang="en-US" sz="2200">
              <a:solidFill>
                <a:srgbClr val="343435"/>
              </a:solidFill>
              <a:latin typeface="新愚公和谐宋-S" charset="-122"/>
              <a:ea typeface="新愚公和谐宋-S" charset="-122"/>
              <a:cs typeface="新愚公和谐宋-S" charset="-122"/>
            </a:endParaRPr>
          </a:p>
        </p:txBody>
      </p:sp>
      <p:sp>
        <p:nvSpPr>
          <p:cNvPr id="28" name="TextBox 11"/>
          <p:cNvSpPr txBox="1"/>
          <p:nvPr/>
        </p:nvSpPr>
        <p:spPr>
          <a:xfrm>
            <a:off x="14319250" y="2246630"/>
            <a:ext cx="2075180" cy="767715"/>
          </a:xfrm>
          <a:prstGeom prst="rect">
            <a:avLst/>
          </a:prstGeom>
          <a:noFill/>
        </p:spPr>
        <p:txBody>
          <a:bodyPr wrap="none" lIns="0" tIns="0" rIns="0" bIns="0"/>
          <a:lstStyle/>
          <a:p>
            <a:pPr algn="ctr">
              <a:lnSpc>
                <a:spcPct val="116000"/>
              </a:lnSpc>
              <a:spcBef>
                <a:spcPts val="0"/>
              </a:spcBef>
              <a:spcAft>
                <a:spcPts val="0"/>
              </a:spcAft>
            </a:pPr>
            <a:r>
              <a:rPr lang="zh-CN" altLang="en-US" sz="4200" b="1" i="0">
                <a:solidFill>
                  <a:srgbClr val="343435"/>
                </a:solidFill>
                <a:latin typeface="新愚公和谐宋-S" charset="-122"/>
                <a:ea typeface="新愚公和谐宋-S" charset="-122"/>
              </a:rPr>
              <a:t>亮点</a:t>
            </a:r>
            <a:r>
              <a:rPr lang="zh-CN" altLang="en-US" sz="4200" b="1" i="0">
                <a:solidFill>
                  <a:srgbClr val="343435"/>
                </a:solidFill>
                <a:latin typeface="新愚公和谐宋-S" charset="-122"/>
                <a:ea typeface="新愚公和谐宋-S" charset="-122"/>
              </a:rPr>
              <a:t>三</a:t>
            </a:r>
            <a:endParaRPr lang="zh-CN" altLang="en-US" sz="4200" b="1" i="0">
              <a:solidFill>
                <a:srgbClr val="343435"/>
              </a:solidFill>
              <a:latin typeface="新愚公和谐宋-S" charset="-122"/>
              <a:ea typeface="新愚公和谐宋-S" charset="-122"/>
            </a:endParaRPr>
          </a:p>
        </p:txBody>
      </p:sp>
      <p:sp>
        <p:nvSpPr>
          <p:cNvPr id="29" name="文本框 28"/>
          <p:cNvSpPr txBox="1"/>
          <p:nvPr/>
        </p:nvSpPr>
        <p:spPr>
          <a:xfrm>
            <a:off x="13252450" y="3090545"/>
            <a:ext cx="4305300" cy="3194685"/>
          </a:xfrm>
          <a:prstGeom prst="rect">
            <a:avLst/>
          </a:prstGeom>
          <a:noFill/>
        </p:spPr>
        <p:txBody>
          <a:bodyPr wrap="square" rtlCol="0">
            <a:noAutofit/>
          </a:bodyPr>
          <a:p>
            <a:pPr marL="0" indent="0" eaLnBrk="1" fontAlgn="auto" latinLnBrk="0" hangingPunct="1">
              <a:lnSpc>
                <a:spcPct val="150000"/>
              </a:lnSpc>
            </a:pPr>
            <a:r>
              <a:rPr lang="zh-CN" altLang="en-US" sz="2200" u="sng">
                <a:solidFill>
                  <a:srgbClr val="343435"/>
                </a:solidFill>
                <a:latin typeface="新愚公和谐宋-S" charset="-122"/>
                <a:ea typeface="新愚公和谐宋-S" charset="-122"/>
                <a:cs typeface="新愚公和谐宋-S" charset="-122"/>
              </a:rPr>
              <a:t>高韧性风险治理：</a:t>
            </a:r>
            <a:endParaRPr lang="zh-CN" altLang="en-US" sz="2200" u="sng">
              <a:solidFill>
                <a:srgbClr val="343435"/>
              </a:solidFill>
              <a:latin typeface="新愚公和谐宋-S" charset="-122"/>
              <a:ea typeface="新愚公和谐宋-S" charset="-122"/>
              <a:cs typeface="新愚公和谐宋-S" charset="-122"/>
            </a:endParaRPr>
          </a:p>
          <a:p>
            <a:pPr marL="0" indent="0" eaLnBrk="1" fontAlgn="auto" latinLnBrk="0" hangingPunct="1">
              <a:lnSpc>
                <a:spcPct val="150000"/>
              </a:lnSpc>
            </a:pPr>
            <a:r>
              <a:rPr lang="zh-CN" altLang="en-US" sz="2200">
                <a:solidFill>
                  <a:srgbClr val="343435"/>
                </a:solidFill>
                <a:latin typeface="新愚公和谐宋-S" charset="-122"/>
                <a:ea typeface="新愚公和谐宋-S" charset="-122"/>
                <a:cs typeface="新愚公和谐宋-S" charset="-122"/>
              </a:rPr>
              <a:t>建立了“预防+预警+应急”的五维风险模型，特别是在技术降级与文化审核方面的双重闭环，保障了联通品牌在年轻化转型过程中的稳健与安全。</a:t>
            </a:r>
            <a:endParaRPr lang="zh-CN" altLang="en-US" sz="2200">
              <a:solidFill>
                <a:srgbClr val="343435"/>
              </a:solidFill>
              <a:latin typeface="新愚公和谐宋-S" charset="-122"/>
              <a:ea typeface="新愚公和谐宋-S" charset="-122"/>
              <a:cs typeface="新愚公和谐宋-S" charset="-122"/>
            </a:endParaRPr>
          </a:p>
        </p:txBody>
      </p:sp>
      <p:sp>
        <p:nvSpPr>
          <p:cNvPr id="5" name="object 19"/>
          <p:cNvSpPr txBox="1"/>
          <p:nvPr/>
        </p:nvSpPr>
        <p:spPr>
          <a:xfrm>
            <a:off x="19388455" y="385445"/>
            <a:ext cx="1529715" cy="1449070"/>
          </a:xfrm>
          <a:prstGeom prst="rect">
            <a:avLst/>
          </a:prstGeom>
        </p:spPr>
        <p:txBody>
          <a:bodyPr vert="horz" wrap="square" lIns="0" tIns="17780" rIns="0" bIns="0" rtlCol="0">
            <a:noAutofit/>
          </a:bodyPr>
          <a:lstStyle/>
          <a:p>
            <a:pPr marL="12700">
              <a:lnSpc>
                <a:spcPct val="100000"/>
              </a:lnSpc>
              <a:spcBef>
                <a:spcPts val="140"/>
              </a:spcBef>
            </a:pPr>
            <a:r>
              <a:rPr lang="en-US" altLang="en-US" sz="1800" b="1" spc="55" dirty="0">
                <a:solidFill>
                  <a:srgbClr val="000204"/>
                </a:solidFill>
                <a:latin typeface="Arial" panose="020B0604020202020204"/>
                <a:cs typeface="Arial" panose="020B0604020202020204"/>
              </a:rPr>
              <a:t>33</a:t>
            </a:r>
            <a:endParaRPr lang="en-US" altLang="en-US" sz="1800" b="1" spc="55" dirty="0">
              <a:solidFill>
                <a:srgbClr val="000204"/>
              </a:solidFill>
              <a:latin typeface="Arial" panose="020B0604020202020204"/>
              <a:cs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1"/>
          <a:srcRect b="46546"/>
          <a:stretch>
            <a:fillRect/>
          </a:stretch>
        </p:blipFill>
        <p:spPr>
          <a:xfrm>
            <a:off x="-635" y="-84455"/>
            <a:ext cx="20141565" cy="11469370"/>
          </a:xfrm>
          <a:prstGeom prst="rect">
            <a:avLst/>
          </a:prstGeom>
        </p:spPr>
      </p:pic>
      <p:sp>
        <p:nvSpPr>
          <p:cNvPr id="20" name="文本框 19"/>
          <p:cNvSpPr txBox="1"/>
          <p:nvPr/>
        </p:nvSpPr>
        <p:spPr>
          <a:xfrm>
            <a:off x="1822450" y="4283075"/>
            <a:ext cx="16587470" cy="2091690"/>
          </a:xfrm>
          <a:prstGeom prst="rect">
            <a:avLst/>
          </a:prstGeom>
          <a:noFill/>
        </p:spPr>
        <p:txBody>
          <a:bodyPr wrap="square" rtlCol="0">
            <a:spAutoFit/>
          </a:bodyPr>
          <a:p>
            <a:pPr algn="ctr"/>
            <a:r>
              <a:rPr lang="zh-CN" altLang="en-US" sz="13000" b="0">
                <a:solidFill>
                  <a:srgbClr val="B30100"/>
                </a:solidFill>
                <a:latin typeface="字魂132号-江舟行客" panose="00000500000000000000" charset="-122"/>
                <a:ea typeface="字魂132号-江舟行客" panose="00000500000000000000" charset="-122"/>
              </a:rPr>
              <a:t>中国联通</a:t>
            </a:r>
            <a:r>
              <a:rPr lang="en-US" altLang="zh-CN" sz="13000" b="0">
                <a:solidFill>
                  <a:srgbClr val="B30100"/>
                </a:solidFill>
                <a:latin typeface="字魂132号-江舟行客" panose="00000500000000000000" charset="-122"/>
                <a:ea typeface="字魂132号-江舟行客" panose="00000500000000000000" charset="-122"/>
              </a:rPr>
              <a:t>X</a:t>
            </a:r>
            <a:r>
              <a:rPr lang="zh-CN" altLang="en-US" sz="13000" b="0">
                <a:solidFill>
                  <a:srgbClr val="B30100"/>
                </a:solidFill>
                <a:latin typeface="字魂132号-江舟行客" panose="00000500000000000000" charset="-122"/>
                <a:ea typeface="字魂132号-江舟行客" panose="00000500000000000000" charset="-122"/>
              </a:rPr>
              <a:t>河南博物馆</a:t>
            </a:r>
            <a:endParaRPr lang="zh-CN" altLang="en-US" sz="13000" b="0">
              <a:solidFill>
                <a:srgbClr val="B30100"/>
              </a:solidFill>
              <a:latin typeface="字魂132号-江舟行客" panose="00000500000000000000" charset="-122"/>
              <a:ea typeface="字魂132号-江舟行客" panose="00000500000000000000" charset="-122"/>
            </a:endParaRPr>
          </a:p>
        </p:txBody>
      </p:sp>
      <p:sp>
        <p:nvSpPr>
          <p:cNvPr id="7" name="文本框 6"/>
          <p:cNvSpPr txBox="1"/>
          <p:nvPr/>
        </p:nvSpPr>
        <p:spPr>
          <a:xfrm>
            <a:off x="5784850" y="6416675"/>
            <a:ext cx="9113520" cy="765810"/>
          </a:xfrm>
          <a:prstGeom prst="rect">
            <a:avLst/>
          </a:prstGeom>
          <a:noFill/>
        </p:spPr>
        <p:txBody>
          <a:bodyPr wrap="square" rtlCol="0" anchor="t">
            <a:noAutofit/>
          </a:bodyPr>
          <a:p>
            <a:pPr algn="ctr">
              <a:lnSpc>
                <a:spcPct val="135000"/>
              </a:lnSpc>
              <a:spcBef>
                <a:spcPts val="0"/>
              </a:spcBef>
              <a:spcAft>
                <a:spcPts val="0"/>
              </a:spcAft>
            </a:pPr>
            <a:r>
              <a:rPr lang="zh-CN" altLang="en-US" sz="5000" b="0" u="none" strike="noStrike" kern="0" cap="none" spc="0" normalizeH="0">
                <a:solidFill>
                  <a:srgbClr val="343435"/>
                </a:solidFill>
                <a:latin typeface="新愚公和谐宋-S" charset="-122"/>
                <a:ea typeface="新愚公和谐宋-S" charset="-122"/>
                <a:sym typeface="+mn-ea"/>
              </a:rPr>
              <a:t>「</a:t>
            </a:r>
            <a:r>
              <a:rPr lang="zh-CN" altLang="en-US" sz="5000" b="0">
                <a:solidFill>
                  <a:srgbClr val="343435"/>
                </a:solidFill>
                <a:latin typeface="新愚公和谐宋-S" charset="-122"/>
                <a:ea typeface="新愚公和谐宋-S" charset="-122"/>
                <a:cs typeface="新愚公和谐宋-S" charset="-122"/>
                <a:sym typeface="+mn-ea"/>
              </a:rPr>
              <a:t>你的信号，已连接千年之前</a:t>
            </a:r>
            <a:r>
              <a:rPr lang="zh-CN" altLang="en-US" sz="5000" b="0" u="none" strike="noStrike" kern="0" cap="none" spc="0" normalizeH="0">
                <a:solidFill>
                  <a:srgbClr val="343435"/>
                </a:solidFill>
                <a:latin typeface="新愚公和谐宋-S" charset="-122"/>
                <a:ea typeface="新愚公和谐宋-S" charset="-122"/>
                <a:sym typeface="+mn-ea"/>
              </a:rPr>
              <a:t>」</a:t>
            </a:r>
            <a:endParaRPr lang="zh-CN" altLang="en-US" sz="5000" b="0" u="none" strike="noStrike" kern="0" cap="none" spc="0" normalizeH="0">
              <a:solidFill>
                <a:srgbClr val="343435"/>
              </a:solidFill>
              <a:latin typeface="新愚公和谐宋-S" charset="-122"/>
              <a:ea typeface="新愚公和谐宋-S" charset="-122"/>
            </a:endParaRPr>
          </a:p>
          <a:p>
            <a:pPr algn="ctr">
              <a:lnSpc>
                <a:spcPct val="135000"/>
              </a:lnSpc>
              <a:spcBef>
                <a:spcPts val="0"/>
              </a:spcBef>
              <a:spcAft>
                <a:spcPts val="0"/>
              </a:spcAft>
            </a:pPr>
            <a:endParaRPr lang="zh-CN" altLang="en-US" sz="5000" b="0">
              <a:solidFill>
                <a:srgbClr val="343435"/>
              </a:solidFill>
              <a:latin typeface="新愚公和谐宋-S" charset="-122"/>
              <a:ea typeface="新愚公和谐宋-S" charset="-122"/>
              <a:cs typeface="新愚公和谐宋-S" charset="-122"/>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DIAGRAM_VIRTUALLY_FRAME" val="{&quot;height&quot;:232.1,&quot;left&quot;:52.05,&quot;top&quot;:262.3,&quot;width&quot;:835}"/>
</p:tagLst>
</file>

<file path=ppt/tags/tag5.xml><?xml version="1.0" encoding="utf-8"?>
<p:tagLst xmlns:p="http://schemas.openxmlformats.org/presentationml/2006/main">
  <p:tag name="KSO_WM_DIAGRAM_VIRTUALLY_FRAME" val="{&quot;height&quot;:232.1,&quot;left&quot;:52.05,&quot;top&quot;:262.3,&quot;width&quot;:835}"/>
</p:tagLst>
</file>

<file path=ppt/tags/tag6.xml><?xml version="1.0" encoding="utf-8"?>
<p:tagLst xmlns:p="http://schemas.openxmlformats.org/presentationml/2006/main">
  <p:tag name="KSO_WM_DIAGRAM_VIRTUALLY_FRAME" val="{&quot;height&quot;:232.1,&quot;left&quot;:52.05,&quot;top&quot;:262.3,&quot;width&quot;:835}"/>
</p:tagLst>
</file>

<file path=ppt/tags/tag7.xml><?xml version="1.0" encoding="utf-8"?>
<p:tagLst xmlns:p="http://schemas.openxmlformats.org/presentationml/2006/main">
  <p:tag name="KSO_WM_DIAGRAM_VIRTUALLY_FRAME" val="{&quot;height&quot;:232.1,&quot;left&quot;:52.05,&quot;top&quot;:262.3,&quot;width&quot;:835}"/>
</p:tagLst>
</file>

<file path=ppt/tags/tag8.xml><?xml version="1.0" encoding="utf-8"?>
<p:tagLst xmlns:p="http://schemas.openxmlformats.org/presentationml/2006/main">
  <p:tag name="KSO_WM_DIAGRAM_VIRTUALLY_FRAME" val="{&quot;height&quot;:363.8,&quot;left&quot;:28.289133858267746,&quot;top&quot;:199.2468503937007,&quot;width&quot;:1129.650472440945}"/>
</p:tagLst>
</file>

<file path=ppt/tags/tag9.xml><?xml version="1.0" encoding="utf-8"?>
<p:tagLst xmlns:p="http://schemas.openxmlformats.org/presentationml/2006/main">
  <p:tag name="KSO_WM_DIAGRAM_VIRTUALLY_FRAME" val="{&quot;height&quot;:363.8,&quot;left&quot;:28.289133858267746,&quot;top&quot;:199.2468503937007,&quot;width&quot;:1129.650472440945}"/>
</p:tagLst>
</file>

<file path=ppt/tags/tag10.xml><?xml version="1.0" encoding="utf-8"?>
<p:tagLst xmlns:p="http://schemas.openxmlformats.org/presentationml/2006/main">
  <p:tag name="KSO_WM_DIAGRAM_VIRTUALLY_FRAME" val="{&quot;height&quot;:363.8,&quot;left&quot;:28.289133858267746,&quot;top&quot;:199.2468503937007,&quot;width&quot;:1129.650472440945}"/>
</p:tagLst>
</file>

<file path=ppt/tags/tag11.xml><?xml version="1.0" encoding="utf-8"?>
<p:tagLst xmlns:p="http://schemas.openxmlformats.org/presentationml/2006/main">
  <p:tag name="KSO_WM_DIAGRAM_VIRTUALLY_FRAME" val="{&quot;height&quot;:363.8,&quot;left&quot;:28.289133858267746,&quot;top&quot;:199.2468503937007,&quot;width&quot;:1129.650472440945}"/>
</p:tagLst>
</file>

<file path=ppt/tags/tag12.xml><?xml version="1.0" encoding="utf-8"?>
<p:tagLst xmlns:p="http://schemas.openxmlformats.org/presentationml/2006/main">
  <p:tag name="KSO_WM_DIAGRAM_VIRTUALLY_FRAME" val="{&quot;height&quot;:363.8,&quot;left&quot;:28.289133858267746,&quot;top&quot;:199.2468503937007,&quot;width&quot;:1129.650472440945}"/>
</p:tagLst>
</file>

<file path=ppt/tags/tag13.xml><?xml version="1.0" encoding="utf-8"?>
<p:tagLst xmlns:p="http://schemas.openxmlformats.org/presentationml/2006/main">
  <p:tag name="KSO_WM_DIAGRAM_VIRTUALLY_FRAME" val="{&quot;height&quot;:363.8,&quot;left&quot;:28.289133858267746,&quot;top&quot;:199.2468503937007,&quot;width&quot;:1129.650472440945}"/>
</p:tagLst>
</file>

<file path=ppt/tags/tag14.xml><?xml version="1.0" encoding="utf-8"?>
<p:tagLst xmlns:p="http://schemas.openxmlformats.org/presentationml/2006/main">
  <p:tag name="KSO_WM_DIAGRAM_VIRTUALLY_FRAME" val="{&quot;height&quot;:363.8,&quot;left&quot;:28.289133858267746,&quot;top&quot;:199.2468503937007,&quot;width&quot;:1129.650472440945}"/>
</p:tagLst>
</file>

<file path=ppt/tags/tag15.xml><?xml version="1.0" encoding="utf-8"?>
<p:tagLst xmlns:p="http://schemas.openxmlformats.org/presentationml/2006/main">
  <p:tag name="KSO_WM_DIAGRAM_VIRTUALLY_FRAME" val="{&quot;height&quot;:363.8,&quot;left&quot;:28.289133858267746,&quot;top&quot;:199.2468503937007,&quot;width&quot;:1129.650472440945}"/>
</p:tagLst>
</file>

<file path=ppt/tags/tag16.xml><?xml version="1.0" encoding="utf-8"?>
<p:tagLst xmlns:p="http://schemas.openxmlformats.org/presentationml/2006/main">
  <p:tag name="KSO_WM_DIAGRAM_VIRTUALLY_FRAME" val="{&quot;height&quot;:363.8,&quot;left&quot;:28.289133858267746,&quot;top&quot;:199.2468503937007,&quot;width&quot;:1129.650472440945}"/>
</p:tagLst>
</file>

<file path=ppt/tags/tag17.xml><?xml version="1.0" encoding="utf-8"?>
<p:tagLst xmlns:p="http://schemas.openxmlformats.org/presentationml/2006/main">
  <p:tag name="KSO_WM_DIAGRAM_VIRTUALLY_FRAME" val="{&quot;height&quot;:363.8,&quot;left&quot;:28.289133858267746,&quot;top&quot;:199.2468503937007,&quot;width&quot;:1129.650472440945}"/>
</p:tagLst>
</file>

<file path=ppt/tags/tag18.xml><?xml version="1.0" encoding="utf-8"?>
<p:tagLst xmlns:p="http://schemas.openxmlformats.org/presentationml/2006/main">
  <p:tag name="KSO_WM_DIAGRAM_VIRTUALLY_FRAME" val="{&quot;height&quot;:215.94795275590542,&quot;left&quot;:28.289133858267746,&quot;top&quot;:347.0988976377953,&quot;width&quot;:1129.650472440945}"/>
</p:tagLst>
</file>

<file path=ppt/tags/tag19.xml><?xml version="1.0" encoding="utf-8"?>
<p:tagLst xmlns:p="http://schemas.openxmlformats.org/presentationml/2006/main">
  <p:tag name="KSO_WM_DIAGRAM_VIRTUALLY_FRAME" val="{&quot;height&quot;:232.1,&quot;left&quot;:52.05,&quot;top&quot;:262.3,&quot;width&quot;:835}"/>
</p:tagLst>
</file>

<file path=ppt/tags/tag20.xml><?xml version="1.0" encoding="utf-8"?>
<p:tagLst xmlns:p="http://schemas.openxmlformats.org/presentationml/2006/main">
  <p:tag name="KSO_WM_DIAGRAM_VIRTUALLY_FRAME" val="{&quot;height&quot;:580.7,&quot;left&quot;:47.5,&quot;top&quot;:205.25,&quot;width&quot;:839.55}"/>
</p:tagLst>
</file>

<file path=ppt/tags/tag21.xml><?xml version="1.0" encoding="utf-8"?>
<p:tagLst xmlns:p="http://schemas.openxmlformats.org/presentationml/2006/main">
  <p:tag name="KSO_WM_DIAGRAM_VIRTUALLY_FRAME" val="{&quot;height&quot;:580.7,&quot;left&quot;:47.5,&quot;top&quot;:205.25,&quot;width&quot;:839.55}"/>
</p:tagLst>
</file>

<file path=ppt/tags/tag22.xml><?xml version="1.0" encoding="utf-8"?>
<p:tagLst xmlns:p="http://schemas.openxmlformats.org/presentationml/2006/main">
  <p:tag name="KSO_WM_DIAGRAM_VIRTUALLY_FRAME" val="{&quot;height&quot;:580.7,&quot;left&quot;:47.5,&quot;top&quot;:205.25,&quot;width&quot;:839.55}"/>
</p:tagLst>
</file>

<file path=ppt/tags/tag23.xml><?xml version="1.0" encoding="utf-8"?>
<p:tagLst xmlns:p="http://schemas.openxmlformats.org/presentationml/2006/main">
  <p:tag name="KSO_WM_DIAGRAM_VIRTUALLY_FRAME" val="{&quot;height&quot;:580.7,&quot;left&quot;:47.5,&quot;top&quot;:205.25,&quot;width&quot;:839.55}"/>
</p:tagLst>
</file>

<file path=ppt/tags/tag24.xml><?xml version="1.0" encoding="utf-8"?>
<p:tagLst xmlns:p="http://schemas.openxmlformats.org/presentationml/2006/main">
  <p:tag name="KSO_WM_DIAGRAM_VIRTUALLY_FRAME" val="{&quot;height&quot;:580.7,&quot;left&quot;:47.5,&quot;top&quot;:205.25,&quot;width&quot;:839.55}"/>
</p:tagLst>
</file>

<file path=ppt/tags/tag25.xml><?xml version="1.0" encoding="utf-8"?>
<p:tagLst xmlns:p="http://schemas.openxmlformats.org/presentationml/2006/main">
  <p:tag name="KSO_WM_DIAGRAM_VIRTUALLY_FRAME" val="{&quot;height&quot;:580.7,&quot;left&quot;:47.5,&quot;top&quot;:205.25,&quot;width&quot;:839.55}"/>
</p:tagLst>
</file>

<file path=ppt/tags/tag26.xml><?xml version="1.0" encoding="utf-8"?>
<p:tagLst xmlns:p="http://schemas.openxmlformats.org/presentationml/2006/main">
  <p:tag name="KSO_WM_DIAGRAM_VIRTUALLY_FRAME" val="{&quot;height&quot;:580.7,&quot;left&quot;:47.5,&quot;top&quot;:205.25,&quot;width&quot;:839.55}"/>
</p:tagLst>
</file>

<file path=ppt/tags/tag27.xml><?xml version="1.0" encoding="utf-8"?>
<p:tagLst xmlns:p="http://schemas.openxmlformats.org/presentationml/2006/main">
  <p:tag name="KSO_WM_DIAGRAM_VIRTUALLY_FRAME" val="{&quot;height&quot;:580.7,&quot;left&quot;:47.5,&quot;top&quot;:205.25,&quot;width&quot;:839.55}"/>
</p:tagLst>
</file>

<file path=ppt/tags/tag28.xml><?xml version="1.0" encoding="utf-8"?>
<p:tagLst xmlns:p="http://schemas.openxmlformats.org/presentationml/2006/main">
  <p:tag name="KSO_WM_DIAGRAM_VIRTUALLY_FRAME" val="{&quot;height&quot;:580.7,&quot;left&quot;:47.5,&quot;top&quot;:205.25,&quot;width&quot;:839.55}"/>
</p:tagLst>
</file>

<file path=ppt/tags/tag29.xml><?xml version="1.0" encoding="utf-8"?>
<p:tagLst xmlns:p="http://schemas.openxmlformats.org/presentationml/2006/main">
  <p:tag name="KSO_WM_DIAGRAM_VIRTUALLY_FRAME" val="{&quot;height&quot;:580.7,&quot;left&quot;:47.5,&quot;top&quot;:205.25,&quot;width&quot;:839.55}"/>
</p:tagLst>
</file>

<file path=ppt/tags/tag30.xml><?xml version="1.0" encoding="utf-8"?>
<p:tagLst xmlns:p="http://schemas.openxmlformats.org/presentationml/2006/main">
  <p:tag name="KSO_WM_DIAGRAM_VIRTUALLY_FRAME" val="{&quot;height&quot;:580.7,&quot;left&quot;:47.5,&quot;top&quot;:205.25,&quot;width&quot;:839.55}"/>
</p:tagLst>
</file>

<file path=ppt/tags/tag31.xml><?xml version="1.0" encoding="utf-8"?>
<p:tagLst xmlns:p="http://schemas.openxmlformats.org/presentationml/2006/main">
  <p:tag name="KSO_WM_DIAGRAM_VIRTUALLY_FRAME" val="{&quot;height&quot;:580.7,&quot;left&quot;:47.5,&quot;top&quot;:205.25,&quot;width&quot;:839.55}"/>
</p:tagLst>
</file>

<file path=ppt/tags/tag32.xml><?xml version="1.0" encoding="utf-8"?>
<p:tagLst xmlns:p="http://schemas.openxmlformats.org/presentationml/2006/main">
  <p:tag name="KSO_WM_DIAGRAM_VIRTUALLY_FRAME" val="{&quot;height&quot;:580.7,&quot;left&quot;:47.5,&quot;top&quot;:205.25,&quot;width&quot;:839.55}"/>
</p:tagLst>
</file>

<file path=ppt/tags/tag33.xml><?xml version="1.0" encoding="utf-8"?>
<p:tagLst xmlns:p="http://schemas.openxmlformats.org/presentationml/2006/main">
  <p:tag name="KSO_WM_DIAGRAM_VIRTUALLY_FRAME" val="{&quot;height&quot;:580.7,&quot;left&quot;:47.5,&quot;top&quot;:205.25,&quot;width&quot;:839.55}"/>
</p:tagLst>
</file>

<file path=ppt/tags/tag34.xml><?xml version="1.0" encoding="utf-8"?>
<p:tagLst xmlns:p="http://schemas.openxmlformats.org/presentationml/2006/main">
  <p:tag name="KSO_WM_DIAGRAM_VIRTUALLY_FRAME" val="{&quot;height&quot;:580.7,&quot;left&quot;:47.5,&quot;top&quot;:205.25,&quot;width&quot;:839.55}"/>
</p:tagLst>
</file>

<file path=ppt/tags/tag35.xml><?xml version="1.0" encoding="utf-8"?>
<p:tagLst xmlns:p="http://schemas.openxmlformats.org/presentationml/2006/main">
  <p:tag name="KSO_WM_DIAGRAM_VIRTUALLY_FRAME" val="{&quot;height&quot;:580.7,&quot;left&quot;:47.5,&quot;top&quot;:205.25,&quot;width&quot;:839.55}"/>
</p:tagLst>
</file>

<file path=ppt/tags/tag36.xml><?xml version="1.0" encoding="utf-8"?>
<p:tagLst xmlns:p="http://schemas.openxmlformats.org/presentationml/2006/main">
  <p:tag name="KSO_WM_DIAGRAM_VIRTUALLY_FRAME" val="{&quot;height&quot;:580.7,&quot;left&quot;:47.5,&quot;top&quot;:205.25,&quot;width&quot;:839.55}"/>
</p:tagLst>
</file>

<file path=ppt/tags/tag37.xml><?xml version="1.0" encoding="utf-8"?>
<p:tagLst xmlns:p="http://schemas.openxmlformats.org/presentationml/2006/main">
  <p:tag name="KSO_WM_DIAGRAM_VIRTUALLY_FRAME" val="{&quot;height&quot;:580.7,&quot;left&quot;:47.5,&quot;top&quot;:205.25,&quot;width&quot;:839.55}"/>
</p:tagLst>
</file>

<file path=ppt/tags/tag38.xml><?xml version="1.0" encoding="utf-8"?>
<p:tagLst xmlns:p="http://schemas.openxmlformats.org/presentationml/2006/main">
  <p:tag name="KSO_WM_DIAGRAM_VIRTUALLY_FRAME" val="{&quot;height&quot;:580.7,&quot;left&quot;:47.5,&quot;top&quot;:205.25,&quot;width&quot;:839.55}"/>
</p:tagLst>
</file>

<file path=ppt/tags/tag39.xml><?xml version="1.0" encoding="utf-8"?>
<p:tagLst xmlns:p="http://schemas.openxmlformats.org/presentationml/2006/main">
  <p:tag name="KSO_WM_DIAGRAM_VIRTUALLY_FRAME" val="{&quot;height&quot;:580.7,&quot;left&quot;:47.5,&quot;top&quot;:205.25,&quot;width&quot;:839.55}"/>
</p:tagLst>
</file>

<file path=ppt/tags/tag40.xml><?xml version="1.0" encoding="utf-8"?>
<p:tagLst xmlns:p="http://schemas.openxmlformats.org/presentationml/2006/main">
  <p:tag name="KSO_WM_DIAGRAM_VIRTUALLY_FRAME" val="{&quot;height&quot;:580.7,&quot;left&quot;:47.5,&quot;top&quot;:205.25,&quot;width&quot;:839.55}"/>
</p:tagLst>
</file>

<file path=ppt/tags/tag41.xml><?xml version="1.0" encoding="utf-8"?>
<p:tagLst xmlns:p="http://schemas.openxmlformats.org/presentationml/2006/main">
  <p:tag name="KSO_WM_DIAGRAM_VIRTUALLY_FRAME" val="{&quot;height&quot;:580.7,&quot;left&quot;:47.5,&quot;top&quot;:205.25,&quot;width&quot;:839.55}"/>
</p:tagLst>
</file>

<file path=ppt/tags/tag42.xml><?xml version="1.0" encoding="utf-8"?>
<p:tagLst xmlns:p="http://schemas.openxmlformats.org/presentationml/2006/main">
  <p:tag name="KSO_WM_DIAGRAM_VIRTUALLY_FRAME" val="{&quot;height&quot;:580.7,&quot;left&quot;:47.5,&quot;top&quot;:205.25,&quot;width&quot;:839.55}"/>
</p:tagLst>
</file>

<file path=ppt/tags/tag43.xml><?xml version="1.0" encoding="utf-8"?>
<p:tagLst xmlns:p="http://schemas.openxmlformats.org/presentationml/2006/main">
  <p:tag name="KSO_WM_DIAGRAM_VIRTUALLY_FRAME" val="{&quot;height&quot;:580.7,&quot;left&quot;:47.5,&quot;top&quot;:205.25,&quot;width&quot;:839.55}"/>
</p:tagLst>
</file>

<file path=ppt/tags/tag44.xml><?xml version="1.0" encoding="utf-8"?>
<p:tagLst xmlns:p="http://schemas.openxmlformats.org/presentationml/2006/main">
  <p:tag name="KSO_WM_DIAGRAM_VIRTUALLY_FRAME" val="{&quot;height&quot;:580.7,&quot;left&quot;:47.5,&quot;top&quot;:205.25,&quot;width&quot;:839.55}"/>
</p:tagLst>
</file>

<file path=ppt/tags/tag45.xml><?xml version="1.0" encoding="utf-8"?>
<p:tagLst xmlns:p="http://schemas.openxmlformats.org/presentationml/2006/main">
  <p:tag name="KSO_WM_DIAGRAM_VIRTUALLY_FRAME" val="{&quot;height&quot;:580.7,&quot;left&quot;:47.5,&quot;top&quot;:205.25,&quot;width&quot;:839.55}"/>
</p:tagLst>
</file>

<file path=ppt/tags/tag46.xml><?xml version="1.0" encoding="utf-8"?>
<p:tagLst xmlns:p="http://schemas.openxmlformats.org/presentationml/2006/main">
  <p:tag name="KSO_WM_DIAGRAM_VIRTUALLY_FRAME" val="{&quot;height&quot;:232.1,&quot;left&quot;:52.05,&quot;top&quot;:262.3,&quot;width&quot;:835}"/>
</p:tagLst>
</file>

<file path=ppt/tags/tag47.xml><?xml version="1.0" encoding="utf-8"?>
<p:tagLst xmlns:p="http://schemas.openxmlformats.org/presentationml/2006/main">
  <p:tag name="KSO_WM_DIAGRAM_VIRTUALLY_FRAME" val="{&quot;height&quot;:232.1,&quot;left&quot;:52.05,&quot;top&quot;:262.3,&quot;width&quot;:835}"/>
</p:tagLst>
</file>

<file path=ppt/tags/tag48.xml><?xml version="1.0" encoding="utf-8"?>
<p:tagLst xmlns:p="http://schemas.openxmlformats.org/presentationml/2006/main">
  <p:tag name="KSO_WM_DIAGRAM_VIRTUALLY_FRAME" val="{&quot;height&quot;:232.1,&quot;left&quot;:52.05,&quot;top&quot;:262.3,&quot;width&quot;:835}"/>
</p:tagLst>
</file>

<file path=ppt/tags/tag49.xml><?xml version="1.0" encoding="utf-8"?>
<p:tagLst xmlns:p="http://schemas.openxmlformats.org/presentationml/2006/main">
  <p:tag name="KSO_WM_DIAGRAM_VIRTUALLY_FRAME" val="{&quot;height&quot;:232.1,&quot;left&quot;:52.05,&quot;top&quot;:262.3,&quot;width&quot;:835}"/>
</p:tagLst>
</file>

<file path=ppt/tags/tag50.xml><?xml version="1.0" encoding="utf-8"?>
<p:tagLst xmlns:p="http://schemas.openxmlformats.org/presentationml/2006/main">
  <p:tag name="KSO_WM_DIAGRAM_VIRTUALLY_FRAME" val="{&quot;height&quot;:232.1,&quot;left&quot;:52.05,&quot;top&quot;:262.3,&quot;width&quot;:835}"/>
</p:tagLst>
</file>

<file path=ppt/tags/tag51.xml><?xml version="1.0" encoding="utf-8"?>
<p:tagLst xmlns:p="http://schemas.openxmlformats.org/presentationml/2006/main">
  <p:tag name="KSO_WM_DIAGRAM_VIRTUALLY_FRAME" val="{&quot;height&quot;:232.1,&quot;left&quot;:52.05,&quot;top&quot;:262.3,&quot;width&quot;:835}"/>
</p:tagLst>
</file>

<file path=ppt/tags/tag52.xml><?xml version="1.0" encoding="utf-8"?>
<p:tagLst xmlns:p="http://schemas.openxmlformats.org/presentationml/2006/main">
  <p:tag name="KSO_WM_DIAGRAM_VIRTUALLY_FRAME" val="{&quot;height&quot;:232.1,&quot;left&quot;:52.05,&quot;top&quot;:262.3,&quot;width&quot;:835}"/>
</p:tagLst>
</file>

<file path=ppt/tags/tag53.xml><?xml version="1.0" encoding="utf-8"?>
<p:tagLst xmlns:p="http://schemas.openxmlformats.org/presentationml/2006/main">
  <p:tag name="KSO_WM_DIAGRAM_VIRTUALLY_FRAME" val="{&quot;height&quot;:232.1,&quot;left&quot;:52.05,&quot;top&quot;:262.3,&quot;width&quot;:835}"/>
</p:tagLst>
</file>

<file path=ppt/tags/tag54.xml><?xml version="1.0" encoding="utf-8"?>
<p:tagLst xmlns:p="http://schemas.openxmlformats.org/presentationml/2006/main">
  <p:tag name="KSO_WM_DIAGRAM_VIRTUALLY_FRAME" val="{&quot;height&quot;:232.1,&quot;left&quot;:52.05,&quot;top&quot;:262.3,&quot;width&quot;:835}"/>
</p:tagLst>
</file>

<file path=ppt/tags/tag55.xml><?xml version="1.0" encoding="utf-8"?>
<p:tagLst xmlns:p="http://schemas.openxmlformats.org/presentationml/2006/main">
  <p:tag name="KSO_WM_DIAGRAM_VIRTUALLY_FRAME" val="{&quot;height&quot;:514.85,&quot;left&quot;:-19.9,&quot;top&quot;:253.05,&quot;width&quot;:1602.8}"/>
</p:tagLst>
</file>

<file path=ppt/tags/tag56.xml><?xml version="1.0" encoding="utf-8"?>
<p:tagLst xmlns:p="http://schemas.openxmlformats.org/presentationml/2006/main">
  <p:tag name="KSO_WM_DIAGRAM_VIRTUALLY_FRAME" val="{&quot;height&quot;:514.85,&quot;left&quot;:-19.9,&quot;top&quot;:253.05,&quot;width&quot;:1602.8}"/>
</p:tagLst>
</file>

<file path=ppt/tags/tag57.xml><?xml version="1.0" encoding="utf-8"?>
<p:tagLst xmlns:p="http://schemas.openxmlformats.org/presentationml/2006/main">
  <p:tag name="KSO_WM_DIAGRAM_VIRTUALLY_FRAME" val="{&quot;height&quot;:514.85,&quot;left&quot;:-19.9,&quot;top&quot;:253.05,&quot;width&quot;:1602.8}"/>
</p:tagLst>
</file>

<file path=ppt/tags/tag58.xml><?xml version="1.0" encoding="utf-8"?>
<p:tagLst xmlns:p="http://schemas.openxmlformats.org/presentationml/2006/main">
  <p:tag name="KSO_WM_DIAGRAM_VIRTUALLY_FRAME" val="{&quot;height&quot;:514.85,&quot;left&quot;:-19.9,&quot;top&quot;:253.05,&quot;width&quot;:1602.8}"/>
</p:tagLst>
</file>

<file path=ppt/tags/tag59.xml><?xml version="1.0" encoding="utf-8"?>
<p:tagLst xmlns:p="http://schemas.openxmlformats.org/presentationml/2006/main">
  <p:tag name="KSO_WM_DIAGRAM_VIRTUALLY_FRAME" val="{&quot;height&quot;:514.85,&quot;left&quot;:-19.9,&quot;top&quot;:253.05,&quot;width&quot;:1602.8}"/>
</p:tagLst>
</file>

<file path=ppt/tags/tag60.xml><?xml version="1.0" encoding="utf-8"?>
<p:tagLst xmlns:p="http://schemas.openxmlformats.org/presentationml/2006/main">
  <p:tag name="KSO_WM_DIAGRAM_VIRTUALLY_FRAME" val="{&quot;height&quot;:514.85,&quot;left&quot;:-19.9,&quot;top&quot;:253.05,&quot;width&quot;:1602.8}"/>
</p:tagLst>
</file>

<file path=ppt/tags/tag61.xml><?xml version="1.0" encoding="utf-8"?>
<p:tagLst xmlns:p="http://schemas.openxmlformats.org/presentationml/2006/main">
  <p:tag name="KSO_WM_DIAGRAM_VIRTUALLY_FRAME" val="{&quot;height&quot;:514.85,&quot;left&quot;:-19.9,&quot;top&quot;:253.05,&quot;width&quot;:1602.8}"/>
</p:tagLst>
</file>

<file path=ppt/tags/tag62.xml><?xml version="1.0" encoding="utf-8"?>
<p:tagLst xmlns:p="http://schemas.openxmlformats.org/presentationml/2006/main">
  <p:tag name="KSO_WM_DIAGRAM_VIRTUALLY_FRAME" val="{&quot;height&quot;:514.85,&quot;left&quot;:-19.9,&quot;top&quot;:253.05,&quot;width&quot;:1602.8}"/>
</p:tagLst>
</file>

<file path=ppt/tags/tag63.xml><?xml version="1.0" encoding="utf-8"?>
<p:tagLst xmlns:p="http://schemas.openxmlformats.org/presentationml/2006/main">
  <p:tag name="KSO_WM_DIAGRAM_VIRTUALLY_FRAME" val="{&quot;height&quot;:514.85,&quot;left&quot;:-19.9,&quot;top&quot;:253.05,&quot;width&quot;:1602.8}"/>
</p:tagLst>
</file>

<file path=ppt/tags/tag64.xml><?xml version="1.0" encoding="utf-8"?>
<p:tagLst xmlns:p="http://schemas.openxmlformats.org/presentationml/2006/main">
  <p:tag name="KSO_WM_DIAGRAM_VIRTUALLY_FRAME" val="{&quot;height&quot;:514.85,&quot;left&quot;:-19.9,&quot;top&quot;:253.05,&quot;width&quot;:1602.8}"/>
</p:tagLst>
</file>

<file path=ppt/tags/tag65.xml><?xml version="1.0" encoding="utf-8"?>
<p:tagLst xmlns:p="http://schemas.openxmlformats.org/presentationml/2006/main">
  <p:tag name="KSO_WM_DIAGRAM_VIRTUALLY_FRAME" val="{&quot;height&quot;:514.85,&quot;left&quot;:-19.9,&quot;top&quot;:253.05,&quot;width&quot;:1602.8}"/>
</p:tagLst>
</file>

<file path=ppt/tags/tag66.xml><?xml version="1.0" encoding="utf-8"?>
<p:tagLst xmlns:p="http://schemas.openxmlformats.org/presentationml/2006/main">
  <p:tag name="KSO_WM_DIAGRAM_VIRTUALLY_FRAME" val="{&quot;height&quot;:514.85,&quot;left&quot;:-19.9,&quot;top&quot;:253.05,&quot;width&quot;:1602.8}"/>
</p:tagLst>
</file>

<file path=ppt/tags/tag67.xml><?xml version="1.0" encoding="utf-8"?>
<p:tagLst xmlns:p="http://schemas.openxmlformats.org/presentationml/2006/main">
  <p:tag name="TABLE_ENDDRAG_ORIGIN_RECT" val="1446*616"/>
  <p:tag name="TABLE_ENDDRAG_RECT" val="110*203*1446*616"/>
</p:tagLst>
</file>

<file path=ppt/tags/tag68.xml><?xml version="1.0" encoding="utf-8"?>
<p:tagLst xmlns:p="http://schemas.openxmlformats.org/presentationml/2006/main">
  <p:tag name="KSO_WM_DIAGRAM_VIRTUALLY_FRAME" val="{&quot;height&quot;:391.25,&quot;left&quot;:79.95,&quot;top&quot;:105,&quot;width&quot;:803.2}"/>
</p:tagLst>
</file>

<file path=ppt/tags/tag69.xml><?xml version="1.0" encoding="utf-8"?>
<p:tagLst xmlns:p="http://schemas.openxmlformats.org/presentationml/2006/main">
  <p:tag name="KSO_WM_DIAGRAM_VIRTUALLY_FRAME" val="{&quot;height&quot;:391.25,&quot;left&quot;:79.95,&quot;top&quot;:105,&quot;width&quot;:803.2}"/>
</p:tagLst>
</file>

<file path=ppt/tags/tag70.xml><?xml version="1.0" encoding="utf-8"?>
<p:tagLst xmlns:p="http://schemas.openxmlformats.org/presentationml/2006/main">
  <p:tag name="KSO_WM_DIAGRAM_VIRTUALLY_FRAME" val="{&quot;height&quot;:232.1,&quot;left&quot;:52.05,&quot;top&quot;:262.3,&quot;width&quot;:835}"/>
</p:tagLst>
</file>

<file path=ppt/tags/tag71.xml><?xml version="1.0" encoding="utf-8"?>
<p:tagLst xmlns:p="http://schemas.openxmlformats.org/presentationml/2006/main">
  <p:tag name="KSO_WM_DIAGRAM_VIRTUALLY_FRAME" val="{&quot;height&quot;:232.1,&quot;left&quot;:52.05,&quot;top&quot;:262.3,&quot;width&quot;:835}"/>
</p:tagLst>
</file>

<file path=ppt/tags/tag72.xml><?xml version="1.0" encoding="utf-8"?>
<p:tagLst xmlns:p="http://schemas.openxmlformats.org/presentationml/2006/main">
  <p:tag name="KSO_WM_DIAGRAM_VIRTUALLY_FRAME" val="{&quot;height&quot;:232.1,&quot;left&quot;:52.05,&quot;top&quot;:262.3,&quot;width&quot;:835}"/>
</p:tagLst>
</file>

<file path=ppt/tags/tag73.xml><?xml version="1.0" encoding="utf-8"?>
<p:tagLst xmlns:p="http://schemas.openxmlformats.org/presentationml/2006/main">
  <p:tag name="KSO_WM_DIAGRAM_VIRTUALLY_FRAME" val="{&quot;height&quot;:232.1,&quot;left&quot;:52.05,&quot;top&quot;:262.3,&quot;width&quot;:835}"/>
</p:tagLst>
</file>

<file path=ppt/tags/tag74.xml><?xml version="1.0" encoding="utf-8"?>
<p:tagLst xmlns:p="http://schemas.openxmlformats.org/presentationml/2006/main">
  <p:tag name="KSO_WM_DIAGRAM_VIRTUALLY_FRAME" val="{&quot;height&quot;:232.1,&quot;left&quot;:52.05,&quot;top&quot;:262.3,&quot;width&quot;:835}"/>
</p:tagLst>
</file>

<file path=ppt/tags/tag75.xml><?xml version="1.0" encoding="utf-8"?>
<p:tagLst xmlns:p="http://schemas.openxmlformats.org/presentationml/2006/main">
  <p:tag name="KSO_WM_DIAGRAM_VIRTUALLY_FRAME" val="{&quot;height&quot;:391.25,&quot;left&quot;:79.95,&quot;top&quot;:105,&quot;width&quot;:803.2}"/>
</p:tagLst>
</file>

<file path=ppt/tags/tag76.xml><?xml version="1.0" encoding="utf-8"?>
<p:tagLst xmlns:p="http://schemas.openxmlformats.org/presentationml/2006/main">
  <p:tag name="KSO_WM_DIAGRAM_VIRTUALLY_FRAME" val="{&quot;height&quot;:391.25,&quot;left&quot;:79.95,&quot;top&quot;:105,&quot;width&quot;:803.2}"/>
</p:tagLst>
</file>

<file path=ppt/tags/tag77.xml><?xml version="1.0" encoding="utf-8"?>
<p:tagLst xmlns:p="http://schemas.openxmlformats.org/presentationml/2006/main">
  <p:tag name="KSO_WM_DIAGRAM_VIRTUALLY_FRAME" val="{&quot;height&quot;:391.25,&quot;left&quot;:79.95,&quot;top&quot;:105,&quot;width&quot;:803.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8502</Words>
  <Application>WPS 演示</Application>
  <PresentationFormat>On-screen Show (4:3)</PresentationFormat>
  <Paragraphs>990</Paragraphs>
  <Slides>35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35</vt:i4>
      </vt:variant>
    </vt:vector>
  </HeadingPairs>
  <TitlesOfParts>
    <vt:vector size="47" baseType="lpstr">
      <vt:lpstr>Arial</vt:lpstr>
      <vt:lpstr>宋体</vt:lpstr>
      <vt:lpstr>Wingdings</vt:lpstr>
      <vt:lpstr>Arial</vt:lpstr>
      <vt:lpstr>微软雅黑</vt:lpstr>
      <vt:lpstr>字魂132号-江舟行客</vt:lpstr>
      <vt:lpstr>字灵拙刻手书</vt:lpstr>
      <vt:lpstr>新愚公和谐宋-S</vt:lpstr>
      <vt:lpstr>Arial Unicode MS</vt:lpstr>
      <vt:lpstr>Calibri</vt:lpstr>
      <vt:lpstr>方正榜书行简体</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及时行樂</cp:lastModifiedBy>
  <cp:revision>122</cp:revision>
  <dcterms:created xsi:type="dcterms:W3CDTF">2026-06-01T16:06:00Z</dcterms:created>
  <dcterms:modified xsi:type="dcterms:W3CDTF">2026-06-05T13:38:11Z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2024-07-22T16:00:00Z</vt:filetime>
  </property>
  <property fmtid="{D5CDD505-2E9C-101B-9397-08002B2CF9AE}" pid="3" name="Creator">
    <vt:lpwstr>Adobe InDesign 19.5 (Macintosh)</vt:lpwstr>
  </property>
  <property fmtid="{D5CDD505-2E9C-101B-9397-08002B2CF9AE}" pid="4" name="LastSaved">
    <vt:filetime>2025-05-22T16:00:00Z</vt:filetime>
  </property>
  <property fmtid="{D5CDD505-2E9C-101B-9397-08002B2CF9AE}" pid="5" name="Producer">
    <vt:lpwstr>Adobe PDF Library 17.0</vt:lpwstr>
  </property>
  <property fmtid="{D5CDD505-2E9C-101B-9397-08002B2CF9AE}" pid="6" name="ICV">
    <vt:lpwstr>EC660D6DE60247A28DCC2FD94DB792B9_13</vt:lpwstr>
  </property>
  <property fmtid="{D5CDD505-2E9C-101B-9397-08002B2CF9AE}" pid="7" name="KSOProductBuildVer">
    <vt:lpwstr>2052-12.1.0.26895</vt:lpwstr>
  </property>
</Properties>
</file>